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9" r:id="rId3"/>
    <p:sldId id="257" r:id="rId4"/>
    <p:sldId id="260" r:id="rId5"/>
    <p:sldId id="261" r:id="rId6"/>
    <p:sldId id="262" r:id="rId7"/>
    <p:sldId id="310" r:id="rId8"/>
    <p:sldId id="263" r:id="rId9"/>
    <p:sldId id="306" r:id="rId10"/>
    <p:sldId id="307" r:id="rId11"/>
    <p:sldId id="289" r:id="rId12"/>
    <p:sldId id="272" r:id="rId13"/>
    <p:sldId id="264" r:id="rId14"/>
    <p:sldId id="265" r:id="rId15"/>
    <p:sldId id="269" r:id="rId16"/>
    <p:sldId id="266" r:id="rId17"/>
    <p:sldId id="270" r:id="rId18"/>
    <p:sldId id="267" r:id="rId19"/>
    <p:sldId id="271" r:id="rId20"/>
    <p:sldId id="268" r:id="rId21"/>
    <p:sldId id="308" r:id="rId22"/>
    <p:sldId id="290" r:id="rId23"/>
    <p:sldId id="309" r:id="rId24"/>
    <p:sldId id="311" r:id="rId25"/>
    <p:sldId id="273" r:id="rId26"/>
    <p:sldId id="284" r:id="rId27"/>
    <p:sldId id="283" r:id="rId28"/>
    <p:sldId id="282" r:id="rId29"/>
    <p:sldId id="279" r:id="rId30"/>
    <p:sldId id="285" r:id="rId31"/>
    <p:sldId id="274" r:id="rId32"/>
    <p:sldId id="280" r:id="rId33"/>
    <p:sldId id="286" r:id="rId34"/>
    <p:sldId id="275" r:id="rId35"/>
    <p:sldId id="276" r:id="rId36"/>
    <p:sldId id="312" r:id="rId37"/>
    <p:sldId id="277" r:id="rId38"/>
    <p:sldId id="281" r:id="rId39"/>
    <p:sldId id="291" r:id="rId40"/>
    <p:sldId id="287" r:id="rId41"/>
    <p:sldId id="294" r:id="rId42"/>
    <p:sldId id="288" r:id="rId43"/>
    <p:sldId id="293" r:id="rId44"/>
    <p:sldId id="278" r:id="rId45"/>
    <p:sldId id="296" r:id="rId46"/>
    <p:sldId id="299" r:id="rId47"/>
    <p:sldId id="297" r:id="rId48"/>
    <p:sldId id="298" r:id="rId49"/>
    <p:sldId id="300" r:id="rId50"/>
    <p:sldId id="301" r:id="rId51"/>
    <p:sldId id="303" r:id="rId52"/>
    <p:sldId id="304" r:id="rId5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280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b="1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 smtClean="0"/>
              <a:t>Linked List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b="1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Joy </a:t>
            </a:r>
            <a:r>
              <a:rPr lang="en-US" dirty="0" err="1" smtClean="0"/>
              <a:t>Mukherjee</a:t>
            </a:r>
            <a:endParaRPr lang="en-US" dirty="0" smtClean="0"/>
          </a:p>
          <a:p>
            <a:r>
              <a:rPr lang="en-US" dirty="0" smtClean="0"/>
              <a:t>Programming and Data Structures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Wingdings" pitchFamily="2" charset="2"/>
              <a:buChar char="q"/>
              <a:defRPr sz="2800"/>
            </a:lvl1pPr>
            <a:lvl2pPr>
              <a:buFont typeface="Wingdings" pitchFamily="2" charset="2"/>
              <a:buChar char="§"/>
              <a:defRPr sz="2600"/>
            </a:lvl2pPr>
            <a:lvl3pPr>
              <a:buFont typeface="Wingdings" pitchFamily="2" charset="2"/>
              <a:buChar char="Ø"/>
              <a:defRPr sz="2400"/>
            </a:lvl3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66800"/>
            <a:ext cx="7772400" cy="1470025"/>
          </a:xfrm>
        </p:spPr>
        <p:txBody>
          <a:bodyPr/>
          <a:lstStyle/>
          <a:p>
            <a:r>
              <a:rPr lang="en-US" dirty="0" smtClean="0"/>
              <a:t>Tree: </a:t>
            </a:r>
            <a:r>
              <a:rPr lang="en-US" smtClean="0"/>
              <a:t>A Non-Linear </a:t>
            </a:r>
            <a:r>
              <a:rPr lang="en-US" dirty="0" smtClean="0"/>
              <a:t>Data Structure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419600"/>
            <a:ext cx="6400800" cy="12192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Joy </a:t>
            </a:r>
            <a:r>
              <a:rPr lang="en-US" sz="2800" dirty="0" err="1" smtClean="0"/>
              <a:t>Mukherjee</a:t>
            </a:r>
            <a:endParaRPr lang="en-US" sz="2800" dirty="0" smtClean="0"/>
          </a:p>
          <a:p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Example of a Tree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4267200" y="1371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25</a:t>
            </a:r>
            <a:endParaRPr lang="en-US" dirty="0"/>
          </a:p>
        </p:txBody>
      </p:sp>
      <p:cxnSp>
        <p:nvCxnSpPr>
          <p:cNvPr id="5" name="Straight Connector 4"/>
          <p:cNvCxnSpPr>
            <a:stCxn id="4" idx="2"/>
            <a:endCxn id="25" idx="0"/>
          </p:cNvCxnSpPr>
          <p:nvPr/>
        </p:nvCxnSpPr>
        <p:spPr>
          <a:xfrm rot="10800000" flipV="1">
            <a:off x="2514600" y="1638300"/>
            <a:ext cx="1752600" cy="1028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stCxn id="21" idx="0"/>
            <a:endCxn id="4" idx="4"/>
          </p:cNvCxnSpPr>
          <p:nvPr/>
        </p:nvCxnSpPr>
        <p:spPr>
          <a:xfrm rot="5400000" flipH="1" flipV="1">
            <a:off x="4191000" y="2286000"/>
            <a:ext cx="762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>
            <a:stCxn id="4" idx="6"/>
            <a:endCxn id="27" idx="0"/>
          </p:cNvCxnSpPr>
          <p:nvPr/>
        </p:nvCxnSpPr>
        <p:spPr>
          <a:xfrm>
            <a:off x="4876800" y="1638300"/>
            <a:ext cx="1828800" cy="1028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4267200" y="26670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6</a:t>
            </a:r>
            <a:endParaRPr lang="en-US" dirty="0"/>
          </a:p>
        </p:txBody>
      </p:sp>
      <p:sp>
        <p:nvSpPr>
          <p:cNvPr id="25" name="Oval 24"/>
          <p:cNvSpPr/>
          <p:nvPr/>
        </p:nvSpPr>
        <p:spPr>
          <a:xfrm>
            <a:off x="2209800" y="26670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8</a:t>
            </a:r>
            <a:endParaRPr lang="en-US" dirty="0"/>
          </a:p>
        </p:txBody>
      </p:sp>
      <p:sp>
        <p:nvSpPr>
          <p:cNvPr id="27" name="Oval 26"/>
          <p:cNvSpPr/>
          <p:nvPr/>
        </p:nvSpPr>
        <p:spPr>
          <a:xfrm>
            <a:off x="6400800" y="26670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5</a:t>
            </a:r>
            <a:endParaRPr lang="en-US" dirty="0"/>
          </a:p>
        </p:txBody>
      </p:sp>
      <p:cxnSp>
        <p:nvCxnSpPr>
          <p:cNvPr id="30" name="Straight Connector 29"/>
          <p:cNvCxnSpPr>
            <a:stCxn id="25" idx="3"/>
            <a:endCxn id="34" idx="0"/>
          </p:cNvCxnSpPr>
          <p:nvPr/>
        </p:nvCxnSpPr>
        <p:spPr>
          <a:xfrm rot="5400000">
            <a:off x="1605780" y="3345305"/>
            <a:ext cx="916315" cy="470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33" idx="0"/>
            <a:endCxn id="25" idx="5"/>
          </p:cNvCxnSpPr>
          <p:nvPr/>
        </p:nvCxnSpPr>
        <p:spPr>
          <a:xfrm rot="16200000" flipV="1">
            <a:off x="2469006" y="3383406"/>
            <a:ext cx="916315" cy="3940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28194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13</a:t>
            </a:r>
            <a:endParaRPr lang="en-US" dirty="0"/>
          </a:p>
        </p:txBody>
      </p:sp>
      <p:sp>
        <p:nvSpPr>
          <p:cNvPr id="34" name="Oval 33"/>
          <p:cNvSpPr/>
          <p:nvPr/>
        </p:nvSpPr>
        <p:spPr>
          <a:xfrm>
            <a:off x="15240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1</a:t>
            </a:r>
            <a:endParaRPr lang="en-US" dirty="0"/>
          </a:p>
        </p:txBody>
      </p:sp>
      <p:sp>
        <p:nvSpPr>
          <p:cNvPr id="35" name="Oval 34"/>
          <p:cNvSpPr/>
          <p:nvPr/>
        </p:nvSpPr>
        <p:spPr>
          <a:xfrm>
            <a:off x="42672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16</a:t>
            </a:r>
            <a:endParaRPr lang="en-US" dirty="0"/>
          </a:p>
        </p:txBody>
      </p:sp>
      <p:cxnSp>
        <p:nvCxnSpPr>
          <p:cNvPr id="37" name="Straight Connector 36"/>
          <p:cNvCxnSpPr>
            <a:stCxn id="27" idx="3"/>
            <a:endCxn id="41" idx="0"/>
          </p:cNvCxnSpPr>
          <p:nvPr/>
        </p:nvCxnSpPr>
        <p:spPr>
          <a:xfrm rot="5400000">
            <a:off x="5606280" y="3154805"/>
            <a:ext cx="916315" cy="851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40" idx="0"/>
            <a:endCxn id="27" idx="4"/>
          </p:cNvCxnSpPr>
          <p:nvPr/>
        </p:nvCxnSpPr>
        <p:spPr>
          <a:xfrm rot="5400000" flipH="1" flipV="1">
            <a:off x="6286500" y="3619500"/>
            <a:ext cx="838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27" idx="5"/>
            <a:endCxn id="42" idx="0"/>
          </p:cNvCxnSpPr>
          <p:nvPr/>
        </p:nvCxnSpPr>
        <p:spPr>
          <a:xfrm rot="16200000" flipH="1">
            <a:off x="6888606" y="3154805"/>
            <a:ext cx="916315" cy="851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64008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</a:t>
            </a:r>
            <a:endParaRPr lang="en-US" dirty="0"/>
          </a:p>
        </p:txBody>
      </p:sp>
      <p:sp>
        <p:nvSpPr>
          <p:cNvPr id="41" name="Oval 40"/>
          <p:cNvSpPr/>
          <p:nvPr/>
        </p:nvSpPr>
        <p:spPr>
          <a:xfrm>
            <a:off x="53340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9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74676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4</a:t>
            </a:r>
            <a:endParaRPr lang="en-US" dirty="0"/>
          </a:p>
        </p:txBody>
      </p:sp>
      <p:cxnSp>
        <p:nvCxnSpPr>
          <p:cNvPr id="46" name="Straight Connector 45"/>
          <p:cNvCxnSpPr>
            <a:stCxn id="35" idx="0"/>
            <a:endCxn id="21" idx="4"/>
          </p:cNvCxnSpPr>
          <p:nvPr/>
        </p:nvCxnSpPr>
        <p:spPr>
          <a:xfrm rot="5400000" flipH="1" flipV="1">
            <a:off x="4152900" y="3619500"/>
            <a:ext cx="838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stCxn id="35" idx="3"/>
            <a:endCxn id="58" idx="0"/>
          </p:cNvCxnSpPr>
          <p:nvPr/>
        </p:nvCxnSpPr>
        <p:spPr>
          <a:xfrm rot="5400000">
            <a:off x="3624122" y="4755963"/>
            <a:ext cx="994431" cy="470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57" idx="0"/>
            <a:endCxn id="35" idx="5"/>
          </p:cNvCxnSpPr>
          <p:nvPr/>
        </p:nvCxnSpPr>
        <p:spPr>
          <a:xfrm rot="16200000" flipV="1">
            <a:off x="4487348" y="4794064"/>
            <a:ext cx="994431" cy="3940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4876800" y="5488316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3</a:t>
            </a:r>
            <a:endParaRPr lang="en-US" dirty="0"/>
          </a:p>
        </p:txBody>
      </p:sp>
      <p:sp>
        <p:nvSpPr>
          <p:cNvPr id="58" name="Oval 57"/>
          <p:cNvSpPr/>
          <p:nvPr/>
        </p:nvSpPr>
        <p:spPr>
          <a:xfrm>
            <a:off x="3581400" y="5488316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10</a:t>
            </a:r>
            <a:endParaRPr lang="en-US" dirty="0"/>
          </a:p>
        </p:txBody>
      </p:sp>
      <p:cxnSp>
        <p:nvCxnSpPr>
          <p:cNvPr id="61" name="Straight Connector 60"/>
          <p:cNvCxnSpPr>
            <a:stCxn id="33" idx="4"/>
            <a:endCxn id="63" idx="0"/>
          </p:cNvCxnSpPr>
          <p:nvPr/>
        </p:nvCxnSpPr>
        <p:spPr>
          <a:xfrm rot="5400000">
            <a:off x="2362200" y="4724400"/>
            <a:ext cx="914400" cy="609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2209800" y="54864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19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Tree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A tree with n nodes has n-1 edges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A tree does not have a cycle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A tree is connected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smtClean="0"/>
              <a:t>There exists one and only one path between any two nodes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b="1" dirty="0" smtClean="0">
                <a:solidFill>
                  <a:srgbClr val="7030A0"/>
                </a:solidFill>
              </a:rPr>
              <a:t>Degree of a node</a:t>
            </a:r>
            <a:r>
              <a:rPr lang="en-US" dirty="0" smtClean="0"/>
              <a:t>: No of </a:t>
            </a:r>
            <a:r>
              <a:rPr lang="en-US" dirty="0" err="1" smtClean="0"/>
              <a:t>subtrees</a:t>
            </a:r>
            <a:r>
              <a:rPr lang="en-US" dirty="0" smtClean="0"/>
              <a:t> of the node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solidFill>
                  <a:srgbClr val="7030A0"/>
                </a:solidFill>
              </a:rPr>
              <a:t>Leaf Node</a:t>
            </a:r>
            <a:r>
              <a:rPr lang="en-US" dirty="0" smtClean="0"/>
              <a:t>: Node having degree zero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solidFill>
                  <a:srgbClr val="7030A0"/>
                </a:solidFill>
              </a:rPr>
              <a:t>Internal Node</a:t>
            </a:r>
            <a:r>
              <a:rPr lang="en-US" dirty="0" smtClean="0"/>
              <a:t>: Node having degree at least one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solidFill>
                  <a:srgbClr val="7030A0"/>
                </a:solidFill>
              </a:rPr>
              <a:t>Children of a node</a:t>
            </a:r>
            <a:r>
              <a:rPr lang="en-US" dirty="0" smtClean="0"/>
              <a:t>: Roots of the </a:t>
            </a:r>
            <a:r>
              <a:rPr lang="en-US" dirty="0" err="1" smtClean="0"/>
              <a:t>subtrees</a:t>
            </a:r>
            <a:r>
              <a:rPr lang="en-US" dirty="0" smtClean="0"/>
              <a:t> of the node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solidFill>
                  <a:srgbClr val="7030A0"/>
                </a:solidFill>
              </a:rPr>
              <a:t>Siblings</a:t>
            </a:r>
            <a:r>
              <a:rPr lang="en-US" dirty="0" smtClean="0"/>
              <a:t>: Children of the same parent.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solidFill>
                  <a:srgbClr val="7030A0"/>
                </a:solidFill>
              </a:rPr>
              <a:t>Degree of a tree</a:t>
            </a:r>
            <a:r>
              <a:rPr lang="en-US" dirty="0" smtClean="0"/>
              <a:t>: Maximum degree of any node in the tree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 smtClean="0"/>
              <a:t>Definitions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600" b="1" dirty="0" smtClean="0">
                <a:solidFill>
                  <a:srgbClr val="7030A0"/>
                </a:solidFill>
              </a:rPr>
              <a:t>Ancestors of a node</a:t>
            </a:r>
            <a:r>
              <a:rPr lang="en-US" sz="2600" dirty="0" smtClean="0"/>
              <a:t>: All the nodes along the path from the root to that node.</a:t>
            </a:r>
          </a:p>
          <a:p>
            <a:pPr>
              <a:lnSpc>
                <a:spcPct val="150000"/>
              </a:lnSpc>
            </a:pPr>
            <a:r>
              <a:rPr lang="en-US" sz="2600" b="1" dirty="0" smtClean="0">
                <a:solidFill>
                  <a:srgbClr val="7030A0"/>
                </a:solidFill>
              </a:rPr>
              <a:t>Level of root =</a:t>
            </a:r>
            <a:r>
              <a:rPr lang="en-US" sz="2600" dirty="0" smtClean="0"/>
              <a:t> 0.</a:t>
            </a:r>
          </a:p>
          <a:p>
            <a:pPr>
              <a:lnSpc>
                <a:spcPct val="150000"/>
              </a:lnSpc>
            </a:pPr>
            <a:r>
              <a:rPr lang="en-US" sz="2600" b="1" dirty="0" smtClean="0">
                <a:solidFill>
                  <a:srgbClr val="7030A0"/>
                </a:solidFill>
              </a:rPr>
              <a:t>Level of a child </a:t>
            </a:r>
            <a:r>
              <a:rPr lang="en-US" sz="2600" dirty="0" smtClean="0"/>
              <a:t>= 1+Level of its parent</a:t>
            </a:r>
          </a:p>
          <a:p>
            <a:pPr>
              <a:lnSpc>
                <a:spcPct val="150000"/>
              </a:lnSpc>
            </a:pPr>
            <a:r>
              <a:rPr lang="en-US" sz="2600" b="1" smtClean="0">
                <a:solidFill>
                  <a:srgbClr val="7030A0"/>
                </a:solidFill>
              </a:rPr>
              <a:t>Height/Depth </a:t>
            </a:r>
            <a:r>
              <a:rPr lang="en-US" sz="2600" b="1" dirty="0" smtClean="0">
                <a:solidFill>
                  <a:srgbClr val="7030A0"/>
                </a:solidFill>
              </a:rPr>
              <a:t>of a tree</a:t>
            </a:r>
            <a:r>
              <a:rPr lang="en-US" sz="2600" dirty="0" smtClean="0"/>
              <a:t>: Maximum level of any node in the tree</a:t>
            </a:r>
            <a:endParaRPr lang="en-US" sz="2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3657600" y="1371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R</a:t>
            </a:r>
            <a:endParaRPr lang="en-US" dirty="0"/>
          </a:p>
        </p:txBody>
      </p:sp>
      <p:cxnSp>
        <p:nvCxnSpPr>
          <p:cNvPr id="5" name="Straight Connector 4"/>
          <p:cNvCxnSpPr>
            <a:stCxn id="4" idx="2"/>
            <a:endCxn id="25" idx="0"/>
          </p:cNvCxnSpPr>
          <p:nvPr/>
        </p:nvCxnSpPr>
        <p:spPr>
          <a:xfrm rot="10800000" flipV="1">
            <a:off x="1905000" y="1638300"/>
            <a:ext cx="1752600" cy="1028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stCxn id="21" idx="0"/>
            <a:endCxn id="4" idx="4"/>
          </p:cNvCxnSpPr>
          <p:nvPr/>
        </p:nvCxnSpPr>
        <p:spPr>
          <a:xfrm rot="5400000" flipH="1" flipV="1">
            <a:off x="3581400" y="2286000"/>
            <a:ext cx="762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>
            <a:stCxn id="4" idx="6"/>
            <a:endCxn id="27" idx="0"/>
          </p:cNvCxnSpPr>
          <p:nvPr/>
        </p:nvCxnSpPr>
        <p:spPr>
          <a:xfrm>
            <a:off x="4267200" y="1638300"/>
            <a:ext cx="1828800" cy="1028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3657600" y="26670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C</a:t>
            </a:r>
            <a:endParaRPr lang="en-US" dirty="0"/>
          </a:p>
        </p:txBody>
      </p:sp>
      <p:sp>
        <p:nvSpPr>
          <p:cNvPr id="25" name="Oval 24"/>
          <p:cNvSpPr/>
          <p:nvPr/>
        </p:nvSpPr>
        <p:spPr>
          <a:xfrm>
            <a:off x="1600200" y="26670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B</a:t>
            </a:r>
            <a:endParaRPr lang="en-US" dirty="0"/>
          </a:p>
        </p:txBody>
      </p:sp>
      <p:sp>
        <p:nvSpPr>
          <p:cNvPr id="27" name="Oval 26"/>
          <p:cNvSpPr/>
          <p:nvPr/>
        </p:nvSpPr>
        <p:spPr>
          <a:xfrm>
            <a:off x="5791200" y="26670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D</a:t>
            </a:r>
            <a:endParaRPr lang="en-US" dirty="0"/>
          </a:p>
        </p:txBody>
      </p:sp>
      <p:cxnSp>
        <p:nvCxnSpPr>
          <p:cNvPr id="30" name="Straight Connector 29"/>
          <p:cNvCxnSpPr>
            <a:stCxn id="25" idx="3"/>
            <a:endCxn id="34" idx="0"/>
          </p:cNvCxnSpPr>
          <p:nvPr/>
        </p:nvCxnSpPr>
        <p:spPr>
          <a:xfrm rot="5400000">
            <a:off x="996180" y="3345305"/>
            <a:ext cx="916315" cy="470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33" idx="0"/>
            <a:endCxn id="25" idx="5"/>
          </p:cNvCxnSpPr>
          <p:nvPr/>
        </p:nvCxnSpPr>
        <p:spPr>
          <a:xfrm rot="16200000" flipV="1">
            <a:off x="1859406" y="3383406"/>
            <a:ext cx="916315" cy="3940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22098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A</a:t>
            </a:r>
            <a:endParaRPr lang="en-US" dirty="0"/>
          </a:p>
        </p:txBody>
      </p:sp>
      <p:sp>
        <p:nvSpPr>
          <p:cNvPr id="34" name="Oval 33"/>
          <p:cNvSpPr/>
          <p:nvPr/>
        </p:nvSpPr>
        <p:spPr>
          <a:xfrm>
            <a:off x="9144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H</a:t>
            </a:r>
            <a:endParaRPr lang="en-US" dirty="0"/>
          </a:p>
        </p:txBody>
      </p:sp>
      <p:sp>
        <p:nvSpPr>
          <p:cNvPr id="35" name="Oval 34"/>
          <p:cNvSpPr/>
          <p:nvPr/>
        </p:nvSpPr>
        <p:spPr>
          <a:xfrm>
            <a:off x="36576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I</a:t>
            </a:r>
            <a:endParaRPr lang="en-US" dirty="0"/>
          </a:p>
        </p:txBody>
      </p:sp>
      <p:cxnSp>
        <p:nvCxnSpPr>
          <p:cNvPr id="37" name="Straight Connector 36"/>
          <p:cNvCxnSpPr>
            <a:stCxn id="27" idx="3"/>
            <a:endCxn id="41" idx="0"/>
          </p:cNvCxnSpPr>
          <p:nvPr/>
        </p:nvCxnSpPr>
        <p:spPr>
          <a:xfrm rot="5400000">
            <a:off x="4996680" y="3154805"/>
            <a:ext cx="916315" cy="851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40" idx="0"/>
            <a:endCxn id="27" idx="4"/>
          </p:cNvCxnSpPr>
          <p:nvPr/>
        </p:nvCxnSpPr>
        <p:spPr>
          <a:xfrm rot="5400000" flipH="1" flipV="1">
            <a:off x="5676900" y="3619500"/>
            <a:ext cx="838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27" idx="5"/>
            <a:endCxn id="42" idx="0"/>
          </p:cNvCxnSpPr>
          <p:nvPr/>
        </p:nvCxnSpPr>
        <p:spPr>
          <a:xfrm rot="16200000" flipH="1">
            <a:off x="6279006" y="3154805"/>
            <a:ext cx="916315" cy="851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57912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Y</a:t>
            </a:r>
            <a:endParaRPr lang="en-US" dirty="0"/>
          </a:p>
        </p:txBody>
      </p:sp>
      <p:sp>
        <p:nvSpPr>
          <p:cNvPr id="41" name="Oval 40"/>
          <p:cNvSpPr/>
          <p:nvPr/>
        </p:nvSpPr>
        <p:spPr>
          <a:xfrm>
            <a:off x="47244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X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68580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Z</a:t>
            </a:r>
            <a:endParaRPr lang="en-US" dirty="0"/>
          </a:p>
        </p:txBody>
      </p:sp>
      <p:cxnSp>
        <p:nvCxnSpPr>
          <p:cNvPr id="46" name="Straight Connector 45"/>
          <p:cNvCxnSpPr>
            <a:stCxn id="35" idx="0"/>
            <a:endCxn id="21" idx="4"/>
          </p:cNvCxnSpPr>
          <p:nvPr/>
        </p:nvCxnSpPr>
        <p:spPr>
          <a:xfrm rot="5400000" flipH="1" flipV="1">
            <a:off x="3543300" y="3619500"/>
            <a:ext cx="838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stCxn id="35" idx="3"/>
            <a:endCxn id="58" idx="0"/>
          </p:cNvCxnSpPr>
          <p:nvPr/>
        </p:nvCxnSpPr>
        <p:spPr>
          <a:xfrm rot="5400000">
            <a:off x="3014522" y="4755963"/>
            <a:ext cx="994431" cy="470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57" idx="0"/>
            <a:endCxn id="35" idx="5"/>
          </p:cNvCxnSpPr>
          <p:nvPr/>
        </p:nvCxnSpPr>
        <p:spPr>
          <a:xfrm rot="16200000" flipV="1">
            <a:off x="3877748" y="4794064"/>
            <a:ext cx="994431" cy="3940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4267200" y="5488316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K</a:t>
            </a:r>
            <a:endParaRPr lang="en-US" dirty="0"/>
          </a:p>
        </p:txBody>
      </p:sp>
      <p:sp>
        <p:nvSpPr>
          <p:cNvPr id="58" name="Oval 57"/>
          <p:cNvSpPr/>
          <p:nvPr/>
        </p:nvSpPr>
        <p:spPr>
          <a:xfrm>
            <a:off x="2971800" y="5488316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J</a:t>
            </a:r>
            <a:endParaRPr lang="en-US" dirty="0"/>
          </a:p>
        </p:txBody>
      </p:sp>
      <p:cxnSp>
        <p:nvCxnSpPr>
          <p:cNvPr id="61" name="Straight Connector 60"/>
          <p:cNvCxnSpPr>
            <a:stCxn id="33" idx="4"/>
            <a:endCxn id="63" idx="0"/>
          </p:cNvCxnSpPr>
          <p:nvPr/>
        </p:nvCxnSpPr>
        <p:spPr>
          <a:xfrm rot="5400000">
            <a:off x="1752600" y="4724400"/>
            <a:ext cx="914400" cy="609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1600200" y="54864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M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76200" y="1447800"/>
            <a:ext cx="836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Level 0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76200" y="2678668"/>
            <a:ext cx="836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Level 1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76200" y="4126468"/>
            <a:ext cx="836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Level 2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76200" y="5574268"/>
            <a:ext cx="836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Level 3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6248400" y="1066800"/>
            <a:ext cx="290425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Degree of R = 3</a:t>
            </a:r>
          </a:p>
          <a:p>
            <a:r>
              <a:rPr lang="en-US" dirty="0" smtClean="0"/>
              <a:t>Internal Nodes = R, B,C,D,A, I</a:t>
            </a:r>
          </a:p>
          <a:p>
            <a:r>
              <a:rPr lang="en-US" dirty="0" smtClean="0"/>
              <a:t>Leaf Nodes = H, M, J,K, X, Y, Z</a:t>
            </a:r>
          </a:p>
          <a:p>
            <a:r>
              <a:rPr lang="en-US" dirty="0" smtClean="0"/>
              <a:t>Children of R = B, C, D</a:t>
            </a:r>
          </a:p>
          <a:p>
            <a:r>
              <a:rPr lang="en-US" dirty="0" smtClean="0"/>
              <a:t>R is parent of B, C, D</a:t>
            </a:r>
          </a:p>
          <a:p>
            <a:r>
              <a:rPr lang="en-US" dirty="0" smtClean="0"/>
              <a:t>B, C, D are siblings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24600" y="4895671"/>
            <a:ext cx="22683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Degree of the tree = 3</a:t>
            </a:r>
          </a:p>
          <a:p>
            <a:r>
              <a:rPr lang="en-US" dirty="0" smtClean="0"/>
              <a:t>Height of the tree = 3</a:t>
            </a:r>
          </a:p>
          <a:p>
            <a:r>
              <a:rPr lang="en-US" dirty="0" smtClean="0"/>
              <a:t>Ancestors of K = R, C, 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667000"/>
            <a:ext cx="8229600" cy="1143000"/>
          </a:xfrm>
        </p:spPr>
        <p:txBody>
          <a:bodyPr/>
          <a:lstStyle/>
          <a:p>
            <a:r>
              <a:rPr lang="en-US" dirty="0" smtClean="0"/>
              <a:t>Binary Tree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020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r>
              <a:rPr lang="en-US" dirty="0" smtClean="0"/>
              <a:t>Binary Tree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71325"/>
            <a:ext cx="8229600" cy="4525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A binary tree is a finite set of nodes that is either empty or consists of a root and two disjoint binary trees called the left </a:t>
            </a:r>
            <a:r>
              <a:rPr lang="en-US" dirty="0" err="1" smtClean="0"/>
              <a:t>subtree</a:t>
            </a:r>
            <a:r>
              <a:rPr lang="en-US" dirty="0" smtClean="0"/>
              <a:t> and the right </a:t>
            </a:r>
            <a:r>
              <a:rPr lang="en-US" dirty="0" err="1" smtClean="0"/>
              <a:t>subtree</a:t>
            </a:r>
            <a:r>
              <a:rPr lang="en-US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Every node has at most two children.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Maximum no of nodes at level x = 2</a:t>
            </a:r>
            <a:r>
              <a:rPr lang="en-US" baseline="40000" dirty="0" smtClean="0"/>
              <a:t>x </a:t>
            </a:r>
            <a:r>
              <a:rPr lang="en-US" dirty="0" smtClean="0"/>
              <a:t> 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Binary Tree: Recursive Definition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133600"/>
          </a:xfrm>
        </p:spPr>
        <p:txBody>
          <a:bodyPr>
            <a:normAutofit fontScale="85000" lnSpcReduction="20000"/>
          </a:bodyPr>
          <a:lstStyle/>
          <a:p>
            <a:r>
              <a:rPr lang="en-IN" dirty="0" smtClean="0"/>
              <a:t>An empty node is a binary tree</a:t>
            </a:r>
          </a:p>
          <a:p>
            <a:r>
              <a:rPr lang="en-IN" dirty="0" smtClean="0"/>
              <a:t>A single node, called root, is a binary tree</a:t>
            </a:r>
          </a:p>
          <a:p>
            <a:r>
              <a:rPr lang="en-IN" dirty="0"/>
              <a:t> </a:t>
            </a:r>
            <a:r>
              <a:rPr lang="en-IN" dirty="0" smtClean="0"/>
              <a:t>Every node has at most two disjoint subtrees which are also binary trees. </a:t>
            </a:r>
          </a:p>
          <a:p>
            <a:r>
              <a:rPr lang="en-IN" dirty="0" err="1" smtClean="0"/>
              <a:t>Disjointness</a:t>
            </a:r>
            <a:r>
              <a:rPr lang="en-IN" dirty="0" smtClean="0"/>
              <a:t> ensures that the tree is acyclic and there is a unique path between any two nodes of the tree.</a:t>
            </a:r>
            <a:endParaRPr lang="en-IN" dirty="0"/>
          </a:p>
        </p:txBody>
      </p:sp>
      <p:sp>
        <p:nvSpPr>
          <p:cNvPr id="4" name="Oval 3"/>
          <p:cNvSpPr/>
          <p:nvPr/>
        </p:nvSpPr>
        <p:spPr>
          <a:xfrm>
            <a:off x="4343400" y="4038600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Connector 4"/>
          <p:cNvCxnSpPr>
            <a:endCxn id="6" idx="0"/>
          </p:cNvCxnSpPr>
          <p:nvPr/>
        </p:nvCxnSpPr>
        <p:spPr>
          <a:xfrm flipH="1">
            <a:off x="3848100" y="4296076"/>
            <a:ext cx="495300" cy="685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Isosceles Triangle 5"/>
          <p:cNvSpPr/>
          <p:nvPr/>
        </p:nvSpPr>
        <p:spPr>
          <a:xfrm>
            <a:off x="3429000" y="4981876"/>
            <a:ext cx="838200" cy="10668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Connector 6"/>
          <p:cNvCxnSpPr>
            <a:stCxn id="4" idx="6"/>
            <a:endCxn id="8" idx="0"/>
          </p:cNvCxnSpPr>
          <p:nvPr/>
        </p:nvCxnSpPr>
        <p:spPr>
          <a:xfrm>
            <a:off x="4800600" y="4267200"/>
            <a:ext cx="571500" cy="685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7"/>
          <p:cNvSpPr/>
          <p:nvPr/>
        </p:nvSpPr>
        <p:spPr>
          <a:xfrm>
            <a:off x="4953000" y="4953000"/>
            <a:ext cx="838200" cy="10668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0968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Isosceles Triangle 25"/>
          <p:cNvSpPr/>
          <p:nvPr/>
        </p:nvSpPr>
        <p:spPr>
          <a:xfrm>
            <a:off x="2514600" y="2286000"/>
            <a:ext cx="2438400" cy="18288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Binary Tree</a:t>
            </a:r>
            <a:endParaRPr lang="en-IN" dirty="0"/>
          </a:p>
        </p:txBody>
      </p:sp>
      <p:sp>
        <p:nvSpPr>
          <p:cNvPr id="4" name="Oval 3"/>
          <p:cNvSpPr/>
          <p:nvPr/>
        </p:nvSpPr>
        <p:spPr>
          <a:xfrm>
            <a:off x="4876800" y="1600200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Connector 4"/>
          <p:cNvCxnSpPr>
            <a:stCxn id="4" idx="2"/>
            <a:endCxn id="10" idx="0"/>
          </p:cNvCxnSpPr>
          <p:nvPr/>
        </p:nvCxnSpPr>
        <p:spPr>
          <a:xfrm flipH="1">
            <a:off x="3733800" y="1828800"/>
            <a:ext cx="1143000" cy="990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stCxn id="4" idx="6"/>
            <a:endCxn id="11" idx="0"/>
          </p:cNvCxnSpPr>
          <p:nvPr/>
        </p:nvCxnSpPr>
        <p:spPr>
          <a:xfrm>
            <a:off x="5334000" y="1828800"/>
            <a:ext cx="990600" cy="1066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505200" y="2819400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/>
          <p:cNvSpPr/>
          <p:nvPr/>
        </p:nvSpPr>
        <p:spPr>
          <a:xfrm>
            <a:off x="6096000" y="2895600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2" name="Straight Connector 11"/>
          <p:cNvCxnSpPr>
            <a:stCxn id="10" idx="2"/>
          </p:cNvCxnSpPr>
          <p:nvPr/>
        </p:nvCxnSpPr>
        <p:spPr>
          <a:xfrm flipH="1">
            <a:off x="2933700" y="3048000"/>
            <a:ext cx="571500" cy="7908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stCxn id="10" idx="5"/>
            <a:endCxn id="15" idx="0"/>
          </p:cNvCxnSpPr>
          <p:nvPr/>
        </p:nvCxnSpPr>
        <p:spPr>
          <a:xfrm>
            <a:off x="3895445" y="3209645"/>
            <a:ext cx="447955" cy="4479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2743200" y="3657600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/>
          <p:cNvSpPr/>
          <p:nvPr/>
        </p:nvSpPr>
        <p:spPr>
          <a:xfrm>
            <a:off x="4114800" y="3657600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6" name="Straight Connector 15"/>
          <p:cNvCxnSpPr>
            <a:stCxn id="19" idx="3"/>
            <a:endCxn id="18" idx="0"/>
          </p:cNvCxnSpPr>
          <p:nvPr/>
        </p:nvCxnSpPr>
        <p:spPr>
          <a:xfrm flipH="1">
            <a:off x="5943600" y="4124045"/>
            <a:ext cx="219355" cy="6765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11" idx="4"/>
            <a:endCxn id="19" idx="0"/>
          </p:cNvCxnSpPr>
          <p:nvPr/>
        </p:nvCxnSpPr>
        <p:spPr>
          <a:xfrm>
            <a:off x="6324600" y="3352800"/>
            <a:ext cx="0" cy="381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715000" y="4800600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/>
          <p:cNvSpPr/>
          <p:nvPr/>
        </p:nvSpPr>
        <p:spPr>
          <a:xfrm>
            <a:off x="6096000" y="3733800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/>
          <p:cNvSpPr/>
          <p:nvPr/>
        </p:nvSpPr>
        <p:spPr>
          <a:xfrm>
            <a:off x="6553200" y="4800600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3" name="Straight Connector 22"/>
          <p:cNvCxnSpPr>
            <a:stCxn id="19" idx="5"/>
            <a:endCxn id="22" idx="0"/>
          </p:cNvCxnSpPr>
          <p:nvPr/>
        </p:nvCxnSpPr>
        <p:spPr>
          <a:xfrm>
            <a:off x="6486245" y="4124045"/>
            <a:ext cx="295555" cy="6765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>
            <a:off x="5105400" y="2286000"/>
            <a:ext cx="2438400" cy="3429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0951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Binary Tree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Each node has either 0, 1 or 2 children.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Maximum no of nodes in a binary tree of height h is n =  2</a:t>
            </a:r>
            <a:r>
              <a:rPr lang="en-US" baseline="40000" dirty="0" smtClean="0"/>
              <a:t>0</a:t>
            </a:r>
            <a:r>
              <a:rPr lang="en-US" dirty="0" smtClean="0"/>
              <a:t> + 2</a:t>
            </a:r>
            <a:r>
              <a:rPr lang="en-US" baseline="40000" dirty="0" smtClean="0"/>
              <a:t>1 </a:t>
            </a:r>
            <a:r>
              <a:rPr lang="en-US" dirty="0" smtClean="0"/>
              <a:t> + 2</a:t>
            </a:r>
            <a:r>
              <a:rPr lang="en-US" baseline="40000" dirty="0" smtClean="0"/>
              <a:t>2 </a:t>
            </a:r>
            <a:r>
              <a:rPr lang="en-US" dirty="0" smtClean="0"/>
              <a:t> + … + 2</a:t>
            </a:r>
            <a:r>
              <a:rPr lang="en-US" baseline="40000" dirty="0" smtClean="0"/>
              <a:t>h</a:t>
            </a:r>
            <a:r>
              <a:rPr lang="en-US" dirty="0" smtClean="0"/>
              <a:t> = 2</a:t>
            </a:r>
            <a:r>
              <a:rPr lang="en-US" baseline="40000" dirty="0" smtClean="0"/>
              <a:t>h+1</a:t>
            </a:r>
            <a:r>
              <a:rPr lang="en-US" dirty="0" smtClean="0"/>
              <a:t> – 1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Given a binary tree with n nodes, the minimum height of the binary tree h</a:t>
            </a:r>
            <a:r>
              <a:rPr lang="en-US" baseline="-25000" dirty="0" smtClean="0"/>
              <a:t>min</a:t>
            </a:r>
            <a:r>
              <a:rPr lang="en-US" dirty="0" smtClean="0"/>
              <a:t> = log</a:t>
            </a:r>
            <a:r>
              <a:rPr lang="en-US" baseline="-25000" dirty="0" smtClean="0"/>
              <a:t>2</a:t>
            </a:r>
            <a:r>
              <a:rPr lang="en-US" dirty="0" smtClean="0"/>
              <a:t>(n+1) – 1 (Each node has 2 children)</a:t>
            </a:r>
          </a:p>
          <a:p>
            <a:pPr>
              <a:lnSpc>
                <a:spcPct val="150000"/>
              </a:lnSpc>
            </a:pPr>
            <a:r>
              <a:rPr lang="en-US" dirty="0"/>
              <a:t>Given a binary tree with n nodes, the </a:t>
            </a:r>
            <a:r>
              <a:rPr lang="en-US" dirty="0" smtClean="0"/>
              <a:t>maximum </a:t>
            </a:r>
            <a:r>
              <a:rPr lang="en-US" dirty="0"/>
              <a:t>height of the binary tree </a:t>
            </a:r>
            <a:r>
              <a:rPr lang="en-US" dirty="0" err="1" smtClean="0"/>
              <a:t>h</a:t>
            </a:r>
            <a:r>
              <a:rPr lang="en-US" baseline="-25000" dirty="0" err="1" smtClean="0"/>
              <a:t>max</a:t>
            </a:r>
            <a:r>
              <a:rPr lang="en-US" dirty="0" smtClean="0"/>
              <a:t> </a:t>
            </a:r>
            <a:r>
              <a:rPr lang="en-US" dirty="0"/>
              <a:t>= n</a:t>
            </a:r>
            <a:r>
              <a:rPr lang="en-US" dirty="0" smtClean="0"/>
              <a:t> </a:t>
            </a:r>
            <a:r>
              <a:rPr lang="en-US" dirty="0"/>
              <a:t>– </a:t>
            </a:r>
            <a:r>
              <a:rPr lang="en-US" dirty="0" smtClean="0"/>
              <a:t>1 (Each node has a single child)</a:t>
            </a:r>
            <a:endParaRPr lang="en-US" dirty="0"/>
          </a:p>
          <a:p>
            <a:pPr>
              <a:lnSpc>
                <a:spcPct val="150000"/>
              </a:lnSpc>
            </a:pPr>
            <a:endParaRPr lang="en-US" dirty="0" smtClean="0"/>
          </a:p>
          <a:p>
            <a:pPr>
              <a:lnSpc>
                <a:spcPct val="150000"/>
              </a:lnSpc>
              <a:buNone/>
            </a:pPr>
            <a:endParaRPr lang="en-US" dirty="0" smtClean="0"/>
          </a:p>
          <a:p>
            <a:pPr>
              <a:lnSpc>
                <a:spcPct val="150000"/>
              </a:lnSpc>
              <a:buNone/>
            </a:pPr>
            <a:endParaRPr lang="en-US" baseline="40000" dirty="0" smtClean="0"/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Binary Tree Data Structure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3768291" cy="4525963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err="1" smtClean="0"/>
              <a:t>typedef</a:t>
            </a:r>
            <a:r>
              <a:rPr lang="en-US" dirty="0" smtClean="0"/>
              <a:t> </a:t>
            </a:r>
            <a:r>
              <a:rPr lang="en-US" dirty="0" err="1" smtClean="0"/>
              <a:t>struct</a:t>
            </a:r>
            <a:r>
              <a:rPr lang="en-US" dirty="0" smtClean="0"/>
              <a:t> node {</a:t>
            </a:r>
          </a:p>
          <a:p>
            <a:pPr>
              <a:buNone/>
            </a:pPr>
            <a:r>
              <a:rPr lang="en-US" dirty="0" smtClean="0"/>
              <a:t>   </a:t>
            </a:r>
            <a:r>
              <a:rPr lang="en-US" dirty="0" err="1" smtClean="0"/>
              <a:t>int</a:t>
            </a:r>
            <a:r>
              <a:rPr lang="en-US" dirty="0" smtClean="0"/>
              <a:t> data;</a:t>
            </a:r>
          </a:p>
          <a:p>
            <a:pPr>
              <a:buNone/>
            </a:pPr>
            <a:r>
              <a:rPr lang="en-US" dirty="0" smtClean="0"/>
              <a:t>   </a:t>
            </a:r>
            <a:r>
              <a:rPr lang="en-US" dirty="0" err="1" smtClean="0"/>
              <a:t>struct</a:t>
            </a:r>
            <a:r>
              <a:rPr lang="en-US" dirty="0" smtClean="0"/>
              <a:t> node *left;</a:t>
            </a:r>
          </a:p>
          <a:p>
            <a:pPr>
              <a:buNone/>
            </a:pPr>
            <a:r>
              <a:rPr lang="en-US" dirty="0" smtClean="0"/>
              <a:t>   </a:t>
            </a:r>
            <a:r>
              <a:rPr lang="en-US" dirty="0" err="1" smtClean="0"/>
              <a:t>struct</a:t>
            </a:r>
            <a:r>
              <a:rPr lang="en-US" dirty="0" smtClean="0"/>
              <a:t> node *right;</a:t>
            </a:r>
          </a:p>
          <a:p>
            <a:pPr>
              <a:buNone/>
            </a:pPr>
            <a:r>
              <a:rPr lang="en-US" dirty="0" smtClean="0"/>
              <a:t>}node;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void preorder(node *);</a:t>
            </a:r>
          </a:p>
          <a:p>
            <a:pPr>
              <a:buNone/>
            </a:pPr>
            <a:r>
              <a:rPr lang="en-US" dirty="0" smtClean="0"/>
              <a:t>void </a:t>
            </a:r>
            <a:r>
              <a:rPr lang="en-US" dirty="0" err="1" smtClean="0"/>
              <a:t>inorder</a:t>
            </a:r>
            <a:r>
              <a:rPr lang="en-US" dirty="0" smtClean="0"/>
              <a:t>(node *);</a:t>
            </a:r>
          </a:p>
          <a:p>
            <a:pPr>
              <a:buNone/>
            </a:pPr>
            <a:r>
              <a:rPr lang="en-US" dirty="0" smtClean="0"/>
              <a:t>void </a:t>
            </a:r>
            <a:r>
              <a:rPr lang="en-US" dirty="0" err="1" smtClean="0"/>
              <a:t>postorder</a:t>
            </a:r>
            <a:r>
              <a:rPr lang="en-US" dirty="0" smtClean="0"/>
              <a:t>(node *);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72001" y="1600200"/>
            <a:ext cx="441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dirty="0" err="1" smtClean="0"/>
              <a:t>typedef</a:t>
            </a:r>
            <a:r>
              <a:rPr lang="en-US" dirty="0" smtClean="0"/>
              <a:t> </a:t>
            </a:r>
            <a:r>
              <a:rPr lang="en-US" dirty="0" err="1" smtClean="0"/>
              <a:t>struct</a:t>
            </a:r>
            <a:r>
              <a:rPr lang="en-US" dirty="0" smtClean="0"/>
              <a:t> node {</a:t>
            </a:r>
          </a:p>
          <a:p>
            <a:pPr>
              <a:buFont typeface="Wingdings" pitchFamily="2" charset="2"/>
              <a:buNone/>
            </a:pPr>
            <a:r>
              <a:rPr lang="en-US" dirty="0" smtClean="0"/>
              <a:t>   </a:t>
            </a:r>
            <a:r>
              <a:rPr lang="en-US" dirty="0" err="1" smtClean="0"/>
              <a:t>int</a:t>
            </a:r>
            <a:r>
              <a:rPr lang="en-US" dirty="0" smtClean="0"/>
              <a:t> data;</a:t>
            </a:r>
          </a:p>
          <a:p>
            <a:pPr>
              <a:buFont typeface="Wingdings" pitchFamily="2" charset="2"/>
              <a:buNone/>
            </a:pPr>
            <a:r>
              <a:rPr lang="en-US" dirty="0" smtClean="0"/>
              <a:t>   </a:t>
            </a:r>
            <a:r>
              <a:rPr lang="en-US" dirty="0" err="1" smtClean="0"/>
              <a:t>struct</a:t>
            </a:r>
            <a:r>
              <a:rPr lang="en-US" dirty="0" smtClean="0"/>
              <a:t> node *next;</a:t>
            </a:r>
          </a:p>
          <a:p>
            <a:pPr>
              <a:buFont typeface="Wingdings" pitchFamily="2" charset="2"/>
              <a:buNone/>
            </a:pPr>
            <a:r>
              <a:rPr lang="en-US" dirty="0" smtClean="0"/>
              <a:t>}node;</a:t>
            </a:r>
          </a:p>
          <a:p>
            <a:pPr>
              <a:buFont typeface="Wingdings" pitchFamily="2" charset="2"/>
              <a:buNone/>
            </a:pPr>
            <a:endParaRPr lang="en-US" dirty="0" smtClean="0"/>
          </a:p>
          <a:p>
            <a:pPr>
              <a:buFont typeface="Wingdings" pitchFamily="2" charset="2"/>
              <a:buNone/>
            </a:pPr>
            <a:r>
              <a:rPr lang="en-US" dirty="0" smtClean="0"/>
              <a:t>void </a:t>
            </a:r>
            <a:r>
              <a:rPr lang="en-US" dirty="0" err="1" smtClean="0"/>
              <a:t>linearTraversal</a:t>
            </a:r>
            <a:r>
              <a:rPr lang="en-US" dirty="0" smtClean="0"/>
              <a:t>(node *h)</a:t>
            </a:r>
          </a:p>
          <a:p>
            <a:pPr>
              <a:buFont typeface="Wingdings" pitchFamily="2" charset="2"/>
              <a:buNone/>
            </a:pPr>
            <a:r>
              <a:rPr lang="en-US" dirty="0" smtClean="0"/>
              <a:t>{</a:t>
            </a:r>
          </a:p>
          <a:p>
            <a:pPr>
              <a:buFont typeface="Wingdings" pitchFamily="2" charset="2"/>
              <a:buNone/>
            </a:pPr>
            <a:r>
              <a:rPr lang="en-US" dirty="0" smtClean="0"/>
              <a:t>        while(h != NULL) {</a:t>
            </a:r>
          </a:p>
          <a:p>
            <a:pPr>
              <a:buFont typeface="Wingdings" pitchFamily="2" charset="2"/>
              <a:buNone/>
            </a:pPr>
            <a:r>
              <a:rPr lang="en-US" dirty="0" smtClean="0"/>
              <a:t>	      </a:t>
            </a:r>
            <a:r>
              <a:rPr lang="en-US" dirty="0" err="1" smtClean="0"/>
              <a:t>printf</a:t>
            </a:r>
            <a:r>
              <a:rPr lang="en-US" dirty="0" smtClean="0"/>
              <a:t>(“%d”, h-&gt;data);</a:t>
            </a:r>
          </a:p>
          <a:p>
            <a:pPr>
              <a:buFont typeface="Wingdings" pitchFamily="2" charset="2"/>
              <a:buNone/>
            </a:pPr>
            <a:r>
              <a:rPr lang="en-US" dirty="0" smtClean="0"/>
              <a:t>           h = h-&gt;next;</a:t>
            </a:r>
          </a:p>
          <a:p>
            <a:pPr>
              <a:buFont typeface="Wingdings" pitchFamily="2" charset="2"/>
              <a:buNone/>
            </a:pPr>
            <a:r>
              <a:rPr lang="en-US" dirty="0" smtClean="0"/>
              <a:t>        }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}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4267200" y="1371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25</a:t>
            </a:r>
            <a:endParaRPr lang="en-US" dirty="0"/>
          </a:p>
        </p:txBody>
      </p:sp>
      <p:cxnSp>
        <p:nvCxnSpPr>
          <p:cNvPr id="5" name="Straight Connector 4"/>
          <p:cNvCxnSpPr>
            <a:stCxn id="4" idx="2"/>
            <a:endCxn id="25" idx="0"/>
          </p:cNvCxnSpPr>
          <p:nvPr/>
        </p:nvCxnSpPr>
        <p:spPr>
          <a:xfrm rot="10800000" flipV="1">
            <a:off x="2514600" y="1638300"/>
            <a:ext cx="1752600" cy="1028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>
            <a:stCxn id="4" idx="6"/>
            <a:endCxn id="27" idx="0"/>
          </p:cNvCxnSpPr>
          <p:nvPr/>
        </p:nvCxnSpPr>
        <p:spPr>
          <a:xfrm>
            <a:off x="4876800" y="1638300"/>
            <a:ext cx="1828800" cy="1028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209800" y="26670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8</a:t>
            </a:r>
            <a:endParaRPr lang="en-US" dirty="0"/>
          </a:p>
        </p:txBody>
      </p:sp>
      <p:sp>
        <p:nvSpPr>
          <p:cNvPr id="27" name="Oval 26"/>
          <p:cNvSpPr/>
          <p:nvPr/>
        </p:nvSpPr>
        <p:spPr>
          <a:xfrm>
            <a:off x="6400800" y="26670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5</a:t>
            </a:r>
            <a:endParaRPr lang="en-US" dirty="0"/>
          </a:p>
        </p:txBody>
      </p:sp>
      <p:cxnSp>
        <p:nvCxnSpPr>
          <p:cNvPr id="30" name="Straight Connector 29"/>
          <p:cNvCxnSpPr>
            <a:stCxn id="25" idx="3"/>
            <a:endCxn id="34" idx="0"/>
          </p:cNvCxnSpPr>
          <p:nvPr/>
        </p:nvCxnSpPr>
        <p:spPr>
          <a:xfrm rot="5400000">
            <a:off x="1605780" y="3345305"/>
            <a:ext cx="916315" cy="470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33" idx="0"/>
            <a:endCxn id="25" idx="5"/>
          </p:cNvCxnSpPr>
          <p:nvPr/>
        </p:nvCxnSpPr>
        <p:spPr>
          <a:xfrm rot="16200000" flipV="1">
            <a:off x="2469006" y="3383406"/>
            <a:ext cx="916315" cy="3940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28194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13</a:t>
            </a:r>
            <a:endParaRPr lang="en-US" dirty="0"/>
          </a:p>
        </p:txBody>
      </p:sp>
      <p:sp>
        <p:nvSpPr>
          <p:cNvPr id="34" name="Oval 33"/>
          <p:cNvSpPr/>
          <p:nvPr/>
        </p:nvSpPr>
        <p:spPr>
          <a:xfrm>
            <a:off x="15240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1</a:t>
            </a:r>
            <a:endParaRPr lang="en-US" dirty="0"/>
          </a:p>
        </p:txBody>
      </p:sp>
      <p:cxnSp>
        <p:nvCxnSpPr>
          <p:cNvPr id="37" name="Straight Connector 36"/>
          <p:cNvCxnSpPr>
            <a:stCxn id="27" idx="3"/>
            <a:endCxn id="41" idx="0"/>
          </p:cNvCxnSpPr>
          <p:nvPr/>
        </p:nvCxnSpPr>
        <p:spPr>
          <a:xfrm rot="5400000">
            <a:off x="5606280" y="3154805"/>
            <a:ext cx="916315" cy="851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27" idx="5"/>
            <a:endCxn id="42" idx="0"/>
          </p:cNvCxnSpPr>
          <p:nvPr/>
        </p:nvCxnSpPr>
        <p:spPr>
          <a:xfrm rot="16200000" flipH="1">
            <a:off x="6888606" y="3154805"/>
            <a:ext cx="916315" cy="851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53340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9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74676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4</a:t>
            </a:r>
            <a:endParaRPr lang="en-US" dirty="0"/>
          </a:p>
        </p:txBody>
      </p:sp>
      <p:cxnSp>
        <p:nvCxnSpPr>
          <p:cNvPr id="55" name="Straight Connector 54"/>
          <p:cNvCxnSpPr>
            <a:endCxn id="58" idx="0"/>
          </p:cNvCxnSpPr>
          <p:nvPr/>
        </p:nvCxnSpPr>
        <p:spPr>
          <a:xfrm rot="5400000">
            <a:off x="6824522" y="4757879"/>
            <a:ext cx="994431" cy="470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57" idx="0"/>
          </p:cNvCxnSpPr>
          <p:nvPr/>
        </p:nvCxnSpPr>
        <p:spPr>
          <a:xfrm rot="16200000" flipV="1">
            <a:off x="7687748" y="4795980"/>
            <a:ext cx="994431" cy="3940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8077200" y="5490232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3</a:t>
            </a:r>
            <a:endParaRPr lang="en-US" dirty="0"/>
          </a:p>
        </p:txBody>
      </p:sp>
      <p:sp>
        <p:nvSpPr>
          <p:cNvPr id="58" name="Oval 57"/>
          <p:cNvSpPr/>
          <p:nvPr/>
        </p:nvSpPr>
        <p:spPr>
          <a:xfrm>
            <a:off x="6781800" y="5490232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10</a:t>
            </a:r>
            <a:endParaRPr lang="en-US" dirty="0"/>
          </a:p>
        </p:txBody>
      </p:sp>
      <p:cxnSp>
        <p:nvCxnSpPr>
          <p:cNvPr id="61" name="Straight Connector 60"/>
          <p:cNvCxnSpPr>
            <a:stCxn id="33" idx="4"/>
            <a:endCxn id="63" idx="0"/>
          </p:cNvCxnSpPr>
          <p:nvPr/>
        </p:nvCxnSpPr>
        <p:spPr>
          <a:xfrm rot="5400000">
            <a:off x="2362200" y="4724400"/>
            <a:ext cx="914400" cy="609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2209800" y="54864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19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Binary Tree Traversals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 smtClean="0">
                <a:solidFill>
                  <a:srgbClr val="7030A0"/>
                </a:solidFill>
              </a:rPr>
              <a:t>Preorder</a:t>
            </a:r>
            <a:r>
              <a:rPr lang="en-US" dirty="0" smtClean="0"/>
              <a:t>: Print Root -&gt; Left </a:t>
            </a:r>
            <a:r>
              <a:rPr lang="en-US" dirty="0" err="1" smtClean="0"/>
              <a:t>Subtree</a:t>
            </a:r>
            <a:r>
              <a:rPr lang="en-US" dirty="0" smtClean="0"/>
              <a:t> -&gt; Right </a:t>
            </a:r>
            <a:r>
              <a:rPr lang="en-US" dirty="0" err="1" smtClean="0"/>
              <a:t>Subtree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b="1" dirty="0" err="1" smtClean="0">
                <a:solidFill>
                  <a:srgbClr val="7030A0"/>
                </a:solidFill>
              </a:rPr>
              <a:t>Inorder</a:t>
            </a:r>
            <a:r>
              <a:rPr lang="en-US" dirty="0" smtClean="0"/>
              <a:t>: Left </a:t>
            </a:r>
            <a:r>
              <a:rPr lang="en-US" dirty="0" err="1" smtClean="0"/>
              <a:t>Subtree</a:t>
            </a:r>
            <a:r>
              <a:rPr lang="en-US" dirty="0" smtClean="0"/>
              <a:t> -&gt; Print Root -&gt; Right </a:t>
            </a:r>
            <a:r>
              <a:rPr lang="en-US" dirty="0" err="1" smtClean="0"/>
              <a:t>Subtree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b="1" dirty="0" err="1" smtClean="0">
                <a:solidFill>
                  <a:srgbClr val="7030A0"/>
                </a:solidFill>
              </a:rPr>
              <a:t>Postorder</a:t>
            </a:r>
            <a:r>
              <a:rPr lang="en-US" dirty="0" smtClean="0"/>
              <a:t>: Left Subtree -&gt; Right Subtree-&gt; Print Root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In all the traversals, Left subtree is traversed before right subtree. </a:t>
            </a:r>
            <a:r>
              <a:rPr lang="en-US" smtClean="0"/>
              <a:t>( </a:t>
            </a:r>
            <a:r>
              <a:rPr lang="en-US" dirty="0" smtClean="0"/>
              <a:t>Left </a:t>
            </a:r>
            <a:r>
              <a:rPr lang="en-US" smtClean="0"/>
              <a:t>-&gt;  Right )</a:t>
            </a:r>
            <a:endParaRPr lang="en-US" dirty="0" smtClean="0"/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Preorder Traversal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void preorder(node *root)</a:t>
            </a:r>
          </a:p>
          <a:p>
            <a:pPr>
              <a:buNone/>
            </a:pPr>
            <a:r>
              <a:rPr lang="en-US" dirty="0" smtClean="0"/>
              <a:t>{</a:t>
            </a:r>
          </a:p>
          <a:p>
            <a:pPr>
              <a:buNone/>
            </a:pPr>
            <a:r>
              <a:rPr lang="en-US" dirty="0" smtClean="0"/>
              <a:t>    if(root != NULL) {</a:t>
            </a:r>
          </a:p>
          <a:p>
            <a:pPr>
              <a:buNone/>
            </a:pPr>
            <a:r>
              <a:rPr lang="en-US" dirty="0" smtClean="0"/>
              <a:t>       </a:t>
            </a:r>
            <a:r>
              <a:rPr lang="en-US" dirty="0" err="1" smtClean="0"/>
              <a:t>printf</a:t>
            </a:r>
            <a:r>
              <a:rPr lang="en-US" dirty="0" smtClean="0"/>
              <a:t>("%4d", root-&gt;data);</a:t>
            </a:r>
          </a:p>
          <a:p>
            <a:pPr>
              <a:buNone/>
            </a:pPr>
            <a:r>
              <a:rPr lang="en-US" dirty="0" smtClean="0"/>
              <a:t>       preorder(root-&gt;left);</a:t>
            </a:r>
          </a:p>
          <a:p>
            <a:pPr>
              <a:buNone/>
            </a:pPr>
            <a:r>
              <a:rPr lang="en-US" dirty="0" smtClean="0"/>
              <a:t>       preorder(root-&gt;right);</a:t>
            </a:r>
          </a:p>
          <a:p>
            <a:pPr>
              <a:buNone/>
            </a:pPr>
            <a:r>
              <a:rPr lang="en-US" dirty="0" smtClean="0"/>
              <a:t>    }</a:t>
            </a:r>
          </a:p>
          <a:p>
            <a:pPr>
              <a:buNone/>
            </a:pPr>
            <a:r>
              <a:rPr lang="en-US" dirty="0" smtClean="0"/>
              <a:t>}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Preorder Traversal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4267200" y="1371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25</a:t>
            </a:r>
            <a:endParaRPr lang="en-US" dirty="0"/>
          </a:p>
        </p:txBody>
      </p:sp>
      <p:cxnSp>
        <p:nvCxnSpPr>
          <p:cNvPr id="5" name="Straight Connector 4"/>
          <p:cNvCxnSpPr>
            <a:stCxn id="4" idx="2"/>
            <a:endCxn id="25" idx="0"/>
          </p:cNvCxnSpPr>
          <p:nvPr/>
        </p:nvCxnSpPr>
        <p:spPr>
          <a:xfrm rot="10800000" flipV="1">
            <a:off x="2514600" y="1638300"/>
            <a:ext cx="1752600" cy="1028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>
            <a:stCxn id="4" idx="6"/>
            <a:endCxn id="27" idx="0"/>
          </p:cNvCxnSpPr>
          <p:nvPr/>
        </p:nvCxnSpPr>
        <p:spPr>
          <a:xfrm>
            <a:off x="4876800" y="1638300"/>
            <a:ext cx="1828800" cy="1028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209800" y="26670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8</a:t>
            </a:r>
            <a:endParaRPr lang="en-US" dirty="0"/>
          </a:p>
        </p:txBody>
      </p:sp>
      <p:sp>
        <p:nvSpPr>
          <p:cNvPr id="27" name="Oval 26"/>
          <p:cNvSpPr/>
          <p:nvPr/>
        </p:nvSpPr>
        <p:spPr>
          <a:xfrm>
            <a:off x="6400800" y="26670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5</a:t>
            </a:r>
            <a:endParaRPr lang="en-US" dirty="0"/>
          </a:p>
        </p:txBody>
      </p:sp>
      <p:cxnSp>
        <p:nvCxnSpPr>
          <p:cNvPr id="30" name="Straight Connector 29"/>
          <p:cNvCxnSpPr>
            <a:stCxn id="25" idx="3"/>
            <a:endCxn id="34" idx="0"/>
          </p:cNvCxnSpPr>
          <p:nvPr/>
        </p:nvCxnSpPr>
        <p:spPr>
          <a:xfrm rot="5400000">
            <a:off x="1605780" y="3345305"/>
            <a:ext cx="916315" cy="470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33" idx="0"/>
            <a:endCxn id="25" idx="5"/>
          </p:cNvCxnSpPr>
          <p:nvPr/>
        </p:nvCxnSpPr>
        <p:spPr>
          <a:xfrm rot="16200000" flipV="1">
            <a:off x="2469006" y="3383406"/>
            <a:ext cx="916315" cy="3940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28194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13</a:t>
            </a:r>
            <a:endParaRPr lang="en-US" dirty="0"/>
          </a:p>
        </p:txBody>
      </p:sp>
      <p:sp>
        <p:nvSpPr>
          <p:cNvPr id="34" name="Oval 33"/>
          <p:cNvSpPr/>
          <p:nvPr/>
        </p:nvSpPr>
        <p:spPr>
          <a:xfrm>
            <a:off x="15240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1</a:t>
            </a:r>
            <a:endParaRPr lang="en-US" dirty="0"/>
          </a:p>
        </p:txBody>
      </p:sp>
      <p:cxnSp>
        <p:nvCxnSpPr>
          <p:cNvPr id="37" name="Straight Connector 36"/>
          <p:cNvCxnSpPr>
            <a:stCxn id="27" idx="3"/>
            <a:endCxn id="41" idx="0"/>
          </p:cNvCxnSpPr>
          <p:nvPr/>
        </p:nvCxnSpPr>
        <p:spPr>
          <a:xfrm rot="5400000">
            <a:off x="5606280" y="3154805"/>
            <a:ext cx="916315" cy="851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27" idx="5"/>
            <a:endCxn id="42" idx="0"/>
          </p:cNvCxnSpPr>
          <p:nvPr/>
        </p:nvCxnSpPr>
        <p:spPr>
          <a:xfrm rot="16200000" flipH="1">
            <a:off x="6888606" y="3154805"/>
            <a:ext cx="916315" cy="851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53340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9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74676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4</a:t>
            </a:r>
            <a:endParaRPr lang="en-US" dirty="0"/>
          </a:p>
        </p:txBody>
      </p:sp>
      <p:cxnSp>
        <p:nvCxnSpPr>
          <p:cNvPr id="55" name="Straight Connector 54"/>
          <p:cNvCxnSpPr>
            <a:endCxn id="58" idx="0"/>
          </p:cNvCxnSpPr>
          <p:nvPr/>
        </p:nvCxnSpPr>
        <p:spPr>
          <a:xfrm rot="5400000">
            <a:off x="6824522" y="4757879"/>
            <a:ext cx="994431" cy="470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57" idx="0"/>
          </p:cNvCxnSpPr>
          <p:nvPr/>
        </p:nvCxnSpPr>
        <p:spPr>
          <a:xfrm rot="16200000" flipV="1">
            <a:off x="7687748" y="4795980"/>
            <a:ext cx="994431" cy="3940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8077200" y="5490232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3</a:t>
            </a:r>
            <a:endParaRPr lang="en-US" dirty="0"/>
          </a:p>
        </p:txBody>
      </p:sp>
      <p:sp>
        <p:nvSpPr>
          <p:cNvPr id="58" name="Oval 57"/>
          <p:cNvSpPr/>
          <p:nvPr/>
        </p:nvSpPr>
        <p:spPr>
          <a:xfrm>
            <a:off x="6781800" y="5490232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10</a:t>
            </a:r>
            <a:endParaRPr lang="en-US" dirty="0"/>
          </a:p>
        </p:txBody>
      </p:sp>
      <p:cxnSp>
        <p:nvCxnSpPr>
          <p:cNvPr id="61" name="Straight Connector 60"/>
          <p:cNvCxnSpPr>
            <a:stCxn id="33" idx="4"/>
            <a:endCxn id="63" idx="0"/>
          </p:cNvCxnSpPr>
          <p:nvPr/>
        </p:nvCxnSpPr>
        <p:spPr>
          <a:xfrm rot="5400000">
            <a:off x="2362200" y="4724400"/>
            <a:ext cx="914400" cy="609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2209800" y="54864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19</a:t>
            </a:r>
            <a:endParaRPr lang="en-US" dirty="0"/>
          </a:p>
        </p:txBody>
      </p:sp>
      <p:sp>
        <p:nvSpPr>
          <p:cNvPr id="22" name="Down Arrow 21"/>
          <p:cNvSpPr/>
          <p:nvPr/>
        </p:nvSpPr>
        <p:spPr>
          <a:xfrm>
            <a:off x="4343400" y="990600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Down Arrow 22"/>
          <p:cNvSpPr/>
          <p:nvPr/>
        </p:nvSpPr>
        <p:spPr>
          <a:xfrm>
            <a:off x="2286000" y="2298192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Down Arrow 23"/>
          <p:cNvSpPr/>
          <p:nvPr/>
        </p:nvSpPr>
        <p:spPr>
          <a:xfrm>
            <a:off x="1600200" y="3669792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Down Arrow 25"/>
          <p:cNvSpPr/>
          <p:nvPr/>
        </p:nvSpPr>
        <p:spPr>
          <a:xfrm>
            <a:off x="2895600" y="3657600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Down Arrow 27"/>
          <p:cNvSpPr/>
          <p:nvPr/>
        </p:nvSpPr>
        <p:spPr>
          <a:xfrm>
            <a:off x="2258568" y="5117592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Down Arrow 28"/>
          <p:cNvSpPr/>
          <p:nvPr/>
        </p:nvSpPr>
        <p:spPr>
          <a:xfrm>
            <a:off x="6449568" y="2286000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Down Arrow 31"/>
          <p:cNvSpPr/>
          <p:nvPr/>
        </p:nvSpPr>
        <p:spPr>
          <a:xfrm>
            <a:off x="5382768" y="3657600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Down Arrow 34"/>
          <p:cNvSpPr/>
          <p:nvPr/>
        </p:nvSpPr>
        <p:spPr>
          <a:xfrm>
            <a:off x="7516368" y="3657600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Down Arrow 35"/>
          <p:cNvSpPr/>
          <p:nvPr/>
        </p:nvSpPr>
        <p:spPr>
          <a:xfrm>
            <a:off x="6830568" y="5105400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Down Arrow 37"/>
          <p:cNvSpPr/>
          <p:nvPr/>
        </p:nvSpPr>
        <p:spPr>
          <a:xfrm>
            <a:off x="8153400" y="5105400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3506200" y="6324600"/>
            <a:ext cx="2818400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25, 8, 1, 13, 19, 5, 9, 4, 10, 3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5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7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8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6" grpId="0" animBg="1"/>
      <p:bldP spid="26" grpId="1" animBg="1"/>
      <p:bldP spid="28" grpId="0" animBg="1"/>
      <p:bldP spid="28" grpId="1" animBg="1"/>
      <p:bldP spid="29" grpId="0" animBg="1"/>
      <p:bldP spid="29" grpId="1" animBg="1"/>
      <p:bldP spid="32" grpId="0" animBg="1"/>
      <p:bldP spid="32" grpId="1" animBg="1"/>
      <p:bldP spid="35" grpId="0" animBg="1"/>
      <p:bldP spid="35" grpId="1" animBg="1"/>
      <p:bldP spid="36" grpId="0" animBg="1"/>
      <p:bldP spid="36" grpId="1" animBg="1"/>
      <p:bldP spid="38" grpId="0" animBg="1"/>
      <p:bldP spid="38" grpId="1" animBg="1"/>
      <p:bldP spid="4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Inorder</a:t>
            </a:r>
            <a:r>
              <a:rPr lang="en-US" dirty="0" smtClean="0"/>
              <a:t> Traversal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void </a:t>
            </a:r>
            <a:r>
              <a:rPr lang="en-US" dirty="0" err="1" smtClean="0"/>
              <a:t>inorder</a:t>
            </a:r>
            <a:r>
              <a:rPr lang="en-US" dirty="0" smtClean="0"/>
              <a:t>(node *root)</a:t>
            </a:r>
          </a:p>
          <a:p>
            <a:pPr>
              <a:buNone/>
            </a:pPr>
            <a:r>
              <a:rPr lang="en-US" dirty="0" smtClean="0"/>
              <a:t>{</a:t>
            </a:r>
          </a:p>
          <a:p>
            <a:pPr>
              <a:buNone/>
            </a:pPr>
            <a:r>
              <a:rPr lang="en-US" dirty="0" smtClean="0"/>
              <a:t>    if(root != NULL) {</a:t>
            </a:r>
          </a:p>
          <a:p>
            <a:pPr>
              <a:buNone/>
            </a:pPr>
            <a:r>
              <a:rPr lang="en-US" dirty="0" smtClean="0"/>
              <a:t>        </a:t>
            </a:r>
            <a:r>
              <a:rPr lang="en-US" dirty="0" err="1" smtClean="0"/>
              <a:t>inorder</a:t>
            </a:r>
            <a:r>
              <a:rPr lang="en-US" dirty="0" smtClean="0"/>
              <a:t>(root-&gt;left);</a:t>
            </a:r>
          </a:p>
          <a:p>
            <a:pPr>
              <a:buNone/>
            </a:pPr>
            <a:r>
              <a:rPr lang="en-US" dirty="0" smtClean="0"/>
              <a:t>        </a:t>
            </a:r>
            <a:r>
              <a:rPr lang="en-US" dirty="0" err="1" smtClean="0"/>
              <a:t>printf</a:t>
            </a:r>
            <a:r>
              <a:rPr lang="en-US" dirty="0" smtClean="0"/>
              <a:t>("%4d", root-&gt;data);</a:t>
            </a:r>
          </a:p>
          <a:p>
            <a:pPr>
              <a:buNone/>
            </a:pPr>
            <a:r>
              <a:rPr lang="en-US" dirty="0" smtClean="0"/>
              <a:t>         </a:t>
            </a:r>
            <a:r>
              <a:rPr lang="en-US" dirty="0" err="1" smtClean="0"/>
              <a:t>inorder</a:t>
            </a:r>
            <a:r>
              <a:rPr lang="en-US" dirty="0" smtClean="0"/>
              <a:t>(root-&gt;right);</a:t>
            </a:r>
          </a:p>
          <a:p>
            <a:pPr>
              <a:buNone/>
            </a:pPr>
            <a:r>
              <a:rPr lang="en-US" dirty="0" smtClean="0"/>
              <a:t>     }</a:t>
            </a:r>
          </a:p>
          <a:p>
            <a:pPr>
              <a:buNone/>
            </a:pPr>
            <a:r>
              <a:rPr lang="en-US" dirty="0" smtClean="0"/>
              <a:t>}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err="1" smtClean="0"/>
              <a:t>Inorder</a:t>
            </a:r>
            <a:r>
              <a:rPr lang="en-US" dirty="0" smtClean="0"/>
              <a:t> Traversal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4267200" y="1371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25</a:t>
            </a:r>
            <a:endParaRPr lang="en-US" dirty="0"/>
          </a:p>
        </p:txBody>
      </p:sp>
      <p:cxnSp>
        <p:nvCxnSpPr>
          <p:cNvPr id="5" name="Straight Connector 4"/>
          <p:cNvCxnSpPr>
            <a:stCxn id="4" idx="2"/>
            <a:endCxn id="25" idx="0"/>
          </p:cNvCxnSpPr>
          <p:nvPr/>
        </p:nvCxnSpPr>
        <p:spPr>
          <a:xfrm rot="10800000" flipV="1">
            <a:off x="2514600" y="1638300"/>
            <a:ext cx="1752600" cy="1028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>
            <a:stCxn id="4" idx="6"/>
            <a:endCxn id="27" idx="0"/>
          </p:cNvCxnSpPr>
          <p:nvPr/>
        </p:nvCxnSpPr>
        <p:spPr>
          <a:xfrm>
            <a:off x="4876800" y="1638300"/>
            <a:ext cx="1828800" cy="1028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209800" y="26670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8</a:t>
            </a:r>
            <a:endParaRPr lang="en-US" dirty="0"/>
          </a:p>
        </p:txBody>
      </p:sp>
      <p:sp>
        <p:nvSpPr>
          <p:cNvPr id="27" name="Oval 26"/>
          <p:cNvSpPr/>
          <p:nvPr/>
        </p:nvSpPr>
        <p:spPr>
          <a:xfrm>
            <a:off x="6400800" y="26670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5</a:t>
            </a:r>
            <a:endParaRPr lang="en-US" dirty="0"/>
          </a:p>
        </p:txBody>
      </p:sp>
      <p:cxnSp>
        <p:nvCxnSpPr>
          <p:cNvPr id="30" name="Straight Connector 29"/>
          <p:cNvCxnSpPr>
            <a:stCxn id="25" idx="3"/>
            <a:endCxn id="34" idx="0"/>
          </p:cNvCxnSpPr>
          <p:nvPr/>
        </p:nvCxnSpPr>
        <p:spPr>
          <a:xfrm rot="5400000">
            <a:off x="1605780" y="3345305"/>
            <a:ext cx="916315" cy="470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33" idx="0"/>
            <a:endCxn id="25" idx="5"/>
          </p:cNvCxnSpPr>
          <p:nvPr/>
        </p:nvCxnSpPr>
        <p:spPr>
          <a:xfrm rot="16200000" flipV="1">
            <a:off x="2469006" y="3383406"/>
            <a:ext cx="916315" cy="3940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28194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13</a:t>
            </a:r>
            <a:endParaRPr lang="en-US" dirty="0"/>
          </a:p>
        </p:txBody>
      </p:sp>
      <p:sp>
        <p:nvSpPr>
          <p:cNvPr id="34" name="Oval 33"/>
          <p:cNvSpPr/>
          <p:nvPr/>
        </p:nvSpPr>
        <p:spPr>
          <a:xfrm>
            <a:off x="15240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1</a:t>
            </a:r>
            <a:endParaRPr lang="en-US" dirty="0"/>
          </a:p>
        </p:txBody>
      </p:sp>
      <p:cxnSp>
        <p:nvCxnSpPr>
          <p:cNvPr id="37" name="Straight Connector 36"/>
          <p:cNvCxnSpPr>
            <a:stCxn id="27" idx="3"/>
            <a:endCxn id="41" idx="0"/>
          </p:cNvCxnSpPr>
          <p:nvPr/>
        </p:nvCxnSpPr>
        <p:spPr>
          <a:xfrm rot="5400000">
            <a:off x="5606280" y="3154805"/>
            <a:ext cx="916315" cy="851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27" idx="5"/>
            <a:endCxn id="42" idx="0"/>
          </p:cNvCxnSpPr>
          <p:nvPr/>
        </p:nvCxnSpPr>
        <p:spPr>
          <a:xfrm rot="16200000" flipH="1">
            <a:off x="6888606" y="3154805"/>
            <a:ext cx="916315" cy="851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53340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9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74676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4</a:t>
            </a:r>
            <a:endParaRPr lang="en-US" dirty="0"/>
          </a:p>
        </p:txBody>
      </p:sp>
      <p:cxnSp>
        <p:nvCxnSpPr>
          <p:cNvPr id="55" name="Straight Connector 54"/>
          <p:cNvCxnSpPr>
            <a:endCxn id="58" idx="0"/>
          </p:cNvCxnSpPr>
          <p:nvPr/>
        </p:nvCxnSpPr>
        <p:spPr>
          <a:xfrm rot="5400000">
            <a:off x="6824522" y="4757879"/>
            <a:ext cx="994431" cy="470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57" idx="0"/>
          </p:cNvCxnSpPr>
          <p:nvPr/>
        </p:nvCxnSpPr>
        <p:spPr>
          <a:xfrm rot="16200000" flipV="1">
            <a:off x="7687748" y="4795980"/>
            <a:ext cx="994431" cy="3940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8077200" y="5490232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3</a:t>
            </a:r>
            <a:endParaRPr lang="en-US" dirty="0"/>
          </a:p>
        </p:txBody>
      </p:sp>
      <p:sp>
        <p:nvSpPr>
          <p:cNvPr id="58" name="Oval 57"/>
          <p:cNvSpPr/>
          <p:nvPr/>
        </p:nvSpPr>
        <p:spPr>
          <a:xfrm>
            <a:off x="6781800" y="5490232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10</a:t>
            </a:r>
            <a:endParaRPr lang="en-US" dirty="0"/>
          </a:p>
        </p:txBody>
      </p:sp>
      <p:cxnSp>
        <p:nvCxnSpPr>
          <p:cNvPr id="61" name="Straight Connector 60"/>
          <p:cNvCxnSpPr>
            <a:stCxn id="33" idx="4"/>
            <a:endCxn id="63" idx="0"/>
          </p:cNvCxnSpPr>
          <p:nvPr/>
        </p:nvCxnSpPr>
        <p:spPr>
          <a:xfrm rot="5400000">
            <a:off x="2362200" y="4724400"/>
            <a:ext cx="914400" cy="609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2209800" y="54864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19</a:t>
            </a:r>
            <a:endParaRPr lang="en-US" dirty="0"/>
          </a:p>
        </p:txBody>
      </p:sp>
      <p:sp>
        <p:nvSpPr>
          <p:cNvPr id="22" name="Down Arrow 21"/>
          <p:cNvSpPr/>
          <p:nvPr/>
        </p:nvSpPr>
        <p:spPr>
          <a:xfrm>
            <a:off x="4343400" y="990600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Down Arrow 22"/>
          <p:cNvSpPr/>
          <p:nvPr/>
        </p:nvSpPr>
        <p:spPr>
          <a:xfrm>
            <a:off x="2286000" y="2298192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Down Arrow 23"/>
          <p:cNvSpPr/>
          <p:nvPr/>
        </p:nvSpPr>
        <p:spPr>
          <a:xfrm>
            <a:off x="1600200" y="3669792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Down Arrow 25"/>
          <p:cNvSpPr/>
          <p:nvPr/>
        </p:nvSpPr>
        <p:spPr>
          <a:xfrm>
            <a:off x="2895600" y="3657600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Down Arrow 27"/>
          <p:cNvSpPr/>
          <p:nvPr/>
        </p:nvSpPr>
        <p:spPr>
          <a:xfrm>
            <a:off x="2258568" y="5117592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Down Arrow 28"/>
          <p:cNvSpPr/>
          <p:nvPr/>
        </p:nvSpPr>
        <p:spPr>
          <a:xfrm>
            <a:off x="6449568" y="2286000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Down Arrow 31"/>
          <p:cNvSpPr/>
          <p:nvPr/>
        </p:nvSpPr>
        <p:spPr>
          <a:xfrm>
            <a:off x="5382768" y="3657600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Down Arrow 34"/>
          <p:cNvSpPr/>
          <p:nvPr/>
        </p:nvSpPr>
        <p:spPr>
          <a:xfrm>
            <a:off x="7516368" y="3657600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Down Arrow 35"/>
          <p:cNvSpPr/>
          <p:nvPr/>
        </p:nvSpPr>
        <p:spPr>
          <a:xfrm>
            <a:off x="6830568" y="5105400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Down Arrow 37"/>
          <p:cNvSpPr/>
          <p:nvPr/>
        </p:nvSpPr>
        <p:spPr>
          <a:xfrm>
            <a:off x="8153400" y="5105400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3506200" y="6324600"/>
            <a:ext cx="2765501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1, 8, 19, 13, 25, 9, 5, 10, 4,3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5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7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4" presetClass="entr" presetSubtype="16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" presetClass="exit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8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6" grpId="0" animBg="1"/>
      <p:bldP spid="26" grpId="1" animBg="1"/>
      <p:bldP spid="28" grpId="0" animBg="1"/>
      <p:bldP spid="28" grpId="1" animBg="1"/>
      <p:bldP spid="29" grpId="0" animBg="1"/>
      <p:bldP spid="29" grpId="1" animBg="1"/>
      <p:bldP spid="32" grpId="0" animBg="1"/>
      <p:bldP spid="32" grpId="1" animBg="1"/>
      <p:bldP spid="35" grpId="0" animBg="1"/>
      <p:bldP spid="35" grpId="1" animBg="1"/>
      <p:bldP spid="36" grpId="0" animBg="1"/>
      <p:bldP spid="36" grpId="1" animBg="1"/>
      <p:bldP spid="38" grpId="2" animBg="1"/>
      <p:bldP spid="38" grpId="3" animBg="1"/>
      <p:bldP spid="4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Postorder</a:t>
            </a:r>
            <a:r>
              <a:rPr lang="en-US" dirty="0" smtClean="0"/>
              <a:t> Traversal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void </a:t>
            </a:r>
            <a:r>
              <a:rPr lang="en-US" dirty="0" err="1" smtClean="0"/>
              <a:t>postorder</a:t>
            </a:r>
            <a:r>
              <a:rPr lang="en-US" dirty="0" smtClean="0"/>
              <a:t>(node *root)</a:t>
            </a:r>
          </a:p>
          <a:p>
            <a:pPr>
              <a:buNone/>
            </a:pPr>
            <a:r>
              <a:rPr lang="en-US" dirty="0" smtClean="0"/>
              <a:t>{</a:t>
            </a:r>
          </a:p>
          <a:p>
            <a:pPr>
              <a:buNone/>
            </a:pPr>
            <a:r>
              <a:rPr lang="en-US" dirty="0" smtClean="0"/>
              <a:t>    if(root != NULL) {</a:t>
            </a:r>
          </a:p>
          <a:p>
            <a:pPr>
              <a:buNone/>
            </a:pPr>
            <a:r>
              <a:rPr lang="en-US" dirty="0" smtClean="0"/>
              <a:t>        </a:t>
            </a:r>
            <a:r>
              <a:rPr lang="en-US" dirty="0" err="1" smtClean="0"/>
              <a:t>postorder</a:t>
            </a:r>
            <a:r>
              <a:rPr lang="en-US" dirty="0" smtClean="0"/>
              <a:t>(root-&gt;left);</a:t>
            </a:r>
          </a:p>
          <a:p>
            <a:pPr>
              <a:buNone/>
            </a:pPr>
            <a:r>
              <a:rPr lang="en-US" dirty="0" smtClean="0"/>
              <a:t>        </a:t>
            </a:r>
            <a:r>
              <a:rPr lang="en-US" dirty="0" err="1" smtClean="0"/>
              <a:t>postorder</a:t>
            </a:r>
            <a:r>
              <a:rPr lang="en-US" dirty="0" smtClean="0"/>
              <a:t>(root-&gt;right);</a:t>
            </a:r>
          </a:p>
          <a:p>
            <a:pPr>
              <a:buNone/>
            </a:pPr>
            <a:r>
              <a:rPr lang="en-US" dirty="0" smtClean="0"/>
              <a:t>        </a:t>
            </a:r>
            <a:r>
              <a:rPr lang="en-US" dirty="0" err="1" smtClean="0"/>
              <a:t>printf</a:t>
            </a:r>
            <a:r>
              <a:rPr lang="en-US" dirty="0" smtClean="0"/>
              <a:t>("%4d", root-&gt;data);</a:t>
            </a:r>
          </a:p>
          <a:p>
            <a:pPr>
              <a:buNone/>
            </a:pPr>
            <a:r>
              <a:rPr lang="en-US" dirty="0" smtClean="0"/>
              <a:t>    }</a:t>
            </a:r>
          </a:p>
          <a:p>
            <a:pPr>
              <a:buNone/>
            </a:pPr>
            <a:r>
              <a:rPr lang="en-US" dirty="0" smtClean="0"/>
              <a:t>}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err="1" smtClean="0"/>
              <a:t>Postorder</a:t>
            </a:r>
            <a:r>
              <a:rPr lang="en-US" dirty="0" smtClean="0"/>
              <a:t> Traversal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4267200" y="1371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25</a:t>
            </a:r>
            <a:endParaRPr lang="en-US" dirty="0"/>
          </a:p>
        </p:txBody>
      </p:sp>
      <p:cxnSp>
        <p:nvCxnSpPr>
          <p:cNvPr id="5" name="Straight Connector 4"/>
          <p:cNvCxnSpPr>
            <a:stCxn id="4" idx="2"/>
            <a:endCxn id="25" idx="0"/>
          </p:cNvCxnSpPr>
          <p:nvPr/>
        </p:nvCxnSpPr>
        <p:spPr>
          <a:xfrm rot="10800000" flipV="1">
            <a:off x="2514600" y="1638300"/>
            <a:ext cx="1752600" cy="1028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>
            <a:stCxn id="4" idx="6"/>
            <a:endCxn id="27" idx="0"/>
          </p:cNvCxnSpPr>
          <p:nvPr/>
        </p:nvCxnSpPr>
        <p:spPr>
          <a:xfrm>
            <a:off x="4876800" y="1638300"/>
            <a:ext cx="1828800" cy="1028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209800" y="26670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8</a:t>
            </a:r>
            <a:endParaRPr lang="en-US" dirty="0"/>
          </a:p>
        </p:txBody>
      </p:sp>
      <p:sp>
        <p:nvSpPr>
          <p:cNvPr id="27" name="Oval 26"/>
          <p:cNvSpPr/>
          <p:nvPr/>
        </p:nvSpPr>
        <p:spPr>
          <a:xfrm>
            <a:off x="6400800" y="26670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5</a:t>
            </a:r>
            <a:endParaRPr lang="en-US" dirty="0"/>
          </a:p>
        </p:txBody>
      </p:sp>
      <p:cxnSp>
        <p:nvCxnSpPr>
          <p:cNvPr id="30" name="Straight Connector 29"/>
          <p:cNvCxnSpPr>
            <a:stCxn id="25" idx="3"/>
            <a:endCxn id="34" idx="0"/>
          </p:cNvCxnSpPr>
          <p:nvPr/>
        </p:nvCxnSpPr>
        <p:spPr>
          <a:xfrm rot="5400000">
            <a:off x="1605780" y="3345305"/>
            <a:ext cx="916315" cy="470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33" idx="0"/>
            <a:endCxn id="25" idx="5"/>
          </p:cNvCxnSpPr>
          <p:nvPr/>
        </p:nvCxnSpPr>
        <p:spPr>
          <a:xfrm rot="16200000" flipV="1">
            <a:off x="2469006" y="3383406"/>
            <a:ext cx="916315" cy="3940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28194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13</a:t>
            </a:r>
            <a:endParaRPr lang="en-US" dirty="0"/>
          </a:p>
        </p:txBody>
      </p:sp>
      <p:sp>
        <p:nvSpPr>
          <p:cNvPr id="34" name="Oval 33"/>
          <p:cNvSpPr/>
          <p:nvPr/>
        </p:nvSpPr>
        <p:spPr>
          <a:xfrm>
            <a:off x="15240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1</a:t>
            </a:r>
            <a:endParaRPr lang="en-US" dirty="0"/>
          </a:p>
        </p:txBody>
      </p:sp>
      <p:cxnSp>
        <p:nvCxnSpPr>
          <p:cNvPr id="37" name="Straight Connector 36"/>
          <p:cNvCxnSpPr>
            <a:stCxn id="27" idx="3"/>
            <a:endCxn id="41" idx="0"/>
          </p:cNvCxnSpPr>
          <p:nvPr/>
        </p:nvCxnSpPr>
        <p:spPr>
          <a:xfrm rot="5400000">
            <a:off x="5606280" y="3154805"/>
            <a:ext cx="916315" cy="851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27" idx="5"/>
            <a:endCxn id="42" idx="0"/>
          </p:cNvCxnSpPr>
          <p:nvPr/>
        </p:nvCxnSpPr>
        <p:spPr>
          <a:xfrm rot="16200000" flipH="1">
            <a:off x="6888606" y="3154805"/>
            <a:ext cx="916315" cy="851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53340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9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74676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4</a:t>
            </a:r>
            <a:endParaRPr lang="en-US" dirty="0"/>
          </a:p>
        </p:txBody>
      </p:sp>
      <p:cxnSp>
        <p:nvCxnSpPr>
          <p:cNvPr id="55" name="Straight Connector 54"/>
          <p:cNvCxnSpPr>
            <a:endCxn id="58" idx="0"/>
          </p:cNvCxnSpPr>
          <p:nvPr/>
        </p:nvCxnSpPr>
        <p:spPr>
          <a:xfrm rot="5400000">
            <a:off x="6824522" y="4757879"/>
            <a:ext cx="994431" cy="470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57" idx="0"/>
          </p:cNvCxnSpPr>
          <p:nvPr/>
        </p:nvCxnSpPr>
        <p:spPr>
          <a:xfrm rot="16200000" flipV="1">
            <a:off x="7687748" y="4795980"/>
            <a:ext cx="994431" cy="3940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8077200" y="5490232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3</a:t>
            </a:r>
            <a:endParaRPr lang="en-US" dirty="0"/>
          </a:p>
        </p:txBody>
      </p:sp>
      <p:sp>
        <p:nvSpPr>
          <p:cNvPr id="58" name="Oval 57"/>
          <p:cNvSpPr/>
          <p:nvPr/>
        </p:nvSpPr>
        <p:spPr>
          <a:xfrm>
            <a:off x="6781800" y="5490232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10</a:t>
            </a:r>
            <a:endParaRPr lang="en-US" dirty="0"/>
          </a:p>
        </p:txBody>
      </p:sp>
      <p:cxnSp>
        <p:nvCxnSpPr>
          <p:cNvPr id="61" name="Straight Connector 60"/>
          <p:cNvCxnSpPr>
            <a:stCxn id="33" idx="4"/>
            <a:endCxn id="63" idx="0"/>
          </p:cNvCxnSpPr>
          <p:nvPr/>
        </p:nvCxnSpPr>
        <p:spPr>
          <a:xfrm rot="5400000">
            <a:off x="2362200" y="4724400"/>
            <a:ext cx="914400" cy="609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2209800" y="54864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19</a:t>
            </a:r>
            <a:endParaRPr lang="en-US" dirty="0"/>
          </a:p>
        </p:txBody>
      </p:sp>
      <p:sp>
        <p:nvSpPr>
          <p:cNvPr id="22" name="Down Arrow 21"/>
          <p:cNvSpPr/>
          <p:nvPr/>
        </p:nvSpPr>
        <p:spPr>
          <a:xfrm>
            <a:off x="4343400" y="990600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Down Arrow 22"/>
          <p:cNvSpPr/>
          <p:nvPr/>
        </p:nvSpPr>
        <p:spPr>
          <a:xfrm>
            <a:off x="2286000" y="2298192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Down Arrow 23"/>
          <p:cNvSpPr/>
          <p:nvPr/>
        </p:nvSpPr>
        <p:spPr>
          <a:xfrm>
            <a:off x="1600200" y="3669792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Down Arrow 25"/>
          <p:cNvSpPr/>
          <p:nvPr/>
        </p:nvSpPr>
        <p:spPr>
          <a:xfrm>
            <a:off x="2895600" y="3657600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Down Arrow 27"/>
          <p:cNvSpPr/>
          <p:nvPr/>
        </p:nvSpPr>
        <p:spPr>
          <a:xfrm>
            <a:off x="2258568" y="5117592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Down Arrow 28"/>
          <p:cNvSpPr/>
          <p:nvPr/>
        </p:nvSpPr>
        <p:spPr>
          <a:xfrm>
            <a:off x="6449568" y="2286000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Down Arrow 31"/>
          <p:cNvSpPr/>
          <p:nvPr/>
        </p:nvSpPr>
        <p:spPr>
          <a:xfrm>
            <a:off x="5382768" y="3657600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Down Arrow 34"/>
          <p:cNvSpPr/>
          <p:nvPr/>
        </p:nvSpPr>
        <p:spPr>
          <a:xfrm>
            <a:off x="7516368" y="3657600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Down Arrow 35"/>
          <p:cNvSpPr/>
          <p:nvPr/>
        </p:nvSpPr>
        <p:spPr>
          <a:xfrm>
            <a:off x="6830568" y="5105400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Down Arrow 37"/>
          <p:cNvSpPr/>
          <p:nvPr/>
        </p:nvSpPr>
        <p:spPr>
          <a:xfrm>
            <a:off x="8153400" y="5105400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3352800" y="6324600"/>
            <a:ext cx="2818400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1, 19, 13, 8, 9, 10, 3, 4, 5, 25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7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8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6" grpId="0" animBg="1"/>
      <p:bldP spid="26" grpId="1" animBg="1"/>
      <p:bldP spid="28" grpId="0" animBg="1"/>
      <p:bldP spid="28" grpId="1" animBg="1"/>
      <p:bldP spid="29" grpId="0" animBg="1"/>
      <p:bldP spid="29" grpId="1" animBg="1"/>
      <p:bldP spid="32" grpId="0" animBg="1"/>
      <p:bldP spid="32" grpId="1" animBg="1"/>
      <p:bldP spid="35" grpId="0" animBg="1"/>
      <p:bldP spid="35" grpId="1" animBg="1"/>
      <p:bldP spid="36" grpId="0" animBg="1"/>
      <p:bldP spid="36" grpId="1" animBg="1"/>
      <p:bldP spid="38" grpId="0" animBg="1"/>
      <p:bldP spid="38" grpId="1" animBg="1"/>
      <p:bldP spid="4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Binary Tree Construction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 smtClean="0"/>
              <a:t>Inorder</a:t>
            </a:r>
            <a:r>
              <a:rPr lang="en-IN" dirty="0" smtClean="0"/>
              <a:t> + </a:t>
            </a:r>
            <a:r>
              <a:rPr lang="en-IN" dirty="0" err="1" smtClean="0"/>
              <a:t>Preorder</a:t>
            </a:r>
            <a:r>
              <a:rPr lang="en-IN" dirty="0" smtClean="0"/>
              <a:t> -&gt; Unique Binary Tree</a:t>
            </a:r>
          </a:p>
          <a:p>
            <a:r>
              <a:rPr lang="en-IN" dirty="0" err="1" smtClean="0"/>
              <a:t>Inorder</a:t>
            </a:r>
            <a:r>
              <a:rPr lang="en-IN" dirty="0" smtClean="0"/>
              <a:t> + </a:t>
            </a:r>
            <a:r>
              <a:rPr lang="en-IN" dirty="0" err="1" smtClean="0"/>
              <a:t>Postorder</a:t>
            </a:r>
            <a:r>
              <a:rPr lang="en-IN" dirty="0" smtClean="0"/>
              <a:t> -&gt; Unique Binary Tree</a:t>
            </a:r>
            <a:endParaRPr lang="en-IN" dirty="0"/>
          </a:p>
          <a:p>
            <a:r>
              <a:rPr lang="en-IN" dirty="0" err="1" smtClean="0"/>
              <a:t>Preorder</a:t>
            </a:r>
            <a:r>
              <a:rPr lang="en-IN" dirty="0" smtClean="0"/>
              <a:t> + </a:t>
            </a:r>
            <a:r>
              <a:rPr lang="en-IN" dirty="0" err="1" smtClean="0"/>
              <a:t>Postorder</a:t>
            </a:r>
            <a:r>
              <a:rPr lang="en-IN" dirty="0" smtClean="0"/>
              <a:t> -&gt; Unique Binary Tree construction is not possible, in general.</a:t>
            </a:r>
          </a:p>
          <a:p>
            <a:endParaRPr lang="en-IN" dirty="0"/>
          </a:p>
          <a:p>
            <a:r>
              <a:rPr lang="en-IN" dirty="0" err="1" smtClean="0"/>
              <a:t>Preorder</a:t>
            </a:r>
            <a:r>
              <a:rPr lang="en-IN" dirty="0" smtClean="0"/>
              <a:t>: Root -&gt; Left -&gt; Right (Root is my first node)</a:t>
            </a:r>
          </a:p>
          <a:p>
            <a:r>
              <a:rPr lang="en-IN" dirty="0" err="1" smtClean="0"/>
              <a:t>Inorder</a:t>
            </a:r>
            <a:r>
              <a:rPr lang="en-IN" dirty="0"/>
              <a:t>: </a:t>
            </a:r>
            <a:r>
              <a:rPr lang="en-IN" dirty="0" smtClean="0"/>
              <a:t>Left </a:t>
            </a:r>
            <a:r>
              <a:rPr lang="en-IN" dirty="0"/>
              <a:t>-&gt; </a:t>
            </a:r>
            <a:r>
              <a:rPr lang="en-IN" dirty="0" smtClean="0"/>
              <a:t>Root-&gt; Right (Differentiate b/w left &amp; right subtrees)</a:t>
            </a:r>
          </a:p>
          <a:p>
            <a:r>
              <a:rPr lang="en-IN" dirty="0" err="1" smtClean="0"/>
              <a:t>Postorder</a:t>
            </a:r>
            <a:r>
              <a:rPr lang="en-IN" dirty="0"/>
              <a:t>: </a:t>
            </a:r>
            <a:r>
              <a:rPr lang="en-IN" dirty="0" smtClean="0"/>
              <a:t>Left </a:t>
            </a:r>
            <a:r>
              <a:rPr lang="en-IN" dirty="0"/>
              <a:t>-&gt; Right </a:t>
            </a:r>
            <a:r>
              <a:rPr lang="en-IN" dirty="0" smtClean="0"/>
              <a:t>-&gt; Root(Root </a:t>
            </a:r>
            <a:r>
              <a:rPr lang="en-IN" dirty="0"/>
              <a:t>is my </a:t>
            </a:r>
            <a:r>
              <a:rPr lang="en-IN" dirty="0" smtClean="0"/>
              <a:t>last </a:t>
            </a:r>
            <a:r>
              <a:rPr lang="en-IN" dirty="0"/>
              <a:t>node)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0798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en-US" smtClean="0"/>
              <a:t>BT </a:t>
            </a:r>
            <a:r>
              <a:rPr lang="en-US" dirty="0" smtClean="0"/>
              <a:t>Construction from Preorder + </a:t>
            </a:r>
            <a:r>
              <a:rPr lang="en-US" dirty="0" err="1" smtClean="0"/>
              <a:t>Inorder</a:t>
            </a:r>
            <a:endParaRPr lang="en-US" dirty="0"/>
          </a:p>
        </p:txBody>
      </p:sp>
      <p:sp>
        <p:nvSpPr>
          <p:cNvPr id="4" name="Content Placeholder 3"/>
          <p:cNvSpPr txBox="1">
            <a:spLocks noGrp="1"/>
          </p:cNvSpPr>
          <p:nvPr>
            <p:ph idx="1"/>
          </p:nvPr>
        </p:nvSpPr>
        <p:spPr>
          <a:xfrm>
            <a:off x="44224" y="1295400"/>
            <a:ext cx="4146776" cy="76944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000" b="1" dirty="0" smtClean="0">
                <a:solidFill>
                  <a:srgbClr val="002060"/>
                </a:solidFill>
              </a:rPr>
              <a:t>Preorder</a:t>
            </a:r>
            <a:r>
              <a:rPr lang="en-US" sz="2000" dirty="0" smtClean="0"/>
              <a:t>: 25, 8, 1, 13, 19, 5, 9, 4, 10, 3</a:t>
            </a:r>
          </a:p>
          <a:p>
            <a:pPr>
              <a:buNone/>
            </a:pPr>
            <a:r>
              <a:rPr lang="en-US" sz="2000" b="1" dirty="0" err="1" smtClean="0">
                <a:solidFill>
                  <a:srgbClr val="002060"/>
                </a:solidFill>
              </a:rPr>
              <a:t>Inorder</a:t>
            </a:r>
            <a:r>
              <a:rPr lang="en-US" sz="2000" dirty="0" smtClean="0"/>
              <a:t>: 1, 8, 19, 13, </a:t>
            </a:r>
            <a:r>
              <a:rPr lang="en-US" sz="2000" dirty="0" smtClean="0">
                <a:solidFill>
                  <a:srgbClr val="FF0000"/>
                </a:solidFill>
              </a:rPr>
              <a:t>25</a:t>
            </a:r>
            <a:r>
              <a:rPr lang="en-US" sz="2000" dirty="0" smtClean="0"/>
              <a:t>, 9, 5, 10, 4,3</a:t>
            </a:r>
          </a:p>
        </p:txBody>
      </p:sp>
      <p:sp>
        <p:nvSpPr>
          <p:cNvPr id="6" name="Oval 5"/>
          <p:cNvSpPr/>
          <p:nvPr/>
        </p:nvSpPr>
        <p:spPr>
          <a:xfrm>
            <a:off x="4191000" y="19812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25</a:t>
            </a:r>
            <a:endParaRPr lang="en-US" dirty="0"/>
          </a:p>
        </p:txBody>
      </p:sp>
      <p:cxnSp>
        <p:nvCxnSpPr>
          <p:cNvPr id="7" name="Straight Connector 6"/>
          <p:cNvCxnSpPr>
            <a:stCxn id="6" idx="2"/>
            <a:endCxn id="9" idx="0"/>
          </p:cNvCxnSpPr>
          <p:nvPr/>
        </p:nvCxnSpPr>
        <p:spPr>
          <a:xfrm rot="10800000" flipV="1">
            <a:off x="2895600" y="2247900"/>
            <a:ext cx="1295400" cy="647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>
            <a:stCxn id="6" idx="6"/>
            <a:endCxn id="10" idx="0"/>
          </p:cNvCxnSpPr>
          <p:nvPr/>
        </p:nvCxnSpPr>
        <p:spPr>
          <a:xfrm>
            <a:off x="4800600" y="2247900"/>
            <a:ext cx="1066800" cy="5715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590800" y="2895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8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5562600" y="28194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5</a:t>
            </a:r>
            <a:endParaRPr lang="en-US" dirty="0"/>
          </a:p>
        </p:txBody>
      </p:sp>
      <p:cxnSp>
        <p:nvCxnSpPr>
          <p:cNvPr id="11" name="Straight Connector 10"/>
          <p:cNvCxnSpPr>
            <a:stCxn id="9" idx="3"/>
            <a:endCxn id="14" idx="0"/>
          </p:cNvCxnSpPr>
          <p:nvPr/>
        </p:nvCxnSpPr>
        <p:spPr>
          <a:xfrm rot="5400000">
            <a:off x="1872480" y="3459605"/>
            <a:ext cx="916315" cy="698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13" idx="0"/>
            <a:endCxn id="9" idx="5"/>
          </p:cNvCxnSpPr>
          <p:nvPr/>
        </p:nvCxnSpPr>
        <p:spPr>
          <a:xfrm rot="16200000" flipV="1">
            <a:off x="2964306" y="3497706"/>
            <a:ext cx="916315" cy="6226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429000" y="42672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13</a:t>
            </a:r>
            <a:endParaRPr lang="en-US" dirty="0"/>
          </a:p>
        </p:txBody>
      </p:sp>
      <p:sp>
        <p:nvSpPr>
          <p:cNvPr id="14" name="Oval 13"/>
          <p:cNvSpPr/>
          <p:nvPr/>
        </p:nvSpPr>
        <p:spPr>
          <a:xfrm>
            <a:off x="1676400" y="42672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1</a:t>
            </a:r>
            <a:endParaRPr lang="en-US" dirty="0"/>
          </a:p>
        </p:txBody>
      </p:sp>
      <p:cxnSp>
        <p:nvCxnSpPr>
          <p:cNvPr id="15" name="Straight Connector 14"/>
          <p:cNvCxnSpPr>
            <a:stCxn id="10" idx="3"/>
            <a:endCxn id="17" idx="0"/>
          </p:cNvCxnSpPr>
          <p:nvPr/>
        </p:nvCxnSpPr>
        <p:spPr>
          <a:xfrm rot="5400000">
            <a:off x="5034780" y="3573905"/>
            <a:ext cx="916315" cy="31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10" idx="5"/>
            <a:endCxn id="18" idx="0"/>
          </p:cNvCxnSpPr>
          <p:nvPr/>
        </p:nvCxnSpPr>
        <p:spPr>
          <a:xfrm rot="16200000" flipH="1">
            <a:off x="5783706" y="3573905"/>
            <a:ext cx="916315" cy="31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029200" y="41910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9</a:t>
            </a:r>
            <a:endParaRPr lang="en-US" dirty="0"/>
          </a:p>
        </p:txBody>
      </p:sp>
      <p:sp>
        <p:nvSpPr>
          <p:cNvPr id="18" name="Oval 17"/>
          <p:cNvSpPr/>
          <p:nvPr/>
        </p:nvSpPr>
        <p:spPr>
          <a:xfrm>
            <a:off x="6096000" y="41910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4</a:t>
            </a:r>
            <a:endParaRPr lang="en-US" dirty="0"/>
          </a:p>
        </p:txBody>
      </p:sp>
      <p:cxnSp>
        <p:nvCxnSpPr>
          <p:cNvPr id="19" name="Straight Connector 18"/>
          <p:cNvCxnSpPr>
            <a:stCxn id="18" idx="3"/>
            <a:endCxn id="22" idx="0"/>
          </p:cNvCxnSpPr>
          <p:nvPr/>
        </p:nvCxnSpPr>
        <p:spPr>
          <a:xfrm rot="5400000">
            <a:off x="5568180" y="4793105"/>
            <a:ext cx="763915" cy="470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21" idx="0"/>
            <a:endCxn id="18" idx="5"/>
          </p:cNvCxnSpPr>
          <p:nvPr/>
        </p:nvCxnSpPr>
        <p:spPr>
          <a:xfrm rot="16200000" flipV="1">
            <a:off x="6431406" y="4831206"/>
            <a:ext cx="763915" cy="3940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705600" y="54102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3</a:t>
            </a:r>
            <a:endParaRPr lang="en-US" dirty="0"/>
          </a:p>
        </p:txBody>
      </p:sp>
      <p:sp>
        <p:nvSpPr>
          <p:cNvPr id="22" name="Oval 21"/>
          <p:cNvSpPr/>
          <p:nvPr/>
        </p:nvSpPr>
        <p:spPr>
          <a:xfrm>
            <a:off x="5410200" y="54102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10</a:t>
            </a:r>
            <a:endParaRPr lang="en-US" dirty="0"/>
          </a:p>
        </p:txBody>
      </p:sp>
      <p:cxnSp>
        <p:nvCxnSpPr>
          <p:cNvPr id="23" name="Straight Connector 22"/>
          <p:cNvCxnSpPr>
            <a:stCxn id="13" idx="4"/>
            <a:endCxn id="24" idx="0"/>
          </p:cNvCxnSpPr>
          <p:nvPr/>
        </p:nvCxnSpPr>
        <p:spPr>
          <a:xfrm rot="5400000">
            <a:off x="3238500" y="4838700"/>
            <a:ext cx="533400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2971800" y="53340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19</a:t>
            </a:r>
            <a:endParaRPr lang="en-US" dirty="0"/>
          </a:p>
        </p:txBody>
      </p:sp>
      <p:sp>
        <p:nvSpPr>
          <p:cNvPr id="37" name="Content Placeholder 3"/>
          <p:cNvSpPr txBox="1">
            <a:spLocks/>
          </p:cNvSpPr>
          <p:nvPr/>
        </p:nvSpPr>
        <p:spPr>
          <a:xfrm>
            <a:off x="76200" y="2362200"/>
            <a:ext cx="2395592" cy="76944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vert="horz" wrap="none" lIns="91440" tIns="45720" rIns="91440" bIns="45720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Preorder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8, 1, 13, 19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Inorder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1,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8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19, 13</a:t>
            </a:r>
          </a:p>
        </p:txBody>
      </p:sp>
      <p:sp>
        <p:nvSpPr>
          <p:cNvPr id="38" name="Content Placeholder 3"/>
          <p:cNvSpPr txBox="1">
            <a:spLocks/>
          </p:cNvSpPr>
          <p:nvPr/>
        </p:nvSpPr>
        <p:spPr>
          <a:xfrm>
            <a:off x="6477000" y="2286000"/>
            <a:ext cx="2514600" cy="76944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vert="horz" wrap="square" lIns="91440" tIns="45720" rIns="91440" bIns="45720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Preorder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5, 9, 4, 10, 3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Inorder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9,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10, 4,3</a:t>
            </a:r>
          </a:p>
        </p:txBody>
      </p:sp>
      <p:sp>
        <p:nvSpPr>
          <p:cNvPr id="39" name="Content Placeholder 3"/>
          <p:cNvSpPr txBox="1">
            <a:spLocks/>
          </p:cNvSpPr>
          <p:nvPr/>
        </p:nvSpPr>
        <p:spPr>
          <a:xfrm>
            <a:off x="905109" y="5021759"/>
            <a:ext cx="1380891" cy="76944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vert="horz" wrap="none" lIns="91440" tIns="45720" rIns="91440" bIns="45720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Preorder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1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Inorder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1</a:t>
            </a:r>
          </a:p>
        </p:txBody>
      </p:sp>
      <p:sp>
        <p:nvSpPr>
          <p:cNvPr id="40" name="Content Placeholder 3"/>
          <p:cNvSpPr txBox="1">
            <a:spLocks/>
          </p:cNvSpPr>
          <p:nvPr/>
        </p:nvSpPr>
        <p:spPr>
          <a:xfrm>
            <a:off x="3505200" y="2971800"/>
            <a:ext cx="1892249" cy="76944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vert="horz" wrap="none" lIns="91440" tIns="45720" rIns="91440" bIns="45720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Preorder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13, 19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Inorder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19,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13</a:t>
            </a:r>
          </a:p>
        </p:txBody>
      </p:sp>
      <p:sp>
        <p:nvSpPr>
          <p:cNvPr id="41" name="Content Placeholder 3"/>
          <p:cNvSpPr txBox="1">
            <a:spLocks/>
          </p:cNvSpPr>
          <p:nvPr/>
        </p:nvSpPr>
        <p:spPr>
          <a:xfrm>
            <a:off x="3886200" y="4793159"/>
            <a:ext cx="1371600" cy="76944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vert="horz" wrap="square" lIns="91440" tIns="45720" rIns="91440" bIns="45720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Preorder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9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Inorder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9</a:t>
            </a:r>
          </a:p>
        </p:txBody>
      </p:sp>
      <p:sp>
        <p:nvSpPr>
          <p:cNvPr id="42" name="Content Placeholder 3"/>
          <p:cNvSpPr txBox="1">
            <a:spLocks/>
          </p:cNvSpPr>
          <p:nvPr/>
        </p:nvSpPr>
        <p:spPr>
          <a:xfrm>
            <a:off x="6858000" y="3962400"/>
            <a:ext cx="2133600" cy="76944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vert="horz" wrap="square" lIns="91440" tIns="45720" rIns="91440" bIns="45720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Preorder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4, 10, 3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Inorder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10,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,3</a:t>
            </a:r>
          </a:p>
        </p:txBody>
      </p:sp>
      <p:sp>
        <p:nvSpPr>
          <p:cNvPr id="43" name="Content Placeholder 3"/>
          <p:cNvSpPr txBox="1">
            <a:spLocks/>
          </p:cNvSpPr>
          <p:nvPr/>
        </p:nvSpPr>
        <p:spPr>
          <a:xfrm>
            <a:off x="2375465" y="6012359"/>
            <a:ext cx="1510735" cy="76944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vert="horz" wrap="none" lIns="91440" tIns="45720" rIns="91440" bIns="45720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Preorder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19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Inorder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19</a:t>
            </a:r>
          </a:p>
        </p:txBody>
      </p:sp>
      <p:sp>
        <p:nvSpPr>
          <p:cNvPr id="44" name="Content Placeholder 3"/>
          <p:cNvSpPr txBox="1">
            <a:spLocks/>
          </p:cNvSpPr>
          <p:nvPr/>
        </p:nvSpPr>
        <p:spPr>
          <a:xfrm>
            <a:off x="4267200" y="6019800"/>
            <a:ext cx="2133600" cy="76944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vert="horz" wrap="square" lIns="91440" tIns="45720" rIns="91440" bIns="45720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Preorder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10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Inorder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10</a:t>
            </a:r>
          </a:p>
        </p:txBody>
      </p:sp>
      <p:sp>
        <p:nvSpPr>
          <p:cNvPr id="45" name="Content Placeholder 3"/>
          <p:cNvSpPr txBox="1">
            <a:spLocks/>
          </p:cNvSpPr>
          <p:nvPr/>
        </p:nvSpPr>
        <p:spPr>
          <a:xfrm>
            <a:off x="6934200" y="6019800"/>
            <a:ext cx="2133600" cy="76944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vert="horz" wrap="square" lIns="91440" tIns="45720" rIns="91440" bIns="45720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Preorder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3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Inorder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6" grpId="0" animBg="1"/>
      <p:bldP spid="9" grpId="0" animBg="1"/>
      <p:bldP spid="10" grpId="0" animBg="1"/>
      <p:bldP spid="13" grpId="0" animBg="1"/>
      <p:bldP spid="14" grpId="0" animBg="1"/>
      <p:bldP spid="17" grpId="0" animBg="1"/>
      <p:bldP spid="18" grpId="0" animBg="1"/>
      <p:bldP spid="21" grpId="0" animBg="1"/>
      <p:bldP spid="22" grpId="0" animBg="1"/>
      <p:bldP spid="24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en-US" dirty="0" smtClean="0"/>
              <a:t>BT Construction from </a:t>
            </a:r>
            <a:r>
              <a:rPr lang="en-US" dirty="0" err="1" smtClean="0"/>
              <a:t>Postorder</a:t>
            </a:r>
            <a:r>
              <a:rPr lang="en-US" dirty="0" smtClean="0"/>
              <a:t> + </a:t>
            </a:r>
            <a:r>
              <a:rPr lang="en-US" dirty="0" err="1" smtClean="0"/>
              <a:t>Inorder</a:t>
            </a:r>
            <a:endParaRPr lang="en-US" dirty="0"/>
          </a:p>
        </p:txBody>
      </p:sp>
      <p:sp>
        <p:nvSpPr>
          <p:cNvPr id="4" name="Content Placeholder 3"/>
          <p:cNvSpPr txBox="1">
            <a:spLocks noGrp="1"/>
          </p:cNvSpPr>
          <p:nvPr>
            <p:ph idx="1"/>
          </p:nvPr>
        </p:nvSpPr>
        <p:spPr>
          <a:xfrm>
            <a:off x="44224" y="1295400"/>
            <a:ext cx="4266104" cy="76944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000" b="1" dirty="0" err="1" smtClean="0">
                <a:solidFill>
                  <a:srgbClr val="002060"/>
                </a:solidFill>
              </a:rPr>
              <a:t>Postorder</a:t>
            </a:r>
            <a:r>
              <a:rPr lang="en-US" sz="2000" dirty="0" smtClean="0"/>
              <a:t>: </a:t>
            </a:r>
            <a:r>
              <a:rPr lang="en-US" sz="2000" dirty="0"/>
              <a:t>1, 19, 13, 8, 9, 10, 3, 4, 5, </a:t>
            </a:r>
            <a:r>
              <a:rPr lang="en-US" sz="2000" dirty="0" smtClean="0"/>
              <a:t>25</a:t>
            </a:r>
          </a:p>
          <a:p>
            <a:pPr>
              <a:buNone/>
            </a:pPr>
            <a:r>
              <a:rPr lang="en-US" sz="2000" b="1" dirty="0" err="1" smtClean="0">
                <a:solidFill>
                  <a:srgbClr val="002060"/>
                </a:solidFill>
              </a:rPr>
              <a:t>Inorder</a:t>
            </a:r>
            <a:r>
              <a:rPr lang="en-US" sz="2000" dirty="0" smtClean="0"/>
              <a:t>: 1, 8, 19, 13, </a:t>
            </a:r>
            <a:r>
              <a:rPr lang="en-US" sz="2000" dirty="0" smtClean="0">
                <a:solidFill>
                  <a:srgbClr val="FF0000"/>
                </a:solidFill>
              </a:rPr>
              <a:t>25</a:t>
            </a:r>
            <a:r>
              <a:rPr lang="en-US" sz="2000" dirty="0" smtClean="0"/>
              <a:t>, 9, 5, 10, 4,3</a:t>
            </a:r>
          </a:p>
        </p:txBody>
      </p:sp>
      <p:sp>
        <p:nvSpPr>
          <p:cNvPr id="6" name="Oval 5"/>
          <p:cNvSpPr/>
          <p:nvPr/>
        </p:nvSpPr>
        <p:spPr>
          <a:xfrm>
            <a:off x="4191000" y="19812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25</a:t>
            </a:r>
            <a:endParaRPr lang="en-US" dirty="0"/>
          </a:p>
        </p:txBody>
      </p:sp>
      <p:cxnSp>
        <p:nvCxnSpPr>
          <p:cNvPr id="7" name="Straight Connector 6"/>
          <p:cNvCxnSpPr>
            <a:stCxn id="6" idx="2"/>
            <a:endCxn id="9" idx="0"/>
          </p:cNvCxnSpPr>
          <p:nvPr/>
        </p:nvCxnSpPr>
        <p:spPr>
          <a:xfrm rot="10800000" flipV="1">
            <a:off x="2895600" y="2247900"/>
            <a:ext cx="1295400" cy="647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>
            <a:stCxn id="6" idx="6"/>
            <a:endCxn id="10" idx="0"/>
          </p:cNvCxnSpPr>
          <p:nvPr/>
        </p:nvCxnSpPr>
        <p:spPr>
          <a:xfrm>
            <a:off x="4800600" y="2247900"/>
            <a:ext cx="1066800" cy="5715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590800" y="2895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8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5562600" y="28194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5</a:t>
            </a:r>
            <a:endParaRPr lang="en-US" dirty="0"/>
          </a:p>
        </p:txBody>
      </p:sp>
      <p:cxnSp>
        <p:nvCxnSpPr>
          <p:cNvPr id="11" name="Straight Connector 10"/>
          <p:cNvCxnSpPr>
            <a:stCxn id="9" idx="3"/>
            <a:endCxn id="14" idx="0"/>
          </p:cNvCxnSpPr>
          <p:nvPr/>
        </p:nvCxnSpPr>
        <p:spPr>
          <a:xfrm rot="5400000">
            <a:off x="1872480" y="3459605"/>
            <a:ext cx="916315" cy="698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13" idx="0"/>
            <a:endCxn id="9" idx="5"/>
          </p:cNvCxnSpPr>
          <p:nvPr/>
        </p:nvCxnSpPr>
        <p:spPr>
          <a:xfrm rot="16200000" flipV="1">
            <a:off x="2964306" y="3497706"/>
            <a:ext cx="916315" cy="6226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429000" y="42672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13</a:t>
            </a:r>
            <a:endParaRPr lang="en-US" dirty="0"/>
          </a:p>
        </p:txBody>
      </p:sp>
      <p:sp>
        <p:nvSpPr>
          <p:cNvPr id="14" name="Oval 13"/>
          <p:cNvSpPr/>
          <p:nvPr/>
        </p:nvSpPr>
        <p:spPr>
          <a:xfrm>
            <a:off x="1676400" y="42672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1</a:t>
            </a:r>
            <a:endParaRPr lang="en-US" dirty="0"/>
          </a:p>
        </p:txBody>
      </p:sp>
      <p:cxnSp>
        <p:nvCxnSpPr>
          <p:cNvPr id="15" name="Straight Connector 14"/>
          <p:cNvCxnSpPr>
            <a:stCxn id="10" idx="3"/>
            <a:endCxn id="17" idx="0"/>
          </p:cNvCxnSpPr>
          <p:nvPr/>
        </p:nvCxnSpPr>
        <p:spPr>
          <a:xfrm rot="5400000">
            <a:off x="5034780" y="3573905"/>
            <a:ext cx="916315" cy="31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10" idx="5"/>
            <a:endCxn id="18" idx="0"/>
          </p:cNvCxnSpPr>
          <p:nvPr/>
        </p:nvCxnSpPr>
        <p:spPr>
          <a:xfrm rot="16200000" flipH="1">
            <a:off x="5783706" y="3573905"/>
            <a:ext cx="916315" cy="31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029200" y="41910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9</a:t>
            </a:r>
            <a:endParaRPr lang="en-US" dirty="0"/>
          </a:p>
        </p:txBody>
      </p:sp>
      <p:sp>
        <p:nvSpPr>
          <p:cNvPr id="18" name="Oval 17"/>
          <p:cNvSpPr/>
          <p:nvPr/>
        </p:nvSpPr>
        <p:spPr>
          <a:xfrm>
            <a:off x="6096000" y="41910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4</a:t>
            </a:r>
            <a:endParaRPr lang="en-US" dirty="0"/>
          </a:p>
        </p:txBody>
      </p:sp>
      <p:cxnSp>
        <p:nvCxnSpPr>
          <p:cNvPr id="19" name="Straight Connector 18"/>
          <p:cNvCxnSpPr>
            <a:stCxn id="18" idx="3"/>
            <a:endCxn id="22" idx="0"/>
          </p:cNvCxnSpPr>
          <p:nvPr/>
        </p:nvCxnSpPr>
        <p:spPr>
          <a:xfrm rot="5400000">
            <a:off x="5568180" y="4793105"/>
            <a:ext cx="763915" cy="470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21" idx="0"/>
            <a:endCxn id="18" idx="5"/>
          </p:cNvCxnSpPr>
          <p:nvPr/>
        </p:nvCxnSpPr>
        <p:spPr>
          <a:xfrm rot="16200000" flipV="1">
            <a:off x="6431406" y="4831206"/>
            <a:ext cx="763915" cy="3940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705600" y="54102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3</a:t>
            </a:r>
            <a:endParaRPr lang="en-US" dirty="0"/>
          </a:p>
        </p:txBody>
      </p:sp>
      <p:sp>
        <p:nvSpPr>
          <p:cNvPr id="22" name="Oval 21"/>
          <p:cNvSpPr/>
          <p:nvPr/>
        </p:nvSpPr>
        <p:spPr>
          <a:xfrm>
            <a:off x="5410200" y="54102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10</a:t>
            </a:r>
            <a:endParaRPr lang="en-US" dirty="0"/>
          </a:p>
        </p:txBody>
      </p:sp>
      <p:cxnSp>
        <p:nvCxnSpPr>
          <p:cNvPr id="23" name="Straight Connector 22"/>
          <p:cNvCxnSpPr>
            <a:stCxn id="13" idx="4"/>
            <a:endCxn id="24" idx="0"/>
          </p:cNvCxnSpPr>
          <p:nvPr/>
        </p:nvCxnSpPr>
        <p:spPr>
          <a:xfrm rot="5400000">
            <a:off x="3238500" y="4838700"/>
            <a:ext cx="533400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2971800" y="53340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19</a:t>
            </a:r>
            <a:endParaRPr lang="en-US" dirty="0"/>
          </a:p>
        </p:txBody>
      </p:sp>
      <p:sp>
        <p:nvSpPr>
          <p:cNvPr id="37" name="Content Placeholder 3"/>
          <p:cNvSpPr txBox="1">
            <a:spLocks/>
          </p:cNvSpPr>
          <p:nvPr/>
        </p:nvSpPr>
        <p:spPr>
          <a:xfrm>
            <a:off x="76200" y="2362200"/>
            <a:ext cx="2496389" cy="76944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vert="horz" wrap="none" lIns="91440" tIns="45720" rIns="91440" bIns="45720" rtlCol="0">
            <a:spAutoFit/>
          </a:bodyPr>
          <a:lstStyle/>
          <a:p>
            <a:pPr marL="342900" lvl="0" indent="-342900">
              <a:spcBef>
                <a:spcPct val="20000"/>
              </a:spcBef>
              <a:defRPr/>
            </a:pPr>
            <a:r>
              <a:rPr kumimoji="0" lang="en-US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Postorder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lang="en-US" sz="2000" dirty="0"/>
              <a:t>1, 19, 13, 8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Inorder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1,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8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19, 13</a:t>
            </a:r>
          </a:p>
        </p:txBody>
      </p:sp>
      <p:sp>
        <p:nvSpPr>
          <p:cNvPr id="38" name="Content Placeholder 3"/>
          <p:cNvSpPr txBox="1">
            <a:spLocks/>
          </p:cNvSpPr>
          <p:nvPr/>
        </p:nvSpPr>
        <p:spPr>
          <a:xfrm>
            <a:off x="6298450" y="2222002"/>
            <a:ext cx="2693149" cy="76944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vert="horz" wrap="square" lIns="91440" tIns="45720" rIns="91440" bIns="45720" rtlCol="0">
            <a:spAutoFit/>
          </a:bodyPr>
          <a:lstStyle/>
          <a:p>
            <a:pPr marL="342900" lvl="0" indent="-342900">
              <a:spcBef>
                <a:spcPct val="20000"/>
              </a:spcBef>
              <a:defRPr/>
            </a:pPr>
            <a:r>
              <a:rPr kumimoji="0" lang="en-US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Postorder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lang="en-US" sz="2000" dirty="0"/>
              <a:t>9, 10, 3, 4, 5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Inorder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9,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10, 4,3</a:t>
            </a:r>
          </a:p>
        </p:txBody>
      </p:sp>
      <p:sp>
        <p:nvSpPr>
          <p:cNvPr id="39" name="Content Placeholder 3"/>
          <p:cNvSpPr txBox="1">
            <a:spLocks/>
          </p:cNvSpPr>
          <p:nvPr/>
        </p:nvSpPr>
        <p:spPr>
          <a:xfrm>
            <a:off x="905109" y="5021759"/>
            <a:ext cx="1481688" cy="76944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vert="horz" wrap="none" lIns="91440" tIns="45720" rIns="91440" bIns="45720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Postorder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1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Inorder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1</a:t>
            </a:r>
          </a:p>
        </p:txBody>
      </p:sp>
      <p:sp>
        <p:nvSpPr>
          <p:cNvPr id="40" name="Content Placeholder 3"/>
          <p:cNvSpPr txBox="1">
            <a:spLocks/>
          </p:cNvSpPr>
          <p:nvPr/>
        </p:nvSpPr>
        <p:spPr>
          <a:xfrm>
            <a:off x="3505200" y="2971800"/>
            <a:ext cx="1993046" cy="76944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vert="horz" wrap="none" lIns="91440" tIns="45720" rIns="91440" bIns="45720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Postorder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19, 13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Inorder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19,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13</a:t>
            </a:r>
          </a:p>
        </p:txBody>
      </p:sp>
      <p:sp>
        <p:nvSpPr>
          <p:cNvPr id="41" name="Content Placeholder 3"/>
          <p:cNvSpPr txBox="1">
            <a:spLocks/>
          </p:cNvSpPr>
          <p:nvPr/>
        </p:nvSpPr>
        <p:spPr>
          <a:xfrm>
            <a:off x="3886200" y="4793159"/>
            <a:ext cx="1447800" cy="76944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vert="horz" wrap="square" lIns="91440" tIns="45720" rIns="91440" bIns="45720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Posorder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9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Inorder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9</a:t>
            </a:r>
          </a:p>
        </p:txBody>
      </p:sp>
      <p:sp>
        <p:nvSpPr>
          <p:cNvPr id="42" name="Content Placeholder 3"/>
          <p:cNvSpPr txBox="1">
            <a:spLocks/>
          </p:cNvSpPr>
          <p:nvPr/>
        </p:nvSpPr>
        <p:spPr>
          <a:xfrm>
            <a:off x="6858000" y="3962400"/>
            <a:ext cx="2133600" cy="76944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vert="horz" wrap="square" lIns="91440" tIns="45720" rIns="91440" bIns="45720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Postorder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10, 3, 4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Inorder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10,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,3</a:t>
            </a:r>
          </a:p>
        </p:txBody>
      </p:sp>
      <p:sp>
        <p:nvSpPr>
          <p:cNvPr id="43" name="Content Placeholder 3"/>
          <p:cNvSpPr txBox="1">
            <a:spLocks/>
          </p:cNvSpPr>
          <p:nvPr/>
        </p:nvSpPr>
        <p:spPr>
          <a:xfrm>
            <a:off x="2375465" y="6012359"/>
            <a:ext cx="1528752" cy="76944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vert="horz" wrap="none" lIns="91440" tIns="45720" rIns="91440" bIns="45720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Posorder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19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Inorder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19</a:t>
            </a:r>
          </a:p>
        </p:txBody>
      </p:sp>
      <p:sp>
        <p:nvSpPr>
          <p:cNvPr id="44" name="Content Placeholder 3"/>
          <p:cNvSpPr txBox="1">
            <a:spLocks/>
          </p:cNvSpPr>
          <p:nvPr/>
        </p:nvSpPr>
        <p:spPr>
          <a:xfrm>
            <a:off x="4267200" y="6019800"/>
            <a:ext cx="2133600" cy="76944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vert="horz" wrap="square" lIns="91440" tIns="45720" rIns="91440" bIns="45720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Posorder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10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Inorder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10</a:t>
            </a:r>
          </a:p>
        </p:txBody>
      </p:sp>
      <p:sp>
        <p:nvSpPr>
          <p:cNvPr id="45" name="Content Placeholder 3"/>
          <p:cNvSpPr txBox="1">
            <a:spLocks/>
          </p:cNvSpPr>
          <p:nvPr/>
        </p:nvSpPr>
        <p:spPr>
          <a:xfrm>
            <a:off x="6934200" y="6019800"/>
            <a:ext cx="2133600" cy="76944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vert="horz" wrap="square" lIns="91440" tIns="45720" rIns="91440" bIns="45720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Posorder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3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Inorder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3</a:t>
            </a:r>
          </a:p>
        </p:txBody>
      </p:sp>
    </p:spTree>
    <p:extLst>
      <p:ext uri="{BB962C8B-B14F-4D97-AF65-F5344CB8AC3E}">
        <p14:creationId xmlns:p14="http://schemas.microsoft.com/office/powerpoint/2010/main" val="3766388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6" grpId="0" animBg="1"/>
      <p:bldP spid="9" grpId="0" animBg="1"/>
      <p:bldP spid="10" grpId="0" animBg="1"/>
      <p:bldP spid="13" grpId="0" animBg="1"/>
      <p:bldP spid="14" grpId="0" animBg="1"/>
      <p:bldP spid="17" grpId="0" animBg="1"/>
      <p:bldP spid="18" grpId="0" animBg="1"/>
      <p:bldP spid="21" grpId="0" animBg="1"/>
      <p:bldP spid="22" grpId="0" animBg="1"/>
      <p:bldP spid="24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667000"/>
            <a:ext cx="8229600" cy="1143000"/>
          </a:xfrm>
        </p:spPr>
        <p:txBody>
          <a:bodyPr/>
          <a:lstStyle/>
          <a:p>
            <a:r>
              <a:rPr lang="en-US" dirty="0" smtClean="0"/>
              <a:t>Binary Search Tree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377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Binary Search Tree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 Binary Search Tree (BST) is a binary tree. It may be empty. If it is not empty, then it satisfies the following properties: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 smtClean="0"/>
              <a:t>The root has a key.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 smtClean="0"/>
              <a:t>The keys (if any) in the left </a:t>
            </a:r>
            <a:r>
              <a:rPr lang="en-US" dirty="0" err="1" smtClean="0"/>
              <a:t>subtree</a:t>
            </a:r>
            <a:r>
              <a:rPr lang="en-US" dirty="0" smtClean="0"/>
              <a:t> are smaller than the key in the root.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 smtClean="0"/>
              <a:t>The keys (if any) in the right </a:t>
            </a:r>
            <a:r>
              <a:rPr lang="en-US" dirty="0" err="1" smtClean="0"/>
              <a:t>subtree</a:t>
            </a:r>
            <a:r>
              <a:rPr lang="en-US" dirty="0" smtClean="0"/>
              <a:t> are larger than the key in the root.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 smtClean="0"/>
              <a:t>The left and right </a:t>
            </a:r>
            <a:r>
              <a:rPr lang="en-US" dirty="0" err="1" smtClean="0"/>
              <a:t>subtrees</a:t>
            </a:r>
            <a:r>
              <a:rPr lang="en-US" dirty="0" smtClean="0"/>
              <a:t> are also BSTs.</a:t>
            </a:r>
          </a:p>
          <a:p>
            <a:pPr marL="571500" indent="-571500">
              <a:buFont typeface="+mj-lt"/>
              <a:buAutoNum type="romanLcPeriod"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Preorder Traversal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4267200" y="1371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25</a:t>
            </a:r>
            <a:endParaRPr lang="en-US" dirty="0"/>
          </a:p>
        </p:txBody>
      </p:sp>
      <p:cxnSp>
        <p:nvCxnSpPr>
          <p:cNvPr id="5" name="Straight Connector 4"/>
          <p:cNvCxnSpPr>
            <a:stCxn id="4" idx="2"/>
            <a:endCxn id="25" idx="0"/>
          </p:cNvCxnSpPr>
          <p:nvPr/>
        </p:nvCxnSpPr>
        <p:spPr>
          <a:xfrm rot="10800000" flipV="1">
            <a:off x="2514600" y="1638300"/>
            <a:ext cx="1752600" cy="1028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>
            <a:stCxn id="4" idx="6"/>
            <a:endCxn id="27" idx="0"/>
          </p:cNvCxnSpPr>
          <p:nvPr/>
        </p:nvCxnSpPr>
        <p:spPr>
          <a:xfrm>
            <a:off x="4876800" y="1638300"/>
            <a:ext cx="1828800" cy="1028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209800" y="26670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20</a:t>
            </a:r>
            <a:endParaRPr lang="en-US" dirty="0"/>
          </a:p>
        </p:txBody>
      </p:sp>
      <p:sp>
        <p:nvSpPr>
          <p:cNvPr id="27" name="Oval 26"/>
          <p:cNvSpPr/>
          <p:nvPr/>
        </p:nvSpPr>
        <p:spPr>
          <a:xfrm>
            <a:off x="6400800" y="26670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35</a:t>
            </a:r>
            <a:endParaRPr lang="en-US" dirty="0"/>
          </a:p>
        </p:txBody>
      </p:sp>
      <p:cxnSp>
        <p:nvCxnSpPr>
          <p:cNvPr id="30" name="Straight Connector 29"/>
          <p:cNvCxnSpPr>
            <a:stCxn id="25" idx="3"/>
            <a:endCxn id="34" idx="0"/>
          </p:cNvCxnSpPr>
          <p:nvPr/>
        </p:nvCxnSpPr>
        <p:spPr>
          <a:xfrm rot="5400000">
            <a:off x="1605780" y="3345305"/>
            <a:ext cx="916315" cy="470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33" idx="0"/>
            <a:endCxn id="25" idx="5"/>
          </p:cNvCxnSpPr>
          <p:nvPr/>
        </p:nvCxnSpPr>
        <p:spPr>
          <a:xfrm rot="16200000" flipV="1">
            <a:off x="2469006" y="3383406"/>
            <a:ext cx="916315" cy="3940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28194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23</a:t>
            </a:r>
            <a:endParaRPr lang="en-US" dirty="0"/>
          </a:p>
        </p:txBody>
      </p:sp>
      <p:sp>
        <p:nvSpPr>
          <p:cNvPr id="34" name="Oval 33"/>
          <p:cNvSpPr/>
          <p:nvPr/>
        </p:nvSpPr>
        <p:spPr>
          <a:xfrm>
            <a:off x="15240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10</a:t>
            </a:r>
            <a:endParaRPr lang="en-US" dirty="0"/>
          </a:p>
        </p:txBody>
      </p:sp>
      <p:cxnSp>
        <p:nvCxnSpPr>
          <p:cNvPr id="37" name="Straight Connector 36"/>
          <p:cNvCxnSpPr>
            <a:stCxn id="27" idx="3"/>
            <a:endCxn id="41" idx="0"/>
          </p:cNvCxnSpPr>
          <p:nvPr/>
        </p:nvCxnSpPr>
        <p:spPr>
          <a:xfrm rot="5400000">
            <a:off x="5606280" y="3154805"/>
            <a:ext cx="916315" cy="851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27" idx="5"/>
            <a:endCxn id="42" idx="0"/>
          </p:cNvCxnSpPr>
          <p:nvPr/>
        </p:nvCxnSpPr>
        <p:spPr>
          <a:xfrm rot="16200000" flipH="1">
            <a:off x="6888606" y="3154805"/>
            <a:ext cx="916315" cy="851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53340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29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74676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40</a:t>
            </a:r>
            <a:endParaRPr lang="en-US" dirty="0"/>
          </a:p>
        </p:txBody>
      </p:sp>
      <p:cxnSp>
        <p:nvCxnSpPr>
          <p:cNvPr id="55" name="Straight Connector 54"/>
          <p:cNvCxnSpPr>
            <a:endCxn id="58" idx="0"/>
          </p:cNvCxnSpPr>
          <p:nvPr/>
        </p:nvCxnSpPr>
        <p:spPr>
          <a:xfrm rot="5400000">
            <a:off x="6824522" y="4757879"/>
            <a:ext cx="994431" cy="470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57" idx="0"/>
          </p:cNvCxnSpPr>
          <p:nvPr/>
        </p:nvCxnSpPr>
        <p:spPr>
          <a:xfrm rot="16200000" flipV="1">
            <a:off x="7687748" y="4795980"/>
            <a:ext cx="994431" cy="3940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8077200" y="5490232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43</a:t>
            </a:r>
            <a:endParaRPr lang="en-US" dirty="0"/>
          </a:p>
        </p:txBody>
      </p:sp>
      <p:sp>
        <p:nvSpPr>
          <p:cNvPr id="58" name="Oval 57"/>
          <p:cNvSpPr/>
          <p:nvPr/>
        </p:nvSpPr>
        <p:spPr>
          <a:xfrm>
            <a:off x="6781800" y="5490232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37</a:t>
            </a:r>
            <a:endParaRPr lang="en-US" dirty="0"/>
          </a:p>
        </p:txBody>
      </p:sp>
      <p:cxnSp>
        <p:nvCxnSpPr>
          <p:cNvPr id="61" name="Straight Connector 60"/>
          <p:cNvCxnSpPr>
            <a:stCxn id="33" idx="4"/>
            <a:endCxn id="63" idx="0"/>
          </p:cNvCxnSpPr>
          <p:nvPr/>
        </p:nvCxnSpPr>
        <p:spPr>
          <a:xfrm rot="5400000">
            <a:off x="2362200" y="4724400"/>
            <a:ext cx="914400" cy="609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2209800" y="54864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22</a:t>
            </a:r>
            <a:endParaRPr lang="en-US" dirty="0"/>
          </a:p>
        </p:txBody>
      </p:sp>
      <p:sp>
        <p:nvSpPr>
          <p:cNvPr id="22" name="Down Arrow 21"/>
          <p:cNvSpPr/>
          <p:nvPr/>
        </p:nvSpPr>
        <p:spPr>
          <a:xfrm>
            <a:off x="4343400" y="990600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Down Arrow 22"/>
          <p:cNvSpPr/>
          <p:nvPr/>
        </p:nvSpPr>
        <p:spPr>
          <a:xfrm>
            <a:off x="2286000" y="2298192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Down Arrow 23"/>
          <p:cNvSpPr/>
          <p:nvPr/>
        </p:nvSpPr>
        <p:spPr>
          <a:xfrm>
            <a:off x="1600200" y="3669792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Down Arrow 25"/>
          <p:cNvSpPr/>
          <p:nvPr/>
        </p:nvSpPr>
        <p:spPr>
          <a:xfrm>
            <a:off x="2895600" y="3657600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Down Arrow 27"/>
          <p:cNvSpPr/>
          <p:nvPr/>
        </p:nvSpPr>
        <p:spPr>
          <a:xfrm>
            <a:off x="2258568" y="5117592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Down Arrow 28"/>
          <p:cNvSpPr/>
          <p:nvPr/>
        </p:nvSpPr>
        <p:spPr>
          <a:xfrm>
            <a:off x="6449568" y="2286000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Down Arrow 31"/>
          <p:cNvSpPr/>
          <p:nvPr/>
        </p:nvSpPr>
        <p:spPr>
          <a:xfrm>
            <a:off x="5382768" y="3657600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Down Arrow 34"/>
          <p:cNvSpPr/>
          <p:nvPr/>
        </p:nvSpPr>
        <p:spPr>
          <a:xfrm>
            <a:off x="7516368" y="3657600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Down Arrow 35"/>
          <p:cNvSpPr/>
          <p:nvPr/>
        </p:nvSpPr>
        <p:spPr>
          <a:xfrm>
            <a:off x="6830568" y="5105400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Down Arrow 37"/>
          <p:cNvSpPr/>
          <p:nvPr/>
        </p:nvSpPr>
        <p:spPr>
          <a:xfrm>
            <a:off x="8153400" y="5105400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3506200" y="6324600"/>
            <a:ext cx="3520516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25, 20, 10, 23, 22, 35, 29, 40, 37, 43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5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7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8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6" grpId="0" animBg="1"/>
      <p:bldP spid="26" grpId="1" animBg="1"/>
      <p:bldP spid="28" grpId="0" animBg="1"/>
      <p:bldP spid="28" grpId="1" animBg="1"/>
      <p:bldP spid="29" grpId="0" animBg="1"/>
      <p:bldP spid="29" grpId="1" animBg="1"/>
      <p:bldP spid="32" grpId="0" animBg="1"/>
      <p:bldP spid="32" grpId="1" animBg="1"/>
      <p:bldP spid="35" grpId="0" animBg="1"/>
      <p:bldP spid="35" grpId="1" animBg="1"/>
      <p:bldP spid="36" grpId="0" animBg="1"/>
      <p:bldP spid="36" grpId="1" animBg="1"/>
      <p:bldP spid="38" grpId="0" animBg="1"/>
      <p:bldP spid="38" grpId="1" animBg="1"/>
      <p:bldP spid="4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err="1" smtClean="0"/>
              <a:t>Inorder</a:t>
            </a:r>
            <a:r>
              <a:rPr lang="en-US" dirty="0" smtClean="0"/>
              <a:t> Traversal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3124200" y="1371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25</a:t>
            </a:r>
            <a:endParaRPr lang="en-US" dirty="0"/>
          </a:p>
        </p:txBody>
      </p:sp>
      <p:cxnSp>
        <p:nvCxnSpPr>
          <p:cNvPr id="5" name="Straight Connector 4"/>
          <p:cNvCxnSpPr>
            <a:stCxn id="4" idx="2"/>
            <a:endCxn id="25" idx="0"/>
          </p:cNvCxnSpPr>
          <p:nvPr/>
        </p:nvCxnSpPr>
        <p:spPr>
          <a:xfrm rot="10800000" flipV="1">
            <a:off x="1371600" y="1638300"/>
            <a:ext cx="1752600" cy="1028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>
            <a:stCxn id="4" idx="6"/>
            <a:endCxn id="27" idx="0"/>
          </p:cNvCxnSpPr>
          <p:nvPr/>
        </p:nvCxnSpPr>
        <p:spPr>
          <a:xfrm>
            <a:off x="3733800" y="1638300"/>
            <a:ext cx="1828800" cy="1028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1066800" y="26670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20</a:t>
            </a:r>
            <a:endParaRPr lang="en-US" dirty="0"/>
          </a:p>
        </p:txBody>
      </p:sp>
      <p:sp>
        <p:nvSpPr>
          <p:cNvPr id="27" name="Oval 26"/>
          <p:cNvSpPr/>
          <p:nvPr/>
        </p:nvSpPr>
        <p:spPr>
          <a:xfrm>
            <a:off x="5257800" y="26670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35</a:t>
            </a:r>
            <a:endParaRPr lang="en-US" dirty="0"/>
          </a:p>
        </p:txBody>
      </p:sp>
      <p:cxnSp>
        <p:nvCxnSpPr>
          <p:cNvPr id="30" name="Straight Connector 29"/>
          <p:cNvCxnSpPr>
            <a:stCxn id="25" idx="3"/>
            <a:endCxn id="34" idx="0"/>
          </p:cNvCxnSpPr>
          <p:nvPr/>
        </p:nvCxnSpPr>
        <p:spPr>
          <a:xfrm rot="5400000">
            <a:off x="462780" y="3345305"/>
            <a:ext cx="916315" cy="470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33" idx="0"/>
            <a:endCxn id="25" idx="5"/>
          </p:cNvCxnSpPr>
          <p:nvPr/>
        </p:nvCxnSpPr>
        <p:spPr>
          <a:xfrm rot="16200000" flipV="1">
            <a:off x="1326006" y="3383406"/>
            <a:ext cx="916315" cy="3940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16764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23</a:t>
            </a:r>
            <a:endParaRPr lang="en-US" dirty="0"/>
          </a:p>
        </p:txBody>
      </p:sp>
      <p:sp>
        <p:nvSpPr>
          <p:cNvPr id="34" name="Oval 33"/>
          <p:cNvSpPr/>
          <p:nvPr/>
        </p:nvSpPr>
        <p:spPr>
          <a:xfrm>
            <a:off x="3810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10</a:t>
            </a:r>
            <a:endParaRPr lang="en-US" dirty="0"/>
          </a:p>
        </p:txBody>
      </p:sp>
      <p:cxnSp>
        <p:nvCxnSpPr>
          <p:cNvPr id="37" name="Straight Connector 36"/>
          <p:cNvCxnSpPr>
            <a:stCxn id="27" idx="3"/>
            <a:endCxn id="41" idx="0"/>
          </p:cNvCxnSpPr>
          <p:nvPr/>
        </p:nvCxnSpPr>
        <p:spPr>
          <a:xfrm rot="5400000">
            <a:off x="4463280" y="3154805"/>
            <a:ext cx="916315" cy="851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27" idx="5"/>
            <a:endCxn id="42" idx="0"/>
          </p:cNvCxnSpPr>
          <p:nvPr/>
        </p:nvCxnSpPr>
        <p:spPr>
          <a:xfrm rot="16200000" flipH="1">
            <a:off x="5745606" y="3154805"/>
            <a:ext cx="916315" cy="851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41910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29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63246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40</a:t>
            </a:r>
            <a:endParaRPr lang="en-US" dirty="0"/>
          </a:p>
        </p:txBody>
      </p:sp>
      <p:cxnSp>
        <p:nvCxnSpPr>
          <p:cNvPr id="55" name="Straight Connector 54"/>
          <p:cNvCxnSpPr>
            <a:endCxn id="58" idx="0"/>
          </p:cNvCxnSpPr>
          <p:nvPr/>
        </p:nvCxnSpPr>
        <p:spPr>
          <a:xfrm rot="5400000">
            <a:off x="5681522" y="4757879"/>
            <a:ext cx="994431" cy="470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57" idx="0"/>
          </p:cNvCxnSpPr>
          <p:nvPr/>
        </p:nvCxnSpPr>
        <p:spPr>
          <a:xfrm rot="16200000" flipV="1">
            <a:off x="6544748" y="4795980"/>
            <a:ext cx="994431" cy="3940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6934200" y="5490232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43</a:t>
            </a:r>
            <a:endParaRPr lang="en-US" dirty="0"/>
          </a:p>
        </p:txBody>
      </p:sp>
      <p:sp>
        <p:nvSpPr>
          <p:cNvPr id="58" name="Oval 57"/>
          <p:cNvSpPr/>
          <p:nvPr/>
        </p:nvSpPr>
        <p:spPr>
          <a:xfrm>
            <a:off x="5638800" y="5490232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37</a:t>
            </a:r>
            <a:endParaRPr lang="en-US" dirty="0"/>
          </a:p>
        </p:txBody>
      </p:sp>
      <p:cxnSp>
        <p:nvCxnSpPr>
          <p:cNvPr id="61" name="Straight Connector 60"/>
          <p:cNvCxnSpPr>
            <a:stCxn id="33" idx="4"/>
            <a:endCxn id="63" idx="0"/>
          </p:cNvCxnSpPr>
          <p:nvPr/>
        </p:nvCxnSpPr>
        <p:spPr>
          <a:xfrm rot="5400000">
            <a:off x="1219200" y="4724400"/>
            <a:ext cx="914400" cy="609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1066800" y="54864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22</a:t>
            </a:r>
            <a:endParaRPr lang="en-US" dirty="0"/>
          </a:p>
        </p:txBody>
      </p:sp>
      <p:sp>
        <p:nvSpPr>
          <p:cNvPr id="22" name="Down Arrow 21"/>
          <p:cNvSpPr/>
          <p:nvPr/>
        </p:nvSpPr>
        <p:spPr>
          <a:xfrm>
            <a:off x="3200400" y="990600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Down Arrow 22"/>
          <p:cNvSpPr/>
          <p:nvPr/>
        </p:nvSpPr>
        <p:spPr>
          <a:xfrm>
            <a:off x="1143000" y="2298192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Down Arrow 23"/>
          <p:cNvSpPr/>
          <p:nvPr/>
        </p:nvSpPr>
        <p:spPr>
          <a:xfrm>
            <a:off x="457200" y="3669792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Down Arrow 25"/>
          <p:cNvSpPr/>
          <p:nvPr/>
        </p:nvSpPr>
        <p:spPr>
          <a:xfrm>
            <a:off x="1752600" y="3657600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Down Arrow 27"/>
          <p:cNvSpPr/>
          <p:nvPr/>
        </p:nvSpPr>
        <p:spPr>
          <a:xfrm>
            <a:off x="1115568" y="5117592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Down Arrow 28"/>
          <p:cNvSpPr/>
          <p:nvPr/>
        </p:nvSpPr>
        <p:spPr>
          <a:xfrm>
            <a:off x="5306568" y="2286000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Down Arrow 31"/>
          <p:cNvSpPr/>
          <p:nvPr/>
        </p:nvSpPr>
        <p:spPr>
          <a:xfrm>
            <a:off x="4239768" y="3657600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Down Arrow 34"/>
          <p:cNvSpPr/>
          <p:nvPr/>
        </p:nvSpPr>
        <p:spPr>
          <a:xfrm>
            <a:off x="6373368" y="3657600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Down Arrow 35"/>
          <p:cNvSpPr/>
          <p:nvPr/>
        </p:nvSpPr>
        <p:spPr>
          <a:xfrm>
            <a:off x="5687568" y="5105400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Down Arrow 37"/>
          <p:cNvSpPr/>
          <p:nvPr/>
        </p:nvSpPr>
        <p:spPr>
          <a:xfrm>
            <a:off x="7010400" y="5105400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2057400" y="6324600"/>
            <a:ext cx="3520516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10, 20, 22, 23, 25, 29, 35, 37, 40, 43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29200" y="990600"/>
            <a:ext cx="4114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Left &lt; Root &lt;Right ensures sorting of data in ascending order</a:t>
            </a:r>
          </a:p>
          <a:p>
            <a:r>
              <a:rPr lang="en-IN" dirty="0" err="1" smtClean="0"/>
              <a:t>Inorder</a:t>
            </a:r>
            <a:r>
              <a:rPr lang="en-IN" dirty="0" smtClean="0"/>
              <a:t> Successor</a:t>
            </a:r>
          </a:p>
          <a:p>
            <a:r>
              <a:rPr lang="en-IN" dirty="0" err="1" smtClean="0"/>
              <a:t>Inorder</a:t>
            </a:r>
            <a:r>
              <a:rPr lang="en-IN" dirty="0" smtClean="0"/>
              <a:t> Predecessor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5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7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8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6" grpId="0" animBg="1"/>
      <p:bldP spid="26" grpId="1" animBg="1"/>
      <p:bldP spid="28" grpId="0" animBg="1"/>
      <p:bldP spid="28" grpId="1" animBg="1"/>
      <p:bldP spid="29" grpId="0" animBg="1"/>
      <p:bldP spid="29" grpId="1" animBg="1"/>
      <p:bldP spid="32" grpId="0" animBg="1"/>
      <p:bldP spid="32" grpId="1" animBg="1"/>
      <p:bldP spid="35" grpId="0" animBg="1"/>
      <p:bldP spid="35" grpId="1" animBg="1"/>
      <p:bldP spid="36" grpId="0" animBg="1"/>
      <p:bldP spid="36" grpId="1" animBg="1"/>
      <p:bldP spid="38" grpId="0" animBg="1"/>
      <p:bldP spid="38" grpId="1" animBg="1"/>
      <p:bldP spid="4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err="1" smtClean="0"/>
              <a:t>Postorder</a:t>
            </a:r>
            <a:r>
              <a:rPr lang="en-US" dirty="0" smtClean="0"/>
              <a:t> Traversal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4267200" y="1371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25</a:t>
            </a:r>
            <a:endParaRPr lang="en-US" dirty="0"/>
          </a:p>
        </p:txBody>
      </p:sp>
      <p:cxnSp>
        <p:nvCxnSpPr>
          <p:cNvPr id="5" name="Straight Connector 4"/>
          <p:cNvCxnSpPr>
            <a:stCxn id="4" idx="2"/>
            <a:endCxn id="25" idx="0"/>
          </p:cNvCxnSpPr>
          <p:nvPr/>
        </p:nvCxnSpPr>
        <p:spPr>
          <a:xfrm rot="10800000" flipV="1">
            <a:off x="2514600" y="1638300"/>
            <a:ext cx="1752600" cy="1028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>
            <a:stCxn id="4" idx="6"/>
            <a:endCxn id="27" idx="0"/>
          </p:cNvCxnSpPr>
          <p:nvPr/>
        </p:nvCxnSpPr>
        <p:spPr>
          <a:xfrm>
            <a:off x="4876800" y="1638300"/>
            <a:ext cx="1828800" cy="1028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209800" y="26670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20</a:t>
            </a:r>
            <a:endParaRPr lang="en-US" dirty="0"/>
          </a:p>
        </p:txBody>
      </p:sp>
      <p:sp>
        <p:nvSpPr>
          <p:cNvPr id="27" name="Oval 26"/>
          <p:cNvSpPr/>
          <p:nvPr/>
        </p:nvSpPr>
        <p:spPr>
          <a:xfrm>
            <a:off x="6400800" y="26670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35</a:t>
            </a:r>
            <a:endParaRPr lang="en-US" dirty="0"/>
          </a:p>
        </p:txBody>
      </p:sp>
      <p:cxnSp>
        <p:nvCxnSpPr>
          <p:cNvPr id="30" name="Straight Connector 29"/>
          <p:cNvCxnSpPr>
            <a:stCxn id="25" idx="3"/>
            <a:endCxn id="34" idx="0"/>
          </p:cNvCxnSpPr>
          <p:nvPr/>
        </p:nvCxnSpPr>
        <p:spPr>
          <a:xfrm rot="5400000">
            <a:off x="1605780" y="3345305"/>
            <a:ext cx="916315" cy="470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33" idx="0"/>
            <a:endCxn id="25" idx="5"/>
          </p:cNvCxnSpPr>
          <p:nvPr/>
        </p:nvCxnSpPr>
        <p:spPr>
          <a:xfrm rot="16200000" flipV="1">
            <a:off x="2469006" y="3383406"/>
            <a:ext cx="916315" cy="3940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28194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23</a:t>
            </a:r>
            <a:endParaRPr lang="en-US" dirty="0"/>
          </a:p>
        </p:txBody>
      </p:sp>
      <p:sp>
        <p:nvSpPr>
          <p:cNvPr id="34" name="Oval 33"/>
          <p:cNvSpPr/>
          <p:nvPr/>
        </p:nvSpPr>
        <p:spPr>
          <a:xfrm>
            <a:off x="15240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10</a:t>
            </a:r>
            <a:endParaRPr lang="en-US" dirty="0"/>
          </a:p>
        </p:txBody>
      </p:sp>
      <p:cxnSp>
        <p:nvCxnSpPr>
          <p:cNvPr id="37" name="Straight Connector 36"/>
          <p:cNvCxnSpPr>
            <a:stCxn id="27" idx="3"/>
            <a:endCxn id="41" idx="0"/>
          </p:cNvCxnSpPr>
          <p:nvPr/>
        </p:nvCxnSpPr>
        <p:spPr>
          <a:xfrm rot="5400000">
            <a:off x="5606280" y="3154805"/>
            <a:ext cx="916315" cy="851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27" idx="5"/>
            <a:endCxn id="42" idx="0"/>
          </p:cNvCxnSpPr>
          <p:nvPr/>
        </p:nvCxnSpPr>
        <p:spPr>
          <a:xfrm rot="16200000" flipH="1">
            <a:off x="6888606" y="3154805"/>
            <a:ext cx="916315" cy="851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53340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29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74676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40</a:t>
            </a:r>
            <a:endParaRPr lang="en-US" dirty="0"/>
          </a:p>
        </p:txBody>
      </p:sp>
      <p:cxnSp>
        <p:nvCxnSpPr>
          <p:cNvPr id="55" name="Straight Connector 54"/>
          <p:cNvCxnSpPr>
            <a:endCxn id="58" idx="0"/>
          </p:cNvCxnSpPr>
          <p:nvPr/>
        </p:nvCxnSpPr>
        <p:spPr>
          <a:xfrm rot="5400000">
            <a:off x="6824522" y="4757879"/>
            <a:ext cx="994431" cy="470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57" idx="0"/>
          </p:cNvCxnSpPr>
          <p:nvPr/>
        </p:nvCxnSpPr>
        <p:spPr>
          <a:xfrm rot="16200000" flipV="1">
            <a:off x="7687748" y="4795980"/>
            <a:ext cx="994431" cy="3940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8077200" y="5490232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43</a:t>
            </a:r>
            <a:endParaRPr lang="en-US" dirty="0"/>
          </a:p>
        </p:txBody>
      </p:sp>
      <p:sp>
        <p:nvSpPr>
          <p:cNvPr id="58" name="Oval 57"/>
          <p:cNvSpPr/>
          <p:nvPr/>
        </p:nvSpPr>
        <p:spPr>
          <a:xfrm>
            <a:off x="6781800" y="5490232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37</a:t>
            </a:r>
            <a:endParaRPr lang="en-US" dirty="0"/>
          </a:p>
        </p:txBody>
      </p:sp>
      <p:cxnSp>
        <p:nvCxnSpPr>
          <p:cNvPr id="61" name="Straight Connector 60"/>
          <p:cNvCxnSpPr>
            <a:stCxn id="33" idx="4"/>
            <a:endCxn id="63" idx="0"/>
          </p:cNvCxnSpPr>
          <p:nvPr/>
        </p:nvCxnSpPr>
        <p:spPr>
          <a:xfrm rot="5400000">
            <a:off x="2362200" y="4724400"/>
            <a:ext cx="914400" cy="609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2209800" y="54864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22</a:t>
            </a:r>
            <a:endParaRPr lang="en-US" dirty="0"/>
          </a:p>
        </p:txBody>
      </p:sp>
      <p:sp>
        <p:nvSpPr>
          <p:cNvPr id="22" name="Down Arrow 21"/>
          <p:cNvSpPr/>
          <p:nvPr/>
        </p:nvSpPr>
        <p:spPr>
          <a:xfrm>
            <a:off x="4343400" y="990600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Down Arrow 22"/>
          <p:cNvSpPr/>
          <p:nvPr/>
        </p:nvSpPr>
        <p:spPr>
          <a:xfrm>
            <a:off x="2286000" y="2298192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Down Arrow 23"/>
          <p:cNvSpPr/>
          <p:nvPr/>
        </p:nvSpPr>
        <p:spPr>
          <a:xfrm>
            <a:off x="1600200" y="3669792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Down Arrow 25"/>
          <p:cNvSpPr/>
          <p:nvPr/>
        </p:nvSpPr>
        <p:spPr>
          <a:xfrm>
            <a:off x="2895600" y="3657600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Down Arrow 27"/>
          <p:cNvSpPr/>
          <p:nvPr/>
        </p:nvSpPr>
        <p:spPr>
          <a:xfrm>
            <a:off x="2258568" y="5117592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Down Arrow 28"/>
          <p:cNvSpPr/>
          <p:nvPr/>
        </p:nvSpPr>
        <p:spPr>
          <a:xfrm>
            <a:off x="6449568" y="2286000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Down Arrow 31"/>
          <p:cNvSpPr/>
          <p:nvPr/>
        </p:nvSpPr>
        <p:spPr>
          <a:xfrm>
            <a:off x="5382768" y="3657600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Down Arrow 34"/>
          <p:cNvSpPr/>
          <p:nvPr/>
        </p:nvSpPr>
        <p:spPr>
          <a:xfrm>
            <a:off x="7516368" y="3657600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Down Arrow 35"/>
          <p:cNvSpPr/>
          <p:nvPr/>
        </p:nvSpPr>
        <p:spPr>
          <a:xfrm>
            <a:off x="6830568" y="5105400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Down Arrow 37"/>
          <p:cNvSpPr/>
          <p:nvPr/>
        </p:nvSpPr>
        <p:spPr>
          <a:xfrm>
            <a:off x="8153400" y="5105400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3352800" y="6324600"/>
            <a:ext cx="3520516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10, 22, 23, 20, 29, 37, 43, 40, 35, 25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7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8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6" grpId="0" animBg="1"/>
      <p:bldP spid="26" grpId="1" animBg="1"/>
      <p:bldP spid="28" grpId="0" animBg="1"/>
      <p:bldP spid="28" grpId="1" animBg="1"/>
      <p:bldP spid="29" grpId="0" animBg="1"/>
      <p:bldP spid="29" grpId="1" animBg="1"/>
      <p:bldP spid="32" grpId="0" animBg="1"/>
      <p:bldP spid="32" grpId="1" animBg="1"/>
      <p:bldP spid="35" grpId="0" animBg="1"/>
      <p:bldP spid="35" grpId="1" animBg="1"/>
      <p:bldP spid="36" grpId="0" animBg="1"/>
      <p:bldP spid="36" grpId="1" animBg="1"/>
      <p:bldP spid="38" grpId="0" animBg="1"/>
      <p:bldP spid="38" grpId="1" animBg="1"/>
      <p:bldP spid="4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Search in BST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077200" cy="45259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If the BST is empty, then search is unsuccessful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If </a:t>
            </a:r>
            <a:r>
              <a:rPr lang="en-US" dirty="0" err="1" smtClean="0"/>
              <a:t>search_key</a:t>
            </a:r>
            <a:r>
              <a:rPr lang="en-US" dirty="0" smtClean="0"/>
              <a:t> is in the root node, then return root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If </a:t>
            </a:r>
            <a:r>
              <a:rPr lang="en-US" dirty="0" err="1" smtClean="0"/>
              <a:t>search_key</a:t>
            </a:r>
            <a:r>
              <a:rPr lang="en-US" dirty="0" smtClean="0"/>
              <a:t> &lt; Key in the root node, then </a:t>
            </a:r>
            <a:r>
              <a:rPr lang="en-US" dirty="0" err="1" smtClean="0"/>
              <a:t>search_key</a:t>
            </a:r>
            <a:r>
              <a:rPr lang="en-US" dirty="0" smtClean="0"/>
              <a:t> is searched in root-&gt;left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If </a:t>
            </a:r>
            <a:r>
              <a:rPr lang="en-US" dirty="0" err="1" smtClean="0"/>
              <a:t>search_key</a:t>
            </a:r>
            <a:r>
              <a:rPr lang="en-US" dirty="0" smtClean="0"/>
              <a:t> &gt; Key in the root node, then </a:t>
            </a:r>
            <a:r>
              <a:rPr lang="en-US" dirty="0" err="1" smtClean="0"/>
              <a:t>search_key</a:t>
            </a:r>
            <a:r>
              <a:rPr lang="en-US" dirty="0" smtClean="0"/>
              <a:t> is searched in root-&gt;right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Search (root, 37)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4267200" y="1371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25</a:t>
            </a:r>
            <a:endParaRPr lang="en-US" dirty="0"/>
          </a:p>
        </p:txBody>
      </p:sp>
      <p:cxnSp>
        <p:nvCxnSpPr>
          <p:cNvPr id="5" name="Straight Connector 4"/>
          <p:cNvCxnSpPr>
            <a:stCxn id="4" idx="2"/>
            <a:endCxn id="25" idx="0"/>
          </p:cNvCxnSpPr>
          <p:nvPr/>
        </p:nvCxnSpPr>
        <p:spPr>
          <a:xfrm rot="10800000" flipV="1">
            <a:off x="2514600" y="1638300"/>
            <a:ext cx="1752600" cy="1028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>
            <a:stCxn id="4" idx="6"/>
            <a:endCxn id="27" idx="0"/>
          </p:cNvCxnSpPr>
          <p:nvPr/>
        </p:nvCxnSpPr>
        <p:spPr>
          <a:xfrm>
            <a:off x="4876800" y="1638300"/>
            <a:ext cx="1828800" cy="1028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209800" y="26670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20</a:t>
            </a:r>
            <a:endParaRPr lang="en-US" dirty="0"/>
          </a:p>
        </p:txBody>
      </p:sp>
      <p:sp>
        <p:nvSpPr>
          <p:cNvPr id="27" name="Oval 26"/>
          <p:cNvSpPr/>
          <p:nvPr/>
        </p:nvSpPr>
        <p:spPr>
          <a:xfrm>
            <a:off x="6400800" y="26670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35</a:t>
            </a:r>
            <a:endParaRPr lang="en-US" dirty="0"/>
          </a:p>
        </p:txBody>
      </p:sp>
      <p:cxnSp>
        <p:nvCxnSpPr>
          <p:cNvPr id="30" name="Straight Connector 29"/>
          <p:cNvCxnSpPr>
            <a:stCxn id="25" idx="3"/>
            <a:endCxn id="34" idx="0"/>
          </p:cNvCxnSpPr>
          <p:nvPr/>
        </p:nvCxnSpPr>
        <p:spPr>
          <a:xfrm rot="5400000">
            <a:off x="1605780" y="3345305"/>
            <a:ext cx="916315" cy="470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33" idx="0"/>
            <a:endCxn id="25" idx="5"/>
          </p:cNvCxnSpPr>
          <p:nvPr/>
        </p:nvCxnSpPr>
        <p:spPr>
          <a:xfrm rot="16200000" flipV="1">
            <a:off x="2469006" y="3383406"/>
            <a:ext cx="916315" cy="3940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28194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23</a:t>
            </a:r>
            <a:endParaRPr lang="en-US" dirty="0"/>
          </a:p>
        </p:txBody>
      </p:sp>
      <p:sp>
        <p:nvSpPr>
          <p:cNvPr id="34" name="Oval 33"/>
          <p:cNvSpPr/>
          <p:nvPr/>
        </p:nvSpPr>
        <p:spPr>
          <a:xfrm>
            <a:off x="15240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10</a:t>
            </a:r>
            <a:endParaRPr lang="en-US" dirty="0"/>
          </a:p>
        </p:txBody>
      </p:sp>
      <p:cxnSp>
        <p:nvCxnSpPr>
          <p:cNvPr id="37" name="Straight Connector 36"/>
          <p:cNvCxnSpPr>
            <a:stCxn id="27" idx="3"/>
            <a:endCxn id="41" idx="0"/>
          </p:cNvCxnSpPr>
          <p:nvPr/>
        </p:nvCxnSpPr>
        <p:spPr>
          <a:xfrm rot="5400000">
            <a:off x="5606280" y="3154805"/>
            <a:ext cx="916315" cy="851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27" idx="5"/>
            <a:endCxn id="42" idx="0"/>
          </p:cNvCxnSpPr>
          <p:nvPr/>
        </p:nvCxnSpPr>
        <p:spPr>
          <a:xfrm rot="16200000" flipH="1">
            <a:off x="6888606" y="3154805"/>
            <a:ext cx="916315" cy="851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53340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29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74676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40</a:t>
            </a:r>
            <a:endParaRPr lang="en-US" dirty="0"/>
          </a:p>
        </p:txBody>
      </p:sp>
      <p:cxnSp>
        <p:nvCxnSpPr>
          <p:cNvPr id="55" name="Straight Connector 54"/>
          <p:cNvCxnSpPr>
            <a:endCxn id="58" idx="0"/>
          </p:cNvCxnSpPr>
          <p:nvPr/>
        </p:nvCxnSpPr>
        <p:spPr>
          <a:xfrm rot="5400000">
            <a:off x="6824522" y="4757879"/>
            <a:ext cx="994431" cy="470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57" idx="0"/>
          </p:cNvCxnSpPr>
          <p:nvPr/>
        </p:nvCxnSpPr>
        <p:spPr>
          <a:xfrm rot="16200000" flipV="1">
            <a:off x="7687748" y="4795980"/>
            <a:ext cx="994431" cy="3940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8077200" y="5490232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43</a:t>
            </a:r>
            <a:endParaRPr lang="en-US" dirty="0"/>
          </a:p>
        </p:txBody>
      </p:sp>
      <p:sp>
        <p:nvSpPr>
          <p:cNvPr id="58" name="Oval 57"/>
          <p:cNvSpPr/>
          <p:nvPr/>
        </p:nvSpPr>
        <p:spPr>
          <a:xfrm>
            <a:off x="6781800" y="5490232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37</a:t>
            </a:r>
            <a:endParaRPr lang="en-US" dirty="0"/>
          </a:p>
        </p:txBody>
      </p:sp>
      <p:cxnSp>
        <p:nvCxnSpPr>
          <p:cNvPr id="61" name="Straight Connector 60"/>
          <p:cNvCxnSpPr>
            <a:stCxn id="33" idx="4"/>
            <a:endCxn id="63" idx="0"/>
          </p:cNvCxnSpPr>
          <p:nvPr/>
        </p:nvCxnSpPr>
        <p:spPr>
          <a:xfrm rot="5400000">
            <a:off x="2362200" y="4724400"/>
            <a:ext cx="914400" cy="609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2209800" y="54864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22</a:t>
            </a:r>
            <a:endParaRPr lang="en-US" dirty="0"/>
          </a:p>
        </p:txBody>
      </p:sp>
      <p:sp>
        <p:nvSpPr>
          <p:cNvPr id="22" name="Down Arrow 21"/>
          <p:cNvSpPr/>
          <p:nvPr/>
        </p:nvSpPr>
        <p:spPr>
          <a:xfrm>
            <a:off x="4343400" y="990600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Down Arrow 28"/>
          <p:cNvSpPr/>
          <p:nvPr/>
        </p:nvSpPr>
        <p:spPr>
          <a:xfrm>
            <a:off x="6449568" y="2286000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Down Arrow 34"/>
          <p:cNvSpPr/>
          <p:nvPr/>
        </p:nvSpPr>
        <p:spPr>
          <a:xfrm>
            <a:off x="7516368" y="3657600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Down Arrow 35"/>
          <p:cNvSpPr/>
          <p:nvPr/>
        </p:nvSpPr>
        <p:spPr>
          <a:xfrm>
            <a:off x="6830568" y="5105400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2" grpId="1" animBg="1"/>
      <p:bldP spid="29" grpId="0" animBg="1"/>
      <p:bldP spid="29" grpId="1" animBg="1"/>
      <p:bldP spid="35" grpId="0" animBg="1"/>
      <p:bldP spid="35" grpId="1" animBg="1"/>
      <p:bldP spid="36" grpId="0" animBg="1"/>
      <p:bldP spid="36" grpId="1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Search in BST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smtClean="0"/>
              <a:t>node *search(node *root, </a:t>
            </a:r>
            <a:r>
              <a:rPr lang="en-US" dirty="0" err="1" smtClean="0"/>
              <a:t>int</a:t>
            </a:r>
            <a:r>
              <a:rPr lang="en-US" dirty="0" smtClean="0"/>
              <a:t> data)</a:t>
            </a:r>
          </a:p>
          <a:p>
            <a:pPr>
              <a:buNone/>
            </a:pPr>
            <a:r>
              <a:rPr lang="en-US" dirty="0" smtClean="0"/>
              <a:t>{</a:t>
            </a:r>
          </a:p>
          <a:p>
            <a:pPr>
              <a:buNone/>
            </a:pPr>
            <a:r>
              <a:rPr lang="en-US" dirty="0" smtClean="0"/>
              <a:t>    if(root == NULL || root-&gt;data == data) 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	return root;</a:t>
            </a:r>
          </a:p>
          <a:p>
            <a:pPr>
              <a:buNone/>
            </a:pPr>
            <a:r>
              <a:rPr lang="en-US" dirty="0" smtClean="0"/>
              <a:t>    else </a:t>
            </a:r>
            <a:r>
              <a:rPr lang="en-US" dirty="0"/>
              <a:t>if(data &lt; root-&gt;data) </a:t>
            </a:r>
            <a:endParaRPr lang="en-US" dirty="0" smtClean="0"/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	return search(root-&gt;left, data);</a:t>
            </a:r>
          </a:p>
          <a:p>
            <a:pPr>
              <a:buNone/>
            </a:pPr>
            <a:r>
              <a:rPr lang="en-US" dirty="0" smtClean="0"/>
              <a:t>    else 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	return search(root-&gt;right, data);</a:t>
            </a:r>
          </a:p>
          <a:p>
            <a:pPr>
              <a:buNone/>
            </a:pPr>
            <a:r>
              <a:rPr lang="en-US" dirty="0" smtClean="0"/>
              <a:t>}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Insertion in BST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If the BST is empty, then create a node and it will be the root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If </a:t>
            </a:r>
            <a:r>
              <a:rPr lang="en-US" dirty="0" err="1" smtClean="0"/>
              <a:t>insert_key</a:t>
            </a:r>
            <a:r>
              <a:rPr lang="en-US" dirty="0" smtClean="0"/>
              <a:t> &lt; Key in the root node, then </a:t>
            </a:r>
            <a:r>
              <a:rPr lang="en-US" dirty="0" err="1" smtClean="0"/>
              <a:t>insert_key</a:t>
            </a:r>
            <a:r>
              <a:rPr lang="en-US" dirty="0" smtClean="0"/>
              <a:t> will be inserted in root-&gt;left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If </a:t>
            </a:r>
            <a:r>
              <a:rPr lang="en-US" dirty="0" err="1" smtClean="0"/>
              <a:t>insert_key</a:t>
            </a:r>
            <a:r>
              <a:rPr lang="en-US" dirty="0" smtClean="0"/>
              <a:t> &gt; Key in the root node, then </a:t>
            </a:r>
            <a:r>
              <a:rPr lang="en-US" dirty="0" err="1" smtClean="0"/>
              <a:t>insert_key</a:t>
            </a:r>
            <a:r>
              <a:rPr lang="en-US" dirty="0" smtClean="0"/>
              <a:t> will be inserted in root-&gt;right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Insert(root, 32)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4267200" y="1371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25</a:t>
            </a:r>
            <a:endParaRPr lang="en-US" dirty="0"/>
          </a:p>
        </p:txBody>
      </p:sp>
      <p:cxnSp>
        <p:nvCxnSpPr>
          <p:cNvPr id="5" name="Straight Connector 4"/>
          <p:cNvCxnSpPr>
            <a:stCxn id="4" idx="2"/>
            <a:endCxn id="25" idx="0"/>
          </p:cNvCxnSpPr>
          <p:nvPr/>
        </p:nvCxnSpPr>
        <p:spPr>
          <a:xfrm rot="10800000" flipV="1">
            <a:off x="2514600" y="1638300"/>
            <a:ext cx="1752600" cy="1028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>
            <a:stCxn id="4" idx="6"/>
            <a:endCxn id="27" idx="0"/>
          </p:cNvCxnSpPr>
          <p:nvPr/>
        </p:nvCxnSpPr>
        <p:spPr>
          <a:xfrm>
            <a:off x="4876800" y="1638300"/>
            <a:ext cx="1828800" cy="1028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209800" y="26670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20</a:t>
            </a:r>
            <a:endParaRPr lang="en-US" dirty="0"/>
          </a:p>
        </p:txBody>
      </p:sp>
      <p:sp>
        <p:nvSpPr>
          <p:cNvPr id="27" name="Oval 26"/>
          <p:cNvSpPr/>
          <p:nvPr/>
        </p:nvSpPr>
        <p:spPr>
          <a:xfrm>
            <a:off x="6400800" y="26670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35</a:t>
            </a:r>
            <a:endParaRPr lang="en-US" dirty="0"/>
          </a:p>
        </p:txBody>
      </p:sp>
      <p:cxnSp>
        <p:nvCxnSpPr>
          <p:cNvPr id="30" name="Straight Connector 29"/>
          <p:cNvCxnSpPr>
            <a:stCxn id="25" idx="3"/>
            <a:endCxn id="34" idx="0"/>
          </p:cNvCxnSpPr>
          <p:nvPr/>
        </p:nvCxnSpPr>
        <p:spPr>
          <a:xfrm rot="5400000">
            <a:off x="1605780" y="3345305"/>
            <a:ext cx="916315" cy="470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33" idx="0"/>
            <a:endCxn id="25" idx="5"/>
          </p:cNvCxnSpPr>
          <p:nvPr/>
        </p:nvCxnSpPr>
        <p:spPr>
          <a:xfrm rot="16200000" flipV="1">
            <a:off x="2469006" y="3383406"/>
            <a:ext cx="916315" cy="3940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28194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23</a:t>
            </a:r>
            <a:endParaRPr lang="en-US" dirty="0"/>
          </a:p>
        </p:txBody>
      </p:sp>
      <p:sp>
        <p:nvSpPr>
          <p:cNvPr id="34" name="Oval 33"/>
          <p:cNvSpPr/>
          <p:nvPr/>
        </p:nvSpPr>
        <p:spPr>
          <a:xfrm>
            <a:off x="15240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10</a:t>
            </a:r>
            <a:endParaRPr lang="en-US" dirty="0"/>
          </a:p>
        </p:txBody>
      </p:sp>
      <p:cxnSp>
        <p:nvCxnSpPr>
          <p:cNvPr id="37" name="Straight Connector 36"/>
          <p:cNvCxnSpPr>
            <a:stCxn id="27" idx="3"/>
            <a:endCxn id="41" idx="0"/>
          </p:cNvCxnSpPr>
          <p:nvPr/>
        </p:nvCxnSpPr>
        <p:spPr>
          <a:xfrm rot="5400000">
            <a:off x="5606280" y="3154805"/>
            <a:ext cx="916315" cy="851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27" idx="5"/>
            <a:endCxn id="42" idx="0"/>
          </p:cNvCxnSpPr>
          <p:nvPr/>
        </p:nvCxnSpPr>
        <p:spPr>
          <a:xfrm rot="16200000" flipH="1">
            <a:off x="6888606" y="3154805"/>
            <a:ext cx="916315" cy="851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53340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29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74676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40</a:t>
            </a:r>
            <a:endParaRPr lang="en-US" dirty="0"/>
          </a:p>
        </p:txBody>
      </p:sp>
      <p:cxnSp>
        <p:nvCxnSpPr>
          <p:cNvPr id="55" name="Straight Connector 54"/>
          <p:cNvCxnSpPr>
            <a:endCxn id="58" idx="0"/>
          </p:cNvCxnSpPr>
          <p:nvPr/>
        </p:nvCxnSpPr>
        <p:spPr>
          <a:xfrm rot="5400000">
            <a:off x="6824522" y="4757879"/>
            <a:ext cx="994431" cy="470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57" idx="0"/>
          </p:cNvCxnSpPr>
          <p:nvPr/>
        </p:nvCxnSpPr>
        <p:spPr>
          <a:xfrm rot="16200000" flipV="1">
            <a:off x="7687748" y="4795980"/>
            <a:ext cx="994431" cy="3940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8077200" y="5490232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43</a:t>
            </a:r>
            <a:endParaRPr lang="en-US" dirty="0"/>
          </a:p>
        </p:txBody>
      </p:sp>
      <p:sp>
        <p:nvSpPr>
          <p:cNvPr id="58" name="Oval 57"/>
          <p:cNvSpPr/>
          <p:nvPr/>
        </p:nvSpPr>
        <p:spPr>
          <a:xfrm>
            <a:off x="6781800" y="5490232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37</a:t>
            </a:r>
            <a:endParaRPr lang="en-US" dirty="0"/>
          </a:p>
        </p:txBody>
      </p:sp>
      <p:cxnSp>
        <p:nvCxnSpPr>
          <p:cNvPr id="61" name="Straight Connector 60"/>
          <p:cNvCxnSpPr>
            <a:stCxn id="33" idx="4"/>
            <a:endCxn id="63" idx="0"/>
          </p:cNvCxnSpPr>
          <p:nvPr/>
        </p:nvCxnSpPr>
        <p:spPr>
          <a:xfrm rot="5400000">
            <a:off x="2362200" y="4724400"/>
            <a:ext cx="914400" cy="609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2209800" y="54864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22</a:t>
            </a:r>
            <a:endParaRPr lang="en-US" dirty="0"/>
          </a:p>
        </p:txBody>
      </p:sp>
      <p:sp>
        <p:nvSpPr>
          <p:cNvPr id="22" name="Down Arrow 21"/>
          <p:cNvSpPr/>
          <p:nvPr/>
        </p:nvSpPr>
        <p:spPr>
          <a:xfrm>
            <a:off x="4343400" y="990600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Down Arrow 28"/>
          <p:cNvSpPr/>
          <p:nvPr/>
        </p:nvSpPr>
        <p:spPr>
          <a:xfrm>
            <a:off x="6449568" y="2286000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Down Arrow 25"/>
          <p:cNvSpPr/>
          <p:nvPr/>
        </p:nvSpPr>
        <p:spPr>
          <a:xfrm>
            <a:off x="5334000" y="3669792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5943600" y="54864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32</a:t>
            </a:r>
            <a:endParaRPr lang="en-US" dirty="0"/>
          </a:p>
        </p:txBody>
      </p:sp>
      <p:cxnSp>
        <p:nvCxnSpPr>
          <p:cNvPr id="38" name="Straight Connector 37"/>
          <p:cNvCxnSpPr>
            <a:stCxn id="41" idx="5"/>
            <a:endCxn id="28" idx="0"/>
          </p:cNvCxnSpPr>
          <p:nvPr/>
        </p:nvCxnSpPr>
        <p:spPr>
          <a:xfrm rot="16200000" flipH="1">
            <a:off x="5555106" y="4793105"/>
            <a:ext cx="992515" cy="3940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2" grpId="1" animBg="1"/>
      <p:bldP spid="29" grpId="0" animBg="1"/>
      <p:bldP spid="29" grpId="1" animBg="1"/>
      <p:bldP spid="26" grpId="0" animBg="1"/>
      <p:bldP spid="26" grpId="1" animBg="1"/>
      <p:bldP spid="2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Insertion in BST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810000" cy="4525963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 smtClean="0"/>
              <a:t>node *</a:t>
            </a:r>
            <a:r>
              <a:rPr lang="en-US" dirty="0" err="1" smtClean="0"/>
              <a:t>createNode</a:t>
            </a:r>
            <a:r>
              <a:rPr lang="en-US" dirty="0" smtClean="0"/>
              <a:t>(</a:t>
            </a:r>
            <a:r>
              <a:rPr lang="en-US" dirty="0" err="1" smtClean="0"/>
              <a:t>int</a:t>
            </a:r>
            <a:r>
              <a:rPr lang="en-US" dirty="0" smtClean="0"/>
              <a:t> data)</a:t>
            </a:r>
          </a:p>
          <a:p>
            <a:pPr>
              <a:buNone/>
            </a:pPr>
            <a:r>
              <a:rPr lang="en-US" dirty="0" smtClean="0"/>
              <a:t>{</a:t>
            </a:r>
          </a:p>
          <a:p>
            <a:pPr>
              <a:buNone/>
            </a:pPr>
            <a:r>
              <a:rPr lang="en-US" dirty="0" smtClean="0"/>
              <a:t>     node *n = (node *)</a:t>
            </a:r>
            <a:r>
              <a:rPr lang="en-US" dirty="0" err="1" smtClean="0"/>
              <a:t>malloc</a:t>
            </a:r>
            <a:r>
              <a:rPr lang="en-US" dirty="0" smtClean="0"/>
              <a:t>(</a:t>
            </a:r>
            <a:r>
              <a:rPr lang="en-US" dirty="0" err="1" smtClean="0"/>
              <a:t>sizeof</a:t>
            </a:r>
            <a:r>
              <a:rPr lang="en-US" dirty="0" smtClean="0"/>
              <a:t>(node));</a:t>
            </a:r>
          </a:p>
          <a:p>
            <a:pPr>
              <a:buNone/>
            </a:pPr>
            <a:r>
              <a:rPr lang="en-US" dirty="0" smtClean="0"/>
              <a:t>     n-&gt;data = data;</a:t>
            </a:r>
          </a:p>
          <a:p>
            <a:pPr>
              <a:buNone/>
            </a:pPr>
            <a:r>
              <a:rPr lang="en-US" dirty="0" smtClean="0"/>
              <a:t>     n-&gt;left = NULL;</a:t>
            </a:r>
          </a:p>
          <a:p>
            <a:pPr>
              <a:buNone/>
            </a:pPr>
            <a:r>
              <a:rPr lang="en-US" dirty="0" smtClean="0"/>
              <a:t>     n-&gt;right = NULL;</a:t>
            </a:r>
          </a:p>
          <a:p>
            <a:pPr>
              <a:buNone/>
            </a:pPr>
            <a:r>
              <a:rPr lang="en-US" dirty="0" smtClean="0"/>
              <a:t>     return n;</a:t>
            </a:r>
          </a:p>
          <a:p>
            <a:pPr>
              <a:buNone/>
            </a:pPr>
            <a:r>
              <a:rPr lang="en-US" dirty="0" smtClean="0"/>
              <a:t>}</a:t>
            </a:r>
          </a:p>
          <a:p>
            <a:pPr>
              <a:buNone/>
            </a:pPr>
            <a:endParaRPr lang="en-US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4419600" y="4267200"/>
            <a:ext cx="3733073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&amp;</a:t>
            </a:r>
            <a:r>
              <a:rPr lang="en-US" b="1" dirty="0" err="1" smtClean="0"/>
              <a:t>left_subtree</a:t>
            </a:r>
            <a:r>
              <a:rPr lang="en-US" b="1" dirty="0" smtClean="0"/>
              <a:t>   Data   &amp;</a:t>
            </a:r>
            <a:r>
              <a:rPr lang="en-US" b="1" dirty="0" err="1" smtClean="0"/>
              <a:t>right_subtree</a:t>
            </a:r>
            <a:endParaRPr lang="en-US" b="1" dirty="0"/>
          </a:p>
        </p:txBody>
      </p:sp>
      <p:cxnSp>
        <p:nvCxnSpPr>
          <p:cNvPr id="6" name="Straight Connector 5"/>
          <p:cNvCxnSpPr/>
          <p:nvPr/>
        </p:nvCxnSpPr>
        <p:spPr>
          <a:xfrm rot="5400000">
            <a:off x="5677694" y="4457700"/>
            <a:ext cx="381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rot="5400000">
            <a:off x="6286500" y="4457700"/>
            <a:ext cx="381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Insertion in BST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10600" cy="4525963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dirty="0" smtClean="0"/>
              <a:t>node *insert(node *root, </a:t>
            </a:r>
            <a:r>
              <a:rPr lang="en-US" dirty="0" err="1" smtClean="0"/>
              <a:t>int</a:t>
            </a:r>
            <a:r>
              <a:rPr lang="en-US" dirty="0" smtClean="0"/>
              <a:t> data)</a:t>
            </a:r>
          </a:p>
          <a:p>
            <a:pPr>
              <a:buNone/>
            </a:pPr>
            <a:r>
              <a:rPr lang="en-US" dirty="0" smtClean="0"/>
              <a:t>{</a:t>
            </a:r>
          </a:p>
          <a:p>
            <a:pPr>
              <a:buNone/>
            </a:pPr>
            <a:r>
              <a:rPr lang="en-US" dirty="0" smtClean="0"/>
              <a:t>     if(root == NULL)   root = </a:t>
            </a:r>
            <a:r>
              <a:rPr lang="en-US" dirty="0" err="1" smtClean="0"/>
              <a:t>createNode</a:t>
            </a:r>
            <a:r>
              <a:rPr lang="en-US" dirty="0" smtClean="0"/>
              <a:t>(data);</a:t>
            </a:r>
          </a:p>
          <a:p>
            <a:pPr>
              <a:buNone/>
            </a:pPr>
            <a:r>
              <a:rPr lang="en-US" dirty="0" smtClean="0"/>
              <a:t>     else if(data &lt; root-&gt;data) root-&gt;left = insert(root-&gt; left, data);</a:t>
            </a:r>
          </a:p>
          <a:p>
            <a:pPr>
              <a:buNone/>
            </a:pPr>
            <a:r>
              <a:rPr lang="en-US" dirty="0" smtClean="0"/>
              <a:t>     else if(data &gt; root-&gt;data) root-&gt;right = insert(root-&gt;right, data);</a:t>
            </a:r>
          </a:p>
          <a:p>
            <a:pPr>
              <a:buNone/>
            </a:pPr>
            <a:r>
              <a:rPr lang="en-US" dirty="0" smtClean="0"/>
              <a:t>     return root;</a:t>
            </a:r>
          </a:p>
          <a:p>
            <a:pPr>
              <a:buNone/>
            </a:pPr>
            <a:r>
              <a:rPr lang="en-US" dirty="0" smtClean="0"/>
              <a:t>}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From main(): </a:t>
            </a:r>
          </a:p>
          <a:p>
            <a:pPr>
              <a:buNone/>
            </a:pPr>
            <a:r>
              <a:rPr lang="en-US" dirty="0"/>
              <a:t>n</a:t>
            </a:r>
            <a:r>
              <a:rPr lang="en-US" dirty="0" smtClean="0"/>
              <a:t>ode *root = NULL;</a:t>
            </a:r>
          </a:p>
          <a:p>
            <a:pPr>
              <a:buNone/>
            </a:pPr>
            <a:r>
              <a:rPr lang="en-US" dirty="0"/>
              <a:t>f</a:t>
            </a:r>
            <a:r>
              <a:rPr lang="en-US" dirty="0" smtClean="0"/>
              <a:t>or(</a:t>
            </a:r>
            <a:r>
              <a:rPr lang="en-US" dirty="0" err="1" smtClean="0"/>
              <a:t>i</a:t>
            </a:r>
            <a:r>
              <a:rPr lang="en-US" dirty="0" smtClean="0"/>
              <a:t> = 0; </a:t>
            </a:r>
            <a:r>
              <a:rPr lang="en-US" dirty="0" err="1" smtClean="0"/>
              <a:t>i</a:t>
            </a:r>
            <a:r>
              <a:rPr lang="en-US" dirty="0" smtClean="0"/>
              <a:t> &lt; n; </a:t>
            </a:r>
            <a:r>
              <a:rPr lang="en-US" dirty="0" err="1" smtClean="0"/>
              <a:t>i</a:t>
            </a:r>
            <a:r>
              <a:rPr lang="en-US" dirty="0" smtClean="0"/>
              <a:t>++)</a:t>
            </a:r>
          </a:p>
          <a:p>
            <a:pPr>
              <a:buNone/>
            </a:pPr>
            <a:r>
              <a:rPr lang="en-US" dirty="0" smtClean="0"/>
              <a:t>	root = insert(root, a[</a:t>
            </a:r>
            <a:r>
              <a:rPr lang="en-US" dirty="0" err="1" smtClean="0"/>
              <a:t>i</a:t>
            </a:r>
            <a:r>
              <a:rPr lang="en-US" dirty="0" smtClean="0"/>
              <a:t>]);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Insertion at BST: 10, 20, 5, 15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2971800" y="1600200"/>
            <a:ext cx="1555234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500   10   2000</a:t>
            </a:r>
            <a:endParaRPr lang="en-US" b="1" dirty="0"/>
          </a:p>
        </p:txBody>
      </p:sp>
      <p:cxnSp>
        <p:nvCxnSpPr>
          <p:cNvPr id="5" name="Straight Connector 4"/>
          <p:cNvCxnSpPr/>
          <p:nvPr/>
        </p:nvCxnSpPr>
        <p:spPr>
          <a:xfrm rot="5400000">
            <a:off x="3315494" y="1790700"/>
            <a:ext cx="381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rot="5400000">
            <a:off x="3696494" y="1790700"/>
            <a:ext cx="381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447801" y="1600200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Root=1000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5658233" y="2285206"/>
            <a:ext cx="1702710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1500   20   NULL</a:t>
            </a:r>
            <a:endParaRPr lang="en-US" b="1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6152739" y="2475706"/>
            <a:ext cx="381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5400000">
            <a:off x="6535327" y="2475706"/>
            <a:ext cx="381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81000" y="2286000"/>
            <a:ext cx="1616148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NULL   5   NULL</a:t>
            </a:r>
            <a:endParaRPr lang="en-US" b="1" dirty="0"/>
          </a:p>
        </p:txBody>
      </p:sp>
      <p:cxnSp>
        <p:nvCxnSpPr>
          <p:cNvPr id="12" name="Straight Connector 11"/>
          <p:cNvCxnSpPr/>
          <p:nvPr/>
        </p:nvCxnSpPr>
        <p:spPr>
          <a:xfrm rot="5400000">
            <a:off x="875506" y="2476500"/>
            <a:ext cx="381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rot="5400000">
            <a:off x="1181894" y="2475706"/>
            <a:ext cx="381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648200" y="3352006"/>
            <a:ext cx="1733167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NULL   15   NULL</a:t>
            </a:r>
            <a:endParaRPr lang="en-US" b="1" dirty="0"/>
          </a:p>
        </p:txBody>
      </p:sp>
      <p:cxnSp>
        <p:nvCxnSpPr>
          <p:cNvPr id="15" name="Straight Connector 14"/>
          <p:cNvCxnSpPr/>
          <p:nvPr/>
        </p:nvCxnSpPr>
        <p:spPr>
          <a:xfrm rot="5400000">
            <a:off x="5142706" y="3542506"/>
            <a:ext cx="381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rot="5400000">
            <a:off x="5525294" y="3542506"/>
            <a:ext cx="381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81777" y="2678668"/>
            <a:ext cx="1304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5</a:t>
            </a:r>
            <a:r>
              <a:rPr lang="en-IN" dirty="0" smtClean="0"/>
              <a:t>00</a:t>
            </a:r>
            <a:endParaRPr lang="en-IN" dirty="0"/>
          </a:p>
        </p:txBody>
      </p:sp>
      <p:sp>
        <p:nvSpPr>
          <p:cNvPr id="18" name="TextBox 17"/>
          <p:cNvSpPr txBox="1"/>
          <p:nvPr/>
        </p:nvSpPr>
        <p:spPr>
          <a:xfrm>
            <a:off x="5248977" y="3821668"/>
            <a:ext cx="1304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1500</a:t>
            </a:r>
            <a:endParaRPr lang="en-IN" dirty="0"/>
          </a:p>
        </p:txBody>
      </p:sp>
      <p:sp>
        <p:nvSpPr>
          <p:cNvPr id="19" name="TextBox 18"/>
          <p:cNvSpPr txBox="1"/>
          <p:nvPr/>
        </p:nvSpPr>
        <p:spPr>
          <a:xfrm>
            <a:off x="6096000" y="2590800"/>
            <a:ext cx="1304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2000</a:t>
            </a:r>
            <a:endParaRPr lang="en-IN" dirty="0"/>
          </a:p>
        </p:txBody>
      </p:sp>
      <p:cxnSp>
        <p:nvCxnSpPr>
          <p:cNvPr id="21" name="Straight Arrow Connector 20"/>
          <p:cNvCxnSpPr>
            <a:endCxn id="11" idx="0"/>
          </p:cNvCxnSpPr>
          <p:nvPr/>
        </p:nvCxnSpPr>
        <p:spPr>
          <a:xfrm flipH="1">
            <a:off x="1189074" y="1969532"/>
            <a:ext cx="2011326" cy="3164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endCxn id="8" idx="0"/>
          </p:cNvCxnSpPr>
          <p:nvPr/>
        </p:nvCxnSpPr>
        <p:spPr>
          <a:xfrm>
            <a:off x="4114800" y="1969532"/>
            <a:ext cx="2394788" cy="3156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endCxn id="14" idx="0"/>
          </p:cNvCxnSpPr>
          <p:nvPr/>
        </p:nvCxnSpPr>
        <p:spPr>
          <a:xfrm flipH="1">
            <a:off x="5514784" y="2654538"/>
            <a:ext cx="352616" cy="6974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7646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Deletion in BST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dirty="0" smtClean="0"/>
              <a:t>node *delete(node *root, </a:t>
            </a:r>
            <a:r>
              <a:rPr lang="en-US" dirty="0" err="1" smtClean="0"/>
              <a:t>int</a:t>
            </a:r>
            <a:r>
              <a:rPr lang="en-US" dirty="0" smtClean="0"/>
              <a:t> data)</a:t>
            </a:r>
          </a:p>
          <a:p>
            <a:pPr>
              <a:buNone/>
            </a:pPr>
            <a:r>
              <a:rPr lang="en-US" dirty="0" smtClean="0"/>
              <a:t>{</a:t>
            </a:r>
          </a:p>
          <a:p>
            <a:pPr>
              <a:buNone/>
            </a:pPr>
            <a:r>
              <a:rPr lang="en-US" dirty="0" smtClean="0"/>
              <a:t>    if(root == NULL)      return NULL;</a:t>
            </a:r>
          </a:p>
          <a:p>
            <a:pPr>
              <a:buNone/>
            </a:pPr>
            <a:r>
              <a:rPr lang="en-US" dirty="0" smtClean="0"/>
              <a:t>    else if(data &lt; root-&gt;data)  root-&gt;left = delete(root-&gt;left, data);</a:t>
            </a:r>
          </a:p>
          <a:p>
            <a:pPr>
              <a:buNone/>
            </a:pPr>
            <a:r>
              <a:rPr lang="en-US" dirty="0" smtClean="0"/>
              <a:t>    else if(data &gt; root-&gt;data) root-&gt;right = delete(root-&gt;right, data);</a:t>
            </a:r>
          </a:p>
          <a:p>
            <a:pPr>
              <a:buNone/>
            </a:pPr>
            <a:r>
              <a:rPr lang="en-US" dirty="0" smtClean="0"/>
              <a:t>    else { // data == root-&gt;data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           </a:t>
            </a:r>
            <a:r>
              <a:rPr lang="en-US" dirty="0" smtClean="0">
                <a:solidFill>
                  <a:srgbClr val="00B050"/>
                </a:solidFill>
              </a:rPr>
              <a:t>Actual Code for Deletion</a:t>
            </a:r>
          </a:p>
          <a:p>
            <a:pPr>
              <a:buNone/>
            </a:pP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smtClean="0">
                <a:solidFill>
                  <a:srgbClr val="00B050"/>
                </a:solidFill>
              </a:rPr>
              <a:t>          Case 1: The node to be deleted is </a:t>
            </a:r>
            <a:r>
              <a:rPr lang="en-US" dirty="0">
                <a:solidFill>
                  <a:srgbClr val="00B050"/>
                </a:solidFill>
              </a:rPr>
              <a:t>a</a:t>
            </a:r>
            <a:r>
              <a:rPr lang="en-US" dirty="0" smtClean="0">
                <a:solidFill>
                  <a:srgbClr val="00B050"/>
                </a:solidFill>
              </a:rPr>
              <a:t> leaf node</a:t>
            </a:r>
          </a:p>
          <a:p>
            <a:pPr>
              <a:buNone/>
            </a:pPr>
            <a:r>
              <a:rPr lang="en-US" dirty="0">
                <a:solidFill>
                  <a:srgbClr val="00B050"/>
                </a:solidFill>
              </a:rPr>
              <a:t>	</a:t>
            </a:r>
            <a:r>
              <a:rPr lang="en-US" dirty="0" smtClean="0">
                <a:solidFill>
                  <a:srgbClr val="00B050"/>
                </a:solidFill>
              </a:rPr>
              <a:t>      Case 2: The node to be deleted has a single child</a:t>
            </a:r>
          </a:p>
          <a:p>
            <a:pPr>
              <a:buNone/>
            </a:pPr>
            <a:r>
              <a:rPr lang="en-US" dirty="0">
                <a:solidFill>
                  <a:srgbClr val="00B050"/>
                </a:solidFill>
              </a:rPr>
              <a:t>	 </a:t>
            </a:r>
            <a:r>
              <a:rPr lang="en-US" dirty="0" smtClean="0">
                <a:solidFill>
                  <a:srgbClr val="00B050"/>
                </a:solidFill>
              </a:rPr>
              <a:t>     Case 3: </a:t>
            </a:r>
            <a:r>
              <a:rPr lang="en-US" dirty="0">
                <a:solidFill>
                  <a:srgbClr val="00B050"/>
                </a:solidFill>
              </a:rPr>
              <a:t>The node to be deleted </a:t>
            </a:r>
            <a:r>
              <a:rPr lang="en-US" dirty="0" smtClean="0">
                <a:solidFill>
                  <a:srgbClr val="00B050"/>
                </a:solidFill>
              </a:rPr>
              <a:t>has two children</a:t>
            </a:r>
          </a:p>
          <a:p>
            <a:pPr>
              <a:buNone/>
            </a:pPr>
            <a:r>
              <a:rPr lang="en-US" dirty="0" smtClean="0"/>
              <a:t>     }</a:t>
            </a:r>
          </a:p>
          <a:p>
            <a:pPr>
              <a:buNone/>
            </a:pPr>
            <a:r>
              <a:rPr lang="en-US" dirty="0" smtClean="0"/>
              <a:t>     return root;</a:t>
            </a:r>
          </a:p>
          <a:p>
            <a:pPr>
              <a:buNone/>
            </a:pPr>
            <a:r>
              <a:rPr lang="en-US" dirty="0" smtClean="0"/>
              <a:t>}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Deletion in BST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Case 1: Node is a leaf node: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Temp = leaf node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If temp is the left child of its parent, then set the left child of the parent NULL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If temp is the right child of its parent, then set the right child of the parent NULL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Delete temp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Delete(root, 37)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4267200" y="1371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25</a:t>
            </a:r>
            <a:endParaRPr lang="en-US" dirty="0"/>
          </a:p>
        </p:txBody>
      </p:sp>
      <p:cxnSp>
        <p:nvCxnSpPr>
          <p:cNvPr id="5" name="Straight Connector 4"/>
          <p:cNvCxnSpPr>
            <a:stCxn id="4" idx="2"/>
            <a:endCxn id="25" idx="0"/>
          </p:cNvCxnSpPr>
          <p:nvPr/>
        </p:nvCxnSpPr>
        <p:spPr>
          <a:xfrm rot="10800000" flipV="1">
            <a:off x="2514600" y="1638300"/>
            <a:ext cx="1752600" cy="1028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>
            <a:stCxn id="4" idx="6"/>
            <a:endCxn id="27" idx="0"/>
          </p:cNvCxnSpPr>
          <p:nvPr/>
        </p:nvCxnSpPr>
        <p:spPr>
          <a:xfrm>
            <a:off x="4876800" y="1638300"/>
            <a:ext cx="1828800" cy="1028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209800" y="26670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20</a:t>
            </a:r>
            <a:endParaRPr lang="en-US" dirty="0"/>
          </a:p>
        </p:txBody>
      </p:sp>
      <p:sp>
        <p:nvSpPr>
          <p:cNvPr id="27" name="Oval 26"/>
          <p:cNvSpPr/>
          <p:nvPr/>
        </p:nvSpPr>
        <p:spPr>
          <a:xfrm>
            <a:off x="6400800" y="26670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35</a:t>
            </a:r>
            <a:endParaRPr lang="en-US" dirty="0"/>
          </a:p>
        </p:txBody>
      </p:sp>
      <p:cxnSp>
        <p:nvCxnSpPr>
          <p:cNvPr id="30" name="Straight Connector 29"/>
          <p:cNvCxnSpPr>
            <a:stCxn id="25" idx="3"/>
            <a:endCxn id="34" idx="0"/>
          </p:cNvCxnSpPr>
          <p:nvPr/>
        </p:nvCxnSpPr>
        <p:spPr>
          <a:xfrm rot="5400000">
            <a:off x="1605780" y="3345305"/>
            <a:ext cx="916315" cy="470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33" idx="0"/>
            <a:endCxn id="25" idx="5"/>
          </p:cNvCxnSpPr>
          <p:nvPr/>
        </p:nvCxnSpPr>
        <p:spPr>
          <a:xfrm rot="16200000" flipV="1">
            <a:off x="2469006" y="3383406"/>
            <a:ext cx="916315" cy="3940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28194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23</a:t>
            </a:r>
            <a:endParaRPr lang="en-US" dirty="0"/>
          </a:p>
        </p:txBody>
      </p:sp>
      <p:sp>
        <p:nvSpPr>
          <p:cNvPr id="34" name="Oval 33"/>
          <p:cNvSpPr/>
          <p:nvPr/>
        </p:nvSpPr>
        <p:spPr>
          <a:xfrm>
            <a:off x="15240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10</a:t>
            </a:r>
            <a:endParaRPr lang="en-US" dirty="0"/>
          </a:p>
        </p:txBody>
      </p:sp>
      <p:cxnSp>
        <p:nvCxnSpPr>
          <p:cNvPr id="37" name="Straight Connector 36"/>
          <p:cNvCxnSpPr>
            <a:stCxn id="27" idx="3"/>
            <a:endCxn id="41" idx="0"/>
          </p:cNvCxnSpPr>
          <p:nvPr/>
        </p:nvCxnSpPr>
        <p:spPr>
          <a:xfrm rot="5400000">
            <a:off x="5606280" y="3154805"/>
            <a:ext cx="916315" cy="851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27" idx="5"/>
            <a:endCxn id="42" idx="0"/>
          </p:cNvCxnSpPr>
          <p:nvPr/>
        </p:nvCxnSpPr>
        <p:spPr>
          <a:xfrm rot="16200000" flipH="1">
            <a:off x="6888606" y="3154805"/>
            <a:ext cx="916315" cy="851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53340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29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74676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40</a:t>
            </a:r>
            <a:endParaRPr lang="en-US" dirty="0"/>
          </a:p>
        </p:txBody>
      </p:sp>
      <p:cxnSp>
        <p:nvCxnSpPr>
          <p:cNvPr id="55" name="Straight Connector 54"/>
          <p:cNvCxnSpPr>
            <a:endCxn id="58" idx="0"/>
          </p:cNvCxnSpPr>
          <p:nvPr/>
        </p:nvCxnSpPr>
        <p:spPr>
          <a:xfrm rot="5400000">
            <a:off x="6824522" y="4757879"/>
            <a:ext cx="994431" cy="470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57" idx="0"/>
          </p:cNvCxnSpPr>
          <p:nvPr/>
        </p:nvCxnSpPr>
        <p:spPr>
          <a:xfrm rot="16200000" flipV="1">
            <a:off x="7687748" y="4795980"/>
            <a:ext cx="994431" cy="3940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8077200" y="5490232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43</a:t>
            </a:r>
            <a:endParaRPr lang="en-US" dirty="0"/>
          </a:p>
        </p:txBody>
      </p:sp>
      <p:sp>
        <p:nvSpPr>
          <p:cNvPr id="58" name="Oval 57"/>
          <p:cNvSpPr/>
          <p:nvPr/>
        </p:nvSpPr>
        <p:spPr>
          <a:xfrm>
            <a:off x="6781800" y="5490232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37</a:t>
            </a:r>
            <a:endParaRPr lang="en-US" dirty="0"/>
          </a:p>
        </p:txBody>
      </p:sp>
      <p:cxnSp>
        <p:nvCxnSpPr>
          <p:cNvPr id="61" name="Straight Connector 60"/>
          <p:cNvCxnSpPr>
            <a:stCxn id="33" idx="4"/>
            <a:endCxn id="63" idx="0"/>
          </p:cNvCxnSpPr>
          <p:nvPr/>
        </p:nvCxnSpPr>
        <p:spPr>
          <a:xfrm rot="5400000">
            <a:off x="2362200" y="4724400"/>
            <a:ext cx="914400" cy="609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2209800" y="54864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22</a:t>
            </a:r>
            <a:endParaRPr lang="en-US" dirty="0"/>
          </a:p>
        </p:txBody>
      </p:sp>
      <p:sp>
        <p:nvSpPr>
          <p:cNvPr id="22" name="Down Arrow 21"/>
          <p:cNvSpPr/>
          <p:nvPr/>
        </p:nvSpPr>
        <p:spPr>
          <a:xfrm>
            <a:off x="4343400" y="990600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Down Arrow 28"/>
          <p:cNvSpPr/>
          <p:nvPr/>
        </p:nvSpPr>
        <p:spPr>
          <a:xfrm>
            <a:off x="6449568" y="2286000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Down Arrow 34"/>
          <p:cNvSpPr/>
          <p:nvPr/>
        </p:nvSpPr>
        <p:spPr>
          <a:xfrm>
            <a:off x="7516368" y="3657600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Down Arrow 35"/>
          <p:cNvSpPr/>
          <p:nvPr/>
        </p:nvSpPr>
        <p:spPr>
          <a:xfrm>
            <a:off x="6830568" y="5105400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4" presetClass="exit" presetSubtype="16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4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4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4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22" grpId="0" animBg="1"/>
      <p:bldP spid="22" grpId="1" animBg="1"/>
      <p:bldP spid="29" grpId="0" animBg="1"/>
      <p:bldP spid="29" grpId="1" animBg="1"/>
      <p:bldP spid="35" grpId="0" animBg="1"/>
      <p:bldP spid="35" grpId="1" animBg="1"/>
      <p:bldP spid="36" grpId="0" animBg="1"/>
      <p:bldP spid="36" grpId="1" animBg="1"/>
      <p:bldP spid="36" grpId="2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Deletion in BST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Case 2: Node has a left/right child C: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Temp = node to be deleted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If temp is the left child of its parent, then set the left child of the parent to C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If temp is the right child of its parent, then set the right child of the parent to C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Delete temp</a:t>
            </a:r>
          </a:p>
          <a:p>
            <a:pPr>
              <a:buNone/>
            </a:pPr>
            <a:endParaRPr lang="en-US" sz="1800" b="1" dirty="0" smtClean="0"/>
          </a:p>
          <a:p>
            <a:pPr>
              <a:buNone/>
            </a:pPr>
            <a:endParaRPr lang="en-US" sz="1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Delete(root, 40)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4267200" y="1371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25</a:t>
            </a:r>
            <a:endParaRPr lang="en-US" dirty="0"/>
          </a:p>
        </p:txBody>
      </p:sp>
      <p:cxnSp>
        <p:nvCxnSpPr>
          <p:cNvPr id="5" name="Straight Connector 4"/>
          <p:cNvCxnSpPr>
            <a:stCxn id="4" idx="2"/>
            <a:endCxn id="25" idx="0"/>
          </p:cNvCxnSpPr>
          <p:nvPr/>
        </p:nvCxnSpPr>
        <p:spPr>
          <a:xfrm rot="10800000" flipV="1">
            <a:off x="2514600" y="1638300"/>
            <a:ext cx="1752600" cy="1028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>
            <a:stCxn id="4" idx="6"/>
            <a:endCxn id="27" idx="0"/>
          </p:cNvCxnSpPr>
          <p:nvPr/>
        </p:nvCxnSpPr>
        <p:spPr>
          <a:xfrm>
            <a:off x="4876800" y="1638300"/>
            <a:ext cx="1828800" cy="1028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209800" y="26670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20</a:t>
            </a:r>
            <a:endParaRPr lang="en-US" dirty="0"/>
          </a:p>
        </p:txBody>
      </p:sp>
      <p:sp>
        <p:nvSpPr>
          <p:cNvPr id="27" name="Oval 26"/>
          <p:cNvSpPr/>
          <p:nvPr/>
        </p:nvSpPr>
        <p:spPr>
          <a:xfrm>
            <a:off x="6400800" y="26670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35</a:t>
            </a:r>
            <a:endParaRPr lang="en-US" dirty="0"/>
          </a:p>
        </p:txBody>
      </p:sp>
      <p:cxnSp>
        <p:nvCxnSpPr>
          <p:cNvPr id="30" name="Straight Connector 29"/>
          <p:cNvCxnSpPr>
            <a:stCxn id="25" idx="3"/>
            <a:endCxn id="34" idx="0"/>
          </p:cNvCxnSpPr>
          <p:nvPr/>
        </p:nvCxnSpPr>
        <p:spPr>
          <a:xfrm rot="5400000">
            <a:off x="1605780" y="3345305"/>
            <a:ext cx="916315" cy="470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33" idx="0"/>
            <a:endCxn id="25" idx="5"/>
          </p:cNvCxnSpPr>
          <p:nvPr/>
        </p:nvCxnSpPr>
        <p:spPr>
          <a:xfrm rot="16200000" flipV="1">
            <a:off x="2469006" y="3383406"/>
            <a:ext cx="916315" cy="3940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28194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23</a:t>
            </a:r>
            <a:endParaRPr lang="en-US" dirty="0"/>
          </a:p>
        </p:txBody>
      </p:sp>
      <p:sp>
        <p:nvSpPr>
          <p:cNvPr id="34" name="Oval 33"/>
          <p:cNvSpPr/>
          <p:nvPr/>
        </p:nvSpPr>
        <p:spPr>
          <a:xfrm>
            <a:off x="15240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10</a:t>
            </a:r>
            <a:endParaRPr lang="en-US" dirty="0"/>
          </a:p>
        </p:txBody>
      </p:sp>
      <p:cxnSp>
        <p:nvCxnSpPr>
          <p:cNvPr id="37" name="Straight Connector 36"/>
          <p:cNvCxnSpPr>
            <a:stCxn id="27" idx="3"/>
            <a:endCxn id="41" idx="0"/>
          </p:cNvCxnSpPr>
          <p:nvPr/>
        </p:nvCxnSpPr>
        <p:spPr>
          <a:xfrm rot="5400000">
            <a:off x="5606280" y="3154805"/>
            <a:ext cx="916315" cy="851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27" idx="5"/>
            <a:endCxn id="42" idx="0"/>
          </p:cNvCxnSpPr>
          <p:nvPr/>
        </p:nvCxnSpPr>
        <p:spPr>
          <a:xfrm rot="16200000" flipH="1">
            <a:off x="6888606" y="3154805"/>
            <a:ext cx="916315" cy="851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53340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29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74676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40</a:t>
            </a:r>
            <a:endParaRPr lang="en-US" dirty="0"/>
          </a:p>
        </p:txBody>
      </p:sp>
      <p:cxnSp>
        <p:nvCxnSpPr>
          <p:cNvPr id="56" name="Straight Connector 55"/>
          <p:cNvCxnSpPr>
            <a:stCxn id="57" idx="0"/>
          </p:cNvCxnSpPr>
          <p:nvPr/>
        </p:nvCxnSpPr>
        <p:spPr>
          <a:xfrm rot="16200000" flipV="1">
            <a:off x="7687748" y="4795980"/>
            <a:ext cx="994431" cy="3940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8077200" y="5490232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43</a:t>
            </a:r>
            <a:endParaRPr lang="en-US" dirty="0"/>
          </a:p>
        </p:txBody>
      </p:sp>
      <p:cxnSp>
        <p:nvCxnSpPr>
          <p:cNvPr id="61" name="Straight Connector 60"/>
          <p:cNvCxnSpPr>
            <a:stCxn id="33" idx="4"/>
            <a:endCxn id="63" idx="0"/>
          </p:cNvCxnSpPr>
          <p:nvPr/>
        </p:nvCxnSpPr>
        <p:spPr>
          <a:xfrm rot="5400000">
            <a:off x="2362200" y="4724400"/>
            <a:ext cx="914400" cy="609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2209800" y="54864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22</a:t>
            </a:r>
            <a:endParaRPr lang="en-US" dirty="0"/>
          </a:p>
        </p:txBody>
      </p:sp>
      <p:sp>
        <p:nvSpPr>
          <p:cNvPr id="22" name="Down Arrow 21"/>
          <p:cNvSpPr/>
          <p:nvPr/>
        </p:nvSpPr>
        <p:spPr>
          <a:xfrm>
            <a:off x="4343400" y="990600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Down Arrow 28"/>
          <p:cNvSpPr/>
          <p:nvPr/>
        </p:nvSpPr>
        <p:spPr>
          <a:xfrm>
            <a:off x="6449568" y="2286000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Down Arrow 34"/>
          <p:cNvSpPr/>
          <p:nvPr/>
        </p:nvSpPr>
        <p:spPr>
          <a:xfrm>
            <a:off x="7516368" y="3657600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74676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43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4" presetClass="exit" presetSubtype="16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4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4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57" grpId="0" animBg="1"/>
      <p:bldP spid="22" grpId="0" animBg="1"/>
      <p:bldP spid="22" grpId="1" animBg="1"/>
      <p:bldP spid="29" grpId="0" animBg="1"/>
      <p:bldP spid="29" grpId="1" animBg="1"/>
      <p:bldP spid="35" grpId="0" animBg="1"/>
      <p:bldP spid="35" grpId="1" animBg="1"/>
      <p:bldP spid="35" grpId="2" animBg="1"/>
      <p:bldP spid="2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Deletion in BST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Case 3: Node have a left child L and a right child R: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Temp = node to be deleted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Find the minimum key in temp-&gt;right </a:t>
            </a:r>
            <a:r>
              <a:rPr lang="en-US" dirty="0" err="1" smtClean="0"/>
              <a:t>subtree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Copy that minimum key to temp-&gt;key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Delete the node with the minimum key in its right </a:t>
            </a:r>
            <a:r>
              <a:rPr lang="en-US" dirty="0" err="1" smtClean="0"/>
              <a:t>subtree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Delete(root, 25)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4267200" y="1371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25</a:t>
            </a:r>
            <a:endParaRPr lang="en-US" dirty="0"/>
          </a:p>
        </p:txBody>
      </p:sp>
      <p:cxnSp>
        <p:nvCxnSpPr>
          <p:cNvPr id="5" name="Straight Connector 4"/>
          <p:cNvCxnSpPr>
            <a:stCxn id="4" idx="2"/>
            <a:endCxn id="25" idx="0"/>
          </p:cNvCxnSpPr>
          <p:nvPr/>
        </p:nvCxnSpPr>
        <p:spPr>
          <a:xfrm rot="10800000" flipV="1">
            <a:off x="2514600" y="1638300"/>
            <a:ext cx="1752600" cy="1028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>
            <a:stCxn id="4" idx="6"/>
            <a:endCxn id="27" idx="0"/>
          </p:cNvCxnSpPr>
          <p:nvPr/>
        </p:nvCxnSpPr>
        <p:spPr>
          <a:xfrm>
            <a:off x="4876800" y="1638300"/>
            <a:ext cx="1828800" cy="1028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209800" y="26670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20</a:t>
            </a:r>
            <a:endParaRPr lang="en-US" dirty="0"/>
          </a:p>
        </p:txBody>
      </p:sp>
      <p:sp>
        <p:nvSpPr>
          <p:cNvPr id="27" name="Oval 26"/>
          <p:cNvSpPr/>
          <p:nvPr/>
        </p:nvSpPr>
        <p:spPr>
          <a:xfrm>
            <a:off x="6400800" y="26670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35</a:t>
            </a:r>
            <a:endParaRPr lang="en-US" dirty="0"/>
          </a:p>
        </p:txBody>
      </p:sp>
      <p:cxnSp>
        <p:nvCxnSpPr>
          <p:cNvPr id="30" name="Straight Connector 29"/>
          <p:cNvCxnSpPr>
            <a:stCxn id="25" idx="3"/>
            <a:endCxn id="34" idx="0"/>
          </p:cNvCxnSpPr>
          <p:nvPr/>
        </p:nvCxnSpPr>
        <p:spPr>
          <a:xfrm rot="5400000">
            <a:off x="1605780" y="3345305"/>
            <a:ext cx="916315" cy="470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33" idx="0"/>
            <a:endCxn id="25" idx="5"/>
          </p:cNvCxnSpPr>
          <p:nvPr/>
        </p:nvCxnSpPr>
        <p:spPr>
          <a:xfrm rot="16200000" flipV="1">
            <a:off x="2469006" y="3383406"/>
            <a:ext cx="916315" cy="3940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28194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23</a:t>
            </a:r>
            <a:endParaRPr lang="en-US" dirty="0"/>
          </a:p>
        </p:txBody>
      </p:sp>
      <p:sp>
        <p:nvSpPr>
          <p:cNvPr id="34" name="Oval 33"/>
          <p:cNvSpPr/>
          <p:nvPr/>
        </p:nvSpPr>
        <p:spPr>
          <a:xfrm>
            <a:off x="15240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10</a:t>
            </a:r>
            <a:endParaRPr lang="en-US" dirty="0"/>
          </a:p>
        </p:txBody>
      </p:sp>
      <p:cxnSp>
        <p:nvCxnSpPr>
          <p:cNvPr id="37" name="Straight Connector 36"/>
          <p:cNvCxnSpPr>
            <a:stCxn id="27" idx="3"/>
            <a:endCxn id="41" idx="0"/>
          </p:cNvCxnSpPr>
          <p:nvPr/>
        </p:nvCxnSpPr>
        <p:spPr>
          <a:xfrm rot="5400000">
            <a:off x="5606280" y="3154805"/>
            <a:ext cx="916315" cy="851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27" idx="5"/>
            <a:endCxn id="42" idx="0"/>
          </p:cNvCxnSpPr>
          <p:nvPr/>
        </p:nvCxnSpPr>
        <p:spPr>
          <a:xfrm rot="16200000" flipH="1">
            <a:off x="6888606" y="3154805"/>
            <a:ext cx="916315" cy="851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53340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29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74676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43</a:t>
            </a:r>
            <a:endParaRPr lang="en-US" dirty="0"/>
          </a:p>
        </p:txBody>
      </p:sp>
      <p:cxnSp>
        <p:nvCxnSpPr>
          <p:cNvPr id="61" name="Straight Connector 60"/>
          <p:cNvCxnSpPr>
            <a:stCxn id="33" idx="4"/>
            <a:endCxn id="63" idx="0"/>
          </p:cNvCxnSpPr>
          <p:nvPr/>
        </p:nvCxnSpPr>
        <p:spPr>
          <a:xfrm rot="5400000">
            <a:off x="2362200" y="4724400"/>
            <a:ext cx="914400" cy="609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2209800" y="54864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22</a:t>
            </a:r>
            <a:endParaRPr lang="en-US" dirty="0"/>
          </a:p>
        </p:txBody>
      </p:sp>
      <p:sp>
        <p:nvSpPr>
          <p:cNvPr id="22" name="Down Arrow 21"/>
          <p:cNvSpPr/>
          <p:nvPr/>
        </p:nvSpPr>
        <p:spPr>
          <a:xfrm>
            <a:off x="4343400" y="990600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Down Arrow 28"/>
          <p:cNvSpPr/>
          <p:nvPr/>
        </p:nvSpPr>
        <p:spPr>
          <a:xfrm>
            <a:off x="6449568" y="2286000"/>
            <a:ext cx="484632" cy="368808"/>
          </a:xfrm>
          <a:prstGeom prst="downArrow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6" name="Down Arrow 25"/>
          <p:cNvSpPr/>
          <p:nvPr/>
        </p:nvSpPr>
        <p:spPr>
          <a:xfrm>
            <a:off x="5334000" y="3669792"/>
            <a:ext cx="484632" cy="368808"/>
          </a:xfrm>
          <a:prstGeom prst="downArrow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8" name="Oval 27"/>
          <p:cNvSpPr/>
          <p:nvPr/>
        </p:nvSpPr>
        <p:spPr>
          <a:xfrm>
            <a:off x="4267200" y="1371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29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5791200" y="1447800"/>
            <a:ext cx="2254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Delete(root-&gt;right,29)</a:t>
            </a:r>
            <a:endParaRPr lang="en-US" dirty="0"/>
          </a:p>
        </p:txBody>
      </p:sp>
      <p:sp>
        <p:nvSpPr>
          <p:cNvPr id="44" name="Down Arrow 43"/>
          <p:cNvSpPr/>
          <p:nvPr/>
        </p:nvSpPr>
        <p:spPr>
          <a:xfrm>
            <a:off x="6449568" y="2286000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Down Arrow 44"/>
          <p:cNvSpPr/>
          <p:nvPr/>
        </p:nvSpPr>
        <p:spPr>
          <a:xfrm>
            <a:off x="5334000" y="3669792"/>
            <a:ext cx="484632" cy="3688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4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5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4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5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5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22" grpId="0" animBg="1"/>
      <p:bldP spid="22" grpId="1" animBg="1"/>
      <p:bldP spid="29" grpId="0" animBg="1"/>
      <p:bldP spid="29" grpId="1" animBg="1"/>
      <p:bldP spid="26" grpId="0" animBg="1"/>
      <p:bldP spid="26" grpId="1" animBg="1"/>
      <p:bldP spid="28" grpId="0" animBg="1"/>
      <p:bldP spid="32" grpId="0"/>
      <p:bldP spid="44" grpId="0" animBg="1"/>
      <p:bldP spid="44" grpId="1" animBg="1"/>
      <p:bldP spid="45" grpId="0" animBg="1"/>
      <p:bldP spid="45" grpId="1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Deletion in BST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800" b="1" dirty="0" smtClean="0"/>
              <a:t>node *temp = NULL;</a:t>
            </a:r>
          </a:p>
          <a:p>
            <a:pPr>
              <a:buNone/>
            </a:pPr>
            <a:r>
              <a:rPr lang="en-US" sz="1800" b="1" dirty="0" smtClean="0"/>
              <a:t>if(root-&gt;left != NULL &amp;&amp; root-&gt;right != NULL) { </a:t>
            </a:r>
          </a:p>
          <a:p>
            <a:pPr>
              <a:buNone/>
            </a:pPr>
            <a:r>
              <a:rPr lang="en-US" sz="1800" b="1" dirty="0" smtClean="0"/>
              <a:t>        temp = root-&gt;right;</a:t>
            </a:r>
          </a:p>
          <a:p>
            <a:pPr>
              <a:buNone/>
            </a:pPr>
            <a:r>
              <a:rPr lang="en-US" sz="1800" b="1" dirty="0" smtClean="0"/>
              <a:t>        while(temp-&gt;left != NULL)</a:t>
            </a:r>
          </a:p>
          <a:p>
            <a:pPr>
              <a:buNone/>
            </a:pPr>
            <a:r>
              <a:rPr lang="en-US" sz="1800" b="1" dirty="0" smtClean="0"/>
              <a:t>                           temp = temp-&gt;left;</a:t>
            </a:r>
          </a:p>
          <a:p>
            <a:pPr>
              <a:buNone/>
            </a:pPr>
            <a:r>
              <a:rPr lang="en-US" sz="1800" b="1" dirty="0" smtClean="0"/>
              <a:t>        root-&gt;data = temp-&gt;data;</a:t>
            </a:r>
          </a:p>
          <a:p>
            <a:pPr>
              <a:buNone/>
            </a:pPr>
            <a:r>
              <a:rPr lang="en-US" sz="1800" b="1" dirty="0" smtClean="0"/>
              <a:t>        root-&gt;right = delete(root-&gt;right, temp-&gt;data);</a:t>
            </a:r>
          </a:p>
          <a:p>
            <a:pPr>
              <a:buNone/>
            </a:pPr>
            <a:r>
              <a:rPr lang="en-US" sz="1800" b="1" dirty="0" smtClean="0"/>
              <a:t>        return root;</a:t>
            </a:r>
          </a:p>
          <a:p>
            <a:pPr>
              <a:buNone/>
            </a:pPr>
            <a:r>
              <a:rPr lang="en-US" sz="1800" b="1" dirty="0" smtClean="0"/>
              <a:t>}</a:t>
            </a:r>
          </a:p>
          <a:p>
            <a:pPr>
              <a:buNone/>
            </a:pPr>
            <a:r>
              <a:rPr lang="en-US" sz="1800" b="1" dirty="0" smtClean="0"/>
              <a:t>temp = (root-&gt;left != NULL) ? root-&gt;left : root-&gt;right;</a:t>
            </a:r>
          </a:p>
          <a:p>
            <a:pPr>
              <a:buNone/>
            </a:pPr>
            <a:r>
              <a:rPr lang="en-US" sz="1800" b="1" dirty="0" smtClean="0"/>
              <a:t>free(root);</a:t>
            </a:r>
          </a:p>
          <a:p>
            <a:pPr>
              <a:buNone/>
            </a:pPr>
            <a:r>
              <a:rPr lang="en-US" sz="1800" b="1" dirty="0" smtClean="0"/>
              <a:t>root = NULL;</a:t>
            </a:r>
          </a:p>
          <a:p>
            <a:pPr>
              <a:buNone/>
            </a:pPr>
            <a:r>
              <a:rPr lang="en-US" sz="1800" b="1" dirty="0" smtClean="0"/>
              <a:t>return temp;</a:t>
            </a:r>
            <a:endParaRPr lang="en-US" sz="1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Delete(root, 35)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4267200" y="1371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25</a:t>
            </a:r>
            <a:endParaRPr lang="en-US" dirty="0"/>
          </a:p>
        </p:txBody>
      </p:sp>
      <p:cxnSp>
        <p:nvCxnSpPr>
          <p:cNvPr id="5" name="Straight Connector 4"/>
          <p:cNvCxnSpPr>
            <a:stCxn id="4" idx="2"/>
            <a:endCxn id="25" idx="0"/>
          </p:cNvCxnSpPr>
          <p:nvPr/>
        </p:nvCxnSpPr>
        <p:spPr>
          <a:xfrm rot="10800000" flipV="1">
            <a:off x="2514600" y="1638300"/>
            <a:ext cx="1752600" cy="1028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>
            <a:stCxn id="4" idx="6"/>
            <a:endCxn id="27" idx="0"/>
          </p:cNvCxnSpPr>
          <p:nvPr/>
        </p:nvCxnSpPr>
        <p:spPr>
          <a:xfrm>
            <a:off x="4876800" y="1638300"/>
            <a:ext cx="1828800" cy="1028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209800" y="26670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20</a:t>
            </a:r>
            <a:endParaRPr lang="en-US" dirty="0"/>
          </a:p>
        </p:txBody>
      </p:sp>
      <p:sp>
        <p:nvSpPr>
          <p:cNvPr id="27" name="Oval 26"/>
          <p:cNvSpPr/>
          <p:nvPr/>
        </p:nvSpPr>
        <p:spPr>
          <a:xfrm>
            <a:off x="6400800" y="26670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35</a:t>
            </a:r>
            <a:endParaRPr lang="en-US" dirty="0"/>
          </a:p>
        </p:txBody>
      </p:sp>
      <p:cxnSp>
        <p:nvCxnSpPr>
          <p:cNvPr id="30" name="Straight Connector 29"/>
          <p:cNvCxnSpPr>
            <a:stCxn id="25" idx="3"/>
            <a:endCxn id="34" idx="0"/>
          </p:cNvCxnSpPr>
          <p:nvPr/>
        </p:nvCxnSpPr>
        <p:spPr>
          <a:xfrm rot="5400000">
            <a:off x="1605780" y="3345305"/>
            <a:ext cx="916315" cy="470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33" idx="0"/>
            <a:endCxn id="25" idx="5"/>
          </p:cNvCxnSpPr>
          <p:nvPr/>
        </p:nvCxnSpPr>
        <p:spPr>
          <a:xfrm rot="16200000" flipV="1">
            <a:off x="2469006" y="3383406"/>
            <a:ext cx="916315" cy="3940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28194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23</a:t>
            </a:r>
            <a:endParaRPr lang="en-US" dirty="0"/>
          </a:p>
        </p:txBody>
      </p:sp>
      <p:sp>
        <p:nvSpPr>
          <p:cNvPr id="34" name="Oval 33"/>
          <p:cNvSpPr/>
          <p:nvPr/>
        </p:nvSpPr>
        <p:spPr>
          <a:xfrm>
            <a:off x="15240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10</a:t>
            </a:r>
            <a:endParaRPr lang="en-US" dirty="0"/>
          </a:p>
        </p:txBody>
      </p:sp>
      <p:cxnSp>
        <p:nvCxnSpPr>
          <p:cNvPr id="37" name="Straight Connector 36"/>
          <p:cNvCxnSpPr/>
          <p:nvPr/>
        </p:nvCxnSpPr>
        <p:spPr>
          <a:xfrm rot="5400000">
            <a:off x="5606280" y="3154806"/>
            <a:ext cx="916315" cy="851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27" idx="5"/>
            <a:endCxn id="42" idx="0"/>
          </p:cNvCxnSpPr>
          <p:nvPr/>
        </p:nvCxnSpPr>
        <p:spPr>
          <a:xfrm rot="16200000" flipH="1">
            <a:off x="6888606" y="3154805"/>
            <a:ext cx="916315" cy="851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53340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29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74676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40</a:t>
            </a:r>
            <a:endParaRPr lang="en-US" dirty="0"/>
          </a:p>
        </p:txBody>
      </p:sp>
      <p:cxnSp>
        <p:nvCxnSpPr>
          <p:cNvPr id="55" name="Straight Connector 54"/>
          <p:cNvCxnSpPr>
            <a:stCxn id="42" idx="3"/>
          </p:cNvCxnSpPr>
          <p:nvPr/>
        </p:nvCxnSpPr>
        <p:spPr>
          <a:xfrm flipH="1">
            <a:off x="7086601" y="4493885"/>
            <a:ext cx="470273" cy="4591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57" idx="0"/>
            <a:endCxn id="42" idx="5"/>
          </p:cNvCxnSpPr>
          <p:nvPr/>
        </p:nvCxnSpPr>
        <p:spPr>
          <a:xfrm flipH="1" flipV="1">
            <a:off x="7987926" y="4493885"/>
            <a:ext cx="394074" cy="5353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8077200" y="50292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43</a:t>
            </a:r>
            <a:endParaRPr lang="en-US" dirty="0"/>
          </a:p>
        </p:txBody>
      </p:sp>
      <p:sp>
        <p:nvSpPr>
          <p:cNvPr id="58" name="Oval 57"/>
          <p:cNvSpPr/>
          <p:nvPr/>
        </p:nvSpPr>
        <p:spPr>
          <a:xfrm>
            <a:off x="6781800" y="49530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37</a:t>
            </a:r>
            <a:endParaRPr lang="en-US" dirty="0"/>
          </a:p>
        </p:txBody>
      </p:sp>
      <p:cxnSp>
        <p:nvCxnSpPr>
          <p:cNvPr id="61" name="Straight Connector 60"/>
          <p:cNvCxnSpPr>
            <a:stCxn id="33" idx="4"/>
            <a:endCxn id="63" idx="0"/>
          </p:cNvCxnSpPr>
          <p:nvPr/>
        </p:nvCxnSpPr>
        <p:spPr>
          <a:xfrm rot="5400000">
            <a:off x="2362200" y="4724400"/>
            <a:ext cx="914400" cy="609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2209800" y="54864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22</a:t>
            </a:r>
            <a:endParaRPr lang="en-US" dirty="0"/>
          </a:p>
        </p:txBody>
      </p:sp>
      <p:cxnSp>
        <p:nvCxnSpPr>
          <p:cNvPr id="26" name="Straight Connector 25"/>
          <p:cNvCxnSpPr>
            <a:stCxn id="58" idx="5"/>
          </p:cNvCxnSpPr>
          <p:nvPr/>
        </p:nvCxnSpPr>
        <p:spPr>
          <a:xfrm>
            <a:off x="7302126" y="5408285"/>
            <a:ext cx="254749" cy="5314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7391400" y="5943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39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071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Delete(root-&gt;right, 37)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4267200" y="1371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25</a:t>
            </a:r>
            <a:endParaRPr lang="en-US" dirty="0"/>
          </a:p>
        </p:txBody>
      </p:sp>
      <p:cxnSp>
        <p:nvCxnSpPr>
          <p:cNvPr id="5" name="Straight Connector 4"/>
          <p:cNvCxnSpPr>
            <a:stCxn id="4" idx="2"/>
            <a:endCxn id="25" idx="0"/>
          </p:cNvCxnSpPr>
          <p:nvPr/>
        </p:nvCxnSpPr>
        <p:spPr>
          <a:xfrm rot="10800000" flipV="1">
            <a:off x="2514600" y="1638300"/>
            <a:ext cx="1752600" cy="1028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>
            <a:stCxn id="4" idx="6"/>
            <a:endCxn id="27" idx="0"/>
          </p:cNvCxnSpPr>
          <p:nvPr/>
        </p:nvCxnSpPr>
        <p:spPr>
          <a:xfrm>
            <a:off x="4876800" y="1638300"/>
            <a:ext cx="1828800" cy="1028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209800" y="26670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20</a:t>
            </a:r>
            <a:endParaRPr lang="en-US" dirty="0"/>
          </a:p>
        </p:txBody>
      </p:sp>
      <p:sp>
        <p:nvSpPr>
          <p:cNvPr id="27" name="Oval 26"/>
          <p:cNvSpPr/>
          <p:nvPr/>
        </p:nvSpPr>
        <p:spPr>
          <a:xfrm>
            <a:off x="6400800" y="26670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37</a:t>
            </a:r>
            <a:endParaRPr lang="en-US" dirty="0"/>
          </a:p>
        </p:txBody>
      </p:sp>
      <p:cxnSp>
        <p:nvCxnSpPr>
          <p:cNvPr id="30" name="Straight Connector 29"/>
          <p:cNvCxnSpPr>
            <a:stCxn id="25" idx="3"/>
            <a:endCxn id="34" idx="0"/>
          </p:cNvCxnSpPr>
          <p:nvPr/>
        </p:nvCxnSpPr>
        <p:spPr>
          <a:xfrm rot="5400000">
            <a:off x="1605780" y="3345305"/>
            <a:ext cx="916315" cy="470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33" idx="0"/>
            <a:endCxn id="25" idx="5"/>
          </p:cNvCxnSpPr>
          <p:nvPr/>
        </p:nvCxnSpPr>
        <p:spPr>
          <a:xfrm rot="16200000" flipV="1">
            <a:off x="2469006" y="3383406"/>
            <a:ext cx="916315" cy="3940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28194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23</a:t>
            </a:r>
            <a:endParaRPr lang="en-US" dirty="0"/>
          </a:p>
        </p:txBody>
      </p:sp>
      <p:sp>
        <p:nvSpPr>
          <p:cNvPr id="34" name="Oval 33"/>
          <p:cNvSpPr/>
          <p:nvPr/>
        </p:nvSpPr>
        <p:spPr>
          <a:xfrm>
            <a:off x="15240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10</a:t>
            </a:r>
            <a:endParaRPr lang="en-US" dirty="0"/>
          </a:p>
        </p:txBody>
      </p:sp>
      <p:cxnSp>
        <p:nvCxnSpPr>
          <p:cNvPr id="37" name="Straight Connector 36"/>
          <p:cNvCxnSpPr/>
          <p:nvPr/>
        </p:nvCxnSpPr>
        <p:spPr>
          <a:xfrm rot="5400000">
            <a:off x="5606280" y="3154806"/>
            <a:ext cx="916315" cy="851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27" idx="5"/>
            <a:endCxn id="42" idx="0"/>
          </p:cNvCxnSpPr>
          <p:nvPr/>
        </p:nvCxnSpPr>
        <p:spPr>
          <a:xfrm rot="16200000" flipH="1">
            <a:off x="6888606" y="3154805"/>
            <a:ext cx="916315" cy="851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53340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29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74676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40</a:t>
            </a:r>
            <a:endParaRPr lang="en-US" dirty="0"/>
          </a:p>
        </p:txBody>
      </p:sp>
      <p:cxnSp>
        <p:nvCxnSpPr>
          <p:cNvPr id="55" name="Straight Connector 54"/>
          <p:cNvCxnSpPr>
            <a:stCxn id="42" idx="3"/>
          </p:cNvCxnSpPr>
          <p:nvPr/>
        </p:nvCxnSpPr>
        <p:spPr>
          <a:xfrm flipH="1">
            <a:off x="7086601" y="4493885"/>
            <a:ext cx="470273" cy="4591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57" idx="0"/>
            <a:endCxn id="42" idx="5"/>
          </p:cNvCxnSpPr>
          <p:nvPr/>
        </p:nvCxnSpPr>
        <p:spPr>
          <a:xfrm flipH="1" flipV="1">
            <a:off x="7987926" y="4493885"/>
            <a:ext cx="394074" cy="5353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8077200" y="50292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43</a:t>
            </a:r>
            <a:endParaRPr lang="en-US" dirty="0"/>
          </a:p>
        </p:txBody>
      </p:sp>
      <p:sp>
        <p:nvSpPr>
          <p:cNvPr id="58" name="Oval 57"/>
          <p:cNvSpPr/>
          <p:nvPr/>
        </p:nvSpPr>
        <p:spPr>
          <a:xfrm>
            <a:off x="6781800" y="49530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37</a:t>
            </a:r>
            <a:endParaRPr lang="en-US" dirty="0"/>
          </a:p>
        </p:txBody>
      </p:sp>
      <p:cxnSp>
        <p:nvCxnSpPr>
          <p:cNvPr id="61" name="Straight Connector 60"/>
          <p:cNvCxnSpPr>
            <a:stCxn id="33" idx="4"/>
            <a:endCxn id="63" idx="0"/>
          </p:cNvCxnSpPr>
          <p:nvPr/>
        </p:nvCxnSpPr>
        <p:spPr>
          <a:xfrm rot="5400000">
            <a:off x="2362200" y="4724400"/>
            <a:ext cx="914400" cy="609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2209800" y="54864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22</a:t>
            </a:r>
            <a:endParaRPr lang="en-US" dirty="0"/>
          </a:p>
        </p:txBody>
      </p:sp>
      <p:cxnSp>
        <p:nvCxnSpPr>
          <p:cNvPr id="26" name="Straight Connector 25"/>
          <p:cNvCxnSpPr>
            <a:stCxn id="58" idx="5"/>
          </p:cNvCxnSpPr>
          <p:nvPr/>
        </p:nvCxnSpPr>
        <p:spPr>
          <a:xfrm>
            <a:off x="7302126" y="5408285"/>
            <a:ext cx="254749" cy="5314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7391400" y="5943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39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472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Delete(root-&gt;right, 37)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4267200" y="1371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25</a:t>
            </a:r>
            <a:endParaRPr lang="en-US" dirty="0"/>
          </a:p>
        </p:txBody>
      </p:sp>
      <p:cxnSp>
        <p:nvCxnSpPr>
          <p:cNvPr id="5" name="Straight Connector 4"/>
          <p:cNvCxnSpPr>
            <a:stCxn id="4" idx="2"/>
            <a:endCxn id="25" idx="0"/>
          </p:cNvCxnSpPr>
          <p:nvPr/>
        </p:nvCxnSpPr>
        <p:spPr>
          <a:xfrm rot="10800000" flipV="1">
            <a:off x="2514600" y="1638300"/>
            <a:ext cx="1752600" cy="1028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>
            <a:stCxn id="4" idx="6"/>
            <a:endCxn id="27" idx="0"/>
          </p:cNvCxnSpPr>
          <p:nvPr/>
        </p:nvCxnSpPr>
        <p:spPr>
          <a:xfrm>
            <a:off x="4876800" y="1638300"/>
            <a:ext cx="1828800" cy="1028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209800" y="26670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20</a:t>
            </a:r>
            <a:endParaRPr lang="en-US" dirty="0"/>
          </a:p>
        </p:txBody>
      </p:sp>
      <p:sp>
        <p:nvSpPr>
          <p:cNvPr id="27" name="Oval 26"/>
          <p:cNvSpPr/>
          <p:nvPr/>
        </p:nvSpPr>
        <p:spPr>
          <a:xfrm>
            <a:off x="6400800" y="26670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37</a:t>
            </a:r>
            <a:endParaRPr lang="en-US" dirty="0"/>
          </a:p>
        </p:txBody>
      </p:sp>
      <p:cxnSp>
        <p:nvCxnSpPr>
          <p:cNvPr id="30" name="Straight Connector 29"/>
          <p:cNvCxnSpPr>
            <a:stCxn id="25" idx="3"/>
            <a:endCxn id="34" idx="0"/>
          </p:cNvCxnSpPr>
          <p:nvPr/>
        </p:nvCxnSpPr>
        <p:spPr>
          <a:xfrm rot="5400000">
            <a:off x="1605780" y="3345305"/>
            <a:ext cx="916315" cy="470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33" idx="0"/>
            <a:endCxn id="25" idx="5"/>
          </p:cNvCxnSpPr>
          <p:nvPr/>
        </p:nvCxnSpPr>
        <p:spPr>
          <a:xfrm rot="16200000" flipV="1">
            <a:off x="2469006" y="3383406"/>
            <a:ext cx="916315" cy="3940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28194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23</a:t>
            </a:r>
            <a:endParaRPr lang="en-US" dirty="0"/>
          </a:p>
        </p:txBody>
      </p:sp>
      <p:sp>
        <p:nvSpPr>
          <p:cNvPr id="34" name="Oval 33"/>
          <p:cNvSpPr/>
          <p:nvPr/>
        </p:nvSpPr>
        <p:spPr>
          <a:xfrm>
            <a:off x="15240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10</a:t>
            </a:r>
            <a:endParaRPr lang="en-US" dirty="0"/>
          </a:p>
        </p:txBody>
      </p:sp>
      <p:cxnSp>
        <p:nvCxnSpPr>
          <p:cNvPr id="37" name="Straight Connector 36"/>
          <p:cNvCxnSpPr/>
          <p:nvPr/>
        </p:nvCxnSpPr>
        <p:spPr>
          <a:xfrm rot="5400000">
            <a:off x="5606280" y="3154806"/>
            <a:ext cx="916315" cy="851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27" idx="5"/>
            <a:endCxn id="42" idx="0"/>
          </p:cNvCxnSpPr>
          <p:nvPr/>
        </p:nvCxnSpPr>
        <p:spPr>
          <a:xfrm rot="16200000" flipH="1">
            <a:off x="6888606" y="3154805"/>
            <a:ext cx="916315" cy="851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53340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29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74676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40</a:t>
            </a:r>
            <a:endParaRPr lang="en-US" dirty="0"/>
          </a:p>
        </p:txBody>
      </p:sp>
      <p:cxnSp>
        <p:nvCxnSpPr>
          <p:cNvPr id="55" name="Straight Connector 54"/>
          <p:cNvCxnSpPr>
            <a:stCxn id="42" idx="3"/>
            <a:endCxn id="32" idx="7"/>
          </p:cNvCxnSpPr>
          <p:nvPr/>
        </p:nvCxnSpPr>
        <p:spPr>
          <a:xfrm flipH="1">
            <a:off x="7149726" y="4493885"/>
            <a:ext cx="407148" cy="5372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57" idx="0"/>
            <a:endCxn id="42" idx="5"/>
          </p:cNvCxnSpPr>
          <p:nvPr/>
        </p:nvCxnSpPr>
        <p:spPr>
          <a:xfrm flipH="1" flipV="1">
            <a:off x="7987926" y="4493885"/>
            <a:ext cx="394074" cy="5353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8077200" y="50292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43</a:t>
            </a:r>
            <a:endParaRPr lang="en-US" dirty="0"/>
          </a:p>
        </p:txBody>
      </p:sp>
      <p:cxnSp>
        <p:nvCxnSpPr>
          <p:cNvPr id="61" name="Straight Connector 60"/>
          <p:cNvCxnSpPr>
            <a:stCxn id="33" idx="4"/>
            <a:endCxn id="63" idx="0"/>
          </p:cNvCxnSpPr>
          <p:nvPr/>
        </p:nvCxnSpPr>
        <p:spPr>
          <a:xfrm rot="5400000">
            <a:off x="2362200" y="4724400"/>
            <a:ext cx="914400" cy="609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2209800" y="54864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22</a:t>
            </a:r>
            <a:endParaRPr lang="en-US" dirty="0"/>
          </a:p>
        </p:txBody>
      </p:sp>
      <p:sp>
        <p:nvSpPr>
          <p:cNvPr id="32" name="Oval 31"/>
          <p:cNvSpPr/>
          <p:nvPr/>
        </p:nvSpPr>
        <p:spPr>
          <a:xfrm>
            <a:off x="6629400" y="49530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39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683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Delete(root, 20)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4267200" y="1371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25</a:t>
            </a:r>
            <a:endParaRPr lang="en-US" dirty="0"/>
          </a:p>
        </p:txBody>
      </p:sp>
      <p:cxnSp>
        <p:nvCxnSpPr>
          <p:cNvPr id="5" name="Straight Connector 4"/>
          <p:cNvCxnSpPr>
            <a:stCxn id="4" idx="2"/>
            <a:endCxn id="25" idx="0"/>
          </p:cNvCxnSpPr>
          <p:nvPr/>
        </p:nvCxnSpPr>
        <p:spPr>
          <a:xfrm rot="10800000" flipV="1">
            <a:off x="2514600" y="1638300"/>
            <a:ext cx="1752600" cy="1028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>
            <a:stCxn id="4" idx="6"/>
            <a:endCxn id="27" idx="0"/>
          </p:cNvCxnSpPr>
          <p:nvPr/>
        </p:nvCxnSpPr>
        <p:spPr>
          <a:xfrm>
            <a:off x="4876800" y="1638300"/>
            <a:ext cx="1828800" cy="1028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209800" y="26670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20</a:t>
            </a:r>
            <a:endParaRPr lang="en-US" dirty="0"/>
          </a:p>
        </p:txBody>
      </p:sp>
      <p:sp>
        <p:nvSpPr>
          <p:cNvPr id="27" name="Oval 26"/>
          <p:cNvSpPr/>
          <p:nvPr/>
        </p:nvSpPr>
        <p:spPr>
          <a:xfrm>
            <a:off x="6400800" y="26670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35</a:t>
            </a:r>
            <a:endParaRPr lang="en-US" dirty="0"/>
          </a:p>
        </p:txBody>
      </p:sp>
      <p:cxnSp>
        <p:nvCxnSpPr>
          <p:cNvPr id="30" name="Straight Connector 29"/>
          <p:cNvCxnSpPr/>
          <p:nvPr/>
        </p:nvCxnSpPr>
        <p:spPr>
          <a:xfrm rot="5400000">
            <a:off x="1605780" y="3345306"/>
            <a:ext cx="916315" cy="470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33" idx="0"/>
            <a:endCxn id="25" idx="5"/>
          </p:cNvCxnSpPr>
          <p:nvPr/>
        </p:nvCxnSpPr>
        <p:spPr>
          <a:xfrm rot="16200000" flipV="1">
            <a:off x="2469006" y="3383406"/>
            <a:ext cx="916315" cy="3940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28194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23</a:t>
            </a:r>
            <a:endParaRPr lang="en-US" dirty="0"/>
          </a:p>
        </p:txBody>
      </p:sp>
      <p:sp>
        <p:nvSpPr>
          <p:cNvPr id="34" name="Oval 33"/>
          <p:cNvSpPr/>
          <p:nvPr/>
        </p:nvSpPr>
        <p:spPr>
          <a:xfrm>
            <a:off x="15240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10</a:t>
            </a:r>
            <a:endParaRPr lang="en-US" dirty="0"/>
          </a:p>
        </p:txBody>
      </p:sp>
      <p:cxnSp>
        <p:nvCxnSpPr>
          <p:cNvPr id="37" name="Straight Connector 36"/>
          <p:cNvCxnSpPr/>
          <p:nvPr/>
        </p:nvCxnSpPr>
        <p:spPr>
          <a:xfrm rot="5400000">
            <a:off x="5606280" y="3154806"/>
            <a:ext cx="916315" cy="851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27" idx="5"/>
            <a:endCxn id="42" idx="0"/>
          </p:cNvCxnSpPr>
          <p:nvPr/>
        </p:nvCxnSpPr>
        <p:spPr>
          <a:xfrm rot="16200000" flipH="1">
            <a:off x="6888606" y="3154805"/>
            <a:ext cx="916315" cy="851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53340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29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74676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40</a:t>
            </a:r>
            <a:endParaRPr lang="en-US" dirty="0"/>
          </a:p>
        </p:txBody>
      </p:sp>
      <p:cxnSp>
        <p:nvCxnSpPr>
          <p:cNvPr id="55" name="Straight Connector 54"/>
          <p:cNvCxnSpPr>
            <a:stCxn id="42" idx="3"/>
          </p:cNvCxnSpPr>
          <p:nvPr/>
        </p:nvCxnSpPr>
        <p:spPr>
          <a:xfrm flipH="1">
            <a:off x="7086601" y="4493885"/>
            <a:ext cx="470273" cy="4591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57" idx="0"/>
            <a:endCxn id="42" idx="5"/>
          </p:cNvCxnSpPr>
          <p:nvPr/>
        </p:nvCxnSpPr>
        <p:spPr>
          <a:xfrm flipH="1" flipV="1">
            <a:off x="7987926" y="4493885"/>
            <a:ext cx="394074" cy="5353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8077200" y="50292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43</a:t>
            </a:r>
            <a:endParaRPr lang="en-US" dirty="0"/>
          </a:p>
        </p:txBody>
      </p:sp>
      <p:sp>
        <p:nvSpPr>
          <p:cNvPr id="58" name="Oval 57"/>
          <p:cNvSpPr/>
          <p:nvPr/>
        </p:nvSpPr>
        <p:spPr>
          <a:xfrm>
            <a:off x="6781800" y="49530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37</a:t>
            </a:r>
            <a:endParaRPr lang="en-US" dirty="0"/>
          </a:p>
        </p:txBody>
      </p:sp>
      <p:cxnSp>
        <p:nvCxnSpPr>
          <p:cNvPr id="61" name="Straight Connector 60"/>
          <p:cNvCxnSpPr>
            <a:stCxn id="33" idx="4"/>
            <a:endCxn id="63" idx="0"/>
          </p:cNvCxnSpPr>
          <p:nvPr/>
        </p:nvCxnSpPr>
        <p:spPr>
          <a:xfrm rot="5400000">
            <a:off x="2362200" y="4724400"/>
            <a:ext cx="914400" cy="609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2209800" y="54864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22</a:t>
            </a:r>
            <a:endParaRPr lang="en-US" dirty="0"/>
          </a:p>
        </p:txBody>
      </p:sp>
      <p:cxnSp>
        <p:nvCxnSpPr>
          <p:cNvPr id="26" name="Straight Connector 25"/>
          <p:cNvCxnSpPr>
            <a:stCxn id="58" idx="5"/>
          </p:cNvCxnSpPr>
          <p:nvPr/>
        </p:nvCxnSpPr>
        <p:spPr>
          <a:xfrm>
            <a:off x="7302126" y="5408285"/>
            <a:ext cx="254749" cy="5314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7391400" y="5943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39</a:t>
            </a:r>
            <a:endParaRPr lang="en-US" dirty="0"/>
          </a:p>
        </p:txBody>
      </p:sp>
      <p:cxnSp>
        <p:nvCxnSpPr>
          <p:cNvPr id="24" name="Straight Connector 23"/>
          <p:cNvCxnSpPr>
            <a:stCxn id="33" idx="5"/>
            <a:endCxn id="28" idx="0"/>
          </p:cNvCxnSpPr>
          <p:nvPr/>
        </p:nvCxnSpPr>
        <p:spPr>
          <a:xfrm>
            <a:off x="3339726" y="4493885"/>
            <a:ext cx="698874" cy="9925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3733800" y="54864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282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Delete(root-&gt;right, 22)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4267200" y="1371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25</a:t>
            </a:r>
            <a:endParaRPr lang="en-US" dirty="0"/>
          </a:p>
        </p:txBody>
      </p:sp>
      <p:cxnSp>
        <p:nvCxnSpPr>
          <p:cNvPr id="5" name="Straight Connector 4"/>
          <p:cNvCxnSpPr>
            <a:stCxn id="4" idx="2"/>
            <a:endCxn id="25" idx="0"/>
          </p:cNvCxnSpPr>
          <p:nvPr/>
        </p:nvCxnSpPr>
        <p:spPr>
          <a:xfrm rot="10800000" flipV="1">
            <a:off x="2514600" y="1638300"/>
            <a:ext cx="1752600" cy="1028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>
            <a:stCxn id="4" idx="6"/>
            <a:endCxn id="27" idx="0"/>
          </p:cNvCxnSpPr>
          <p:nvPr/>
        </p:nvCxnSpPr>
        <p:spPr>
          <a:xfrm>
            <a:off x="4876800" y="1638300"/>
            <a:ext cx="1828800" cy="1028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209800" y="26670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22</a:t>
            </a:r>
            <a:endParaRPr lang="en-US" dirty="0"/>
          </a:p>
        </p:txBody>
      </p:sp>
      <p:sp>
        <p:nvSpPr>
          <p:cNvPr id="27" name="Oval 26"/>
          <p:cNvSpPr/>
          <p:nvPr/>
        </p:nvSpPr>
        <p:spPr>
          <a:xfrm>
            <a:off x="6400800" y="26670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35</a:t>
            </a:r>
            <a:endParaRPr lang="en-US" dirty="0"/>
          </a:p>
        </p:txBody>
      </p:sp>
      <p:cxnSp>
        <p:nvCxnSpPr>
          <p:cNvPr id="30" name="Straight Connector 29"/>
          <p:cNvCxnSpPr/>
          <p:nvPr/>
        </p:nvCxnSpPr>
        <p:spPr>
          <a:xfrm rot="5400000">
            <a:off x="1605780" y="3345306"/>
            <a:ext cx="916315" cy="470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33" idx="0"/>
            <a:endCxn id="25" idx="5"/>
          </p:cNvCxnSpPr>
          <p:nvPr/>
        </p:nvCxnSpPr>
        <p:spPr>
          <a:xfrm rot="16200000" flipV="1">
            <a:off x="2469006" y="3383406"/>
            <a:ext cx="916315" cy="3940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28194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23</a:t>
            </a:r>
            <a:endParaRPr lang="en-US" dirty="0"/>
          </a:p>
        </p:txBody>
      </p:sp>
      <p:sp>
        <p:nvSpPr>
          <p:cNvPr id="34" name="Oval 33"/>
          <p:cNvSpPr/>
          <p:nvPr/>
        </p:nvSpPr>
        <p:spPr>
          <a:xfrm>
            <a:off x="15240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10</a:t>
            </a:r>
            <a:endParaRPr lang="en-US" dirty="0"/>
          </a:p>
        </p:txBody>
      </p:sp>
      <p:cxnSp>
        <p:nvCxnSpPr>
          <p:cNvPr id="37" name="Straight Connector 36"/>
          <p:cNvCxnSpPr/>
          <p:nvPr/>
        </p:nvCxnSpPr>
        <p:spPr>
          <a:xfrm rot="5400000">
            <a:off x="5606280" y="3154806"/>
            <a:ext cx="916315" cy="851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27" idx="5"/>
            <a:endCxn id="42" idx="0"/>
          </p:cNvCxnSpPr>
          <p:nvPr/>
        </p:nvCxnSpPr>
        <p:spPr>
          <a:xfrm rot="16200000" flipH="1">
            <a:off x="6888606" y="3154805"/>
            <a:ext cx="916315" cy="851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53340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29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74676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40</a:t>
            </a:r>
            <a:endParaRPr lang="en-US" dirty="0"/>
          </a:p>
        </p:txBody>
      </p:sp>
      <p:cxnSp>
        <p:nvCxnSpPr>
          <p:cNvPr id="55" name="Straight Connector 54"/>
          <p:cNvCxnSpPr>
            <a:stCxn id="42" idx="3"/>
          </p:cNvCxnSpPr>
          <p:nvPr/>
        </p:nvCxnSpPr>
        <p:spPr>
          <a:xfrm flipH="1">
            <a:off x="7086601" y="4493885"/>
            <a:ext cx="470273" cy="4591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57" idx="0"/>
            <a:endCxn id="42" idx="5"/>
          </p:cNvCxnSpPr>
          <p:nvPr/>
        </p:nvCxnSpPr>
        <p:spPr>
          <a:xfrm flipH="1" flipV="1">
            <a:off x="7987926" y="4493885"/>
            <a:ext cx="394074" cy="5353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8077200" y="50292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43</a:t>
            </a:r>
            <a:endParaRPr lang="en-US" dirty="0"/>
          </a:p>
        </p:txBody>
      </p:sp>
      <p:sp>
        <p:nvSpPr>
          <p:cNvPr id="58" name="Oval 57"/>
          <p:cNvSpPr/>
          <p:nvPr/>
        </p:nvSpPr>
        <p:spPr>
          <a:xfrm>
            <a:off x="6781800" y="49530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37</a:t>
            </a:r>
            <a:endParaRPr lang="en-US" dirty="0"/>
          </a:p>
        </p:txBody>
      </p:sp>
      <p:cxnSp>
        <p:nvCxnSpPr>
          <p:cNvPr id="61" name="Straight Connector 60"/>
          <p:cNvCxnSpPr>
            <a:stCxn id="33" idx="4"/>
            <a:endCxn id="63" idx="0"/>
          </p:cNvCxnSpPr>
          <p:nvPr/>
        </p:nvCxnSpPr>
        <p:spPr>
          <a:xfrm rot="5400000">
            <a:off x="2362200" y="4724400"/>
            <a:ext cx="914400" cy="609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2209800" y="54864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22</a:t>
            </a:r>
            <a:endParaRPr lang="en-US" dirty="0"/>
          </a:p>
        </p:txBody>
      </p:sp>
      <p:cxnSp>
        <p:nvCxnSpPr>
          <p:cNvPr id="26" name="Straight Connector 25"/>
          <p:cNvCxnSpPr>
            <a:stCxn id="58" idx="5"/>
          </p:cNvCxnSpPr>
          <p:nvPr/>
        </p:nvCxnSpPr>
        <p:spPr>
          <a:xfrm>
            <a:off x="7302126" y="5408285"/>
            <a:ext cx="254749" cy="5314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7391400" y="5943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39</a:t>
            </a:r>
            <a:endParaRPr lang="en-US" dirty="0"/>
          </a:p>
        </p:txBody>
      </p:sp>
      <p:cxnSp>
        <p:nvCxnSpPr>
          <p:cNvPr id="24" name="Straight Connector 23"/>
          <p:cNvCxnSpPr>
            <a:stCxn id="33" idx="5"/>
            <a:endCxn id="28" idx="0"/>
          </p:cNvCxnSpPr>
          <p:nvPr/>
        </p:nvCxnSpPr>
        <p:spPr>
          <a:xfrm>
            <a:off x="3339726" y="4493885"/>
            <a:ext cx="698874" cy="9925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3733800" y="54864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32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Delete(root-&gt;right, 22)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4267200" y="1371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25</a:t>
            </a:r>
            <a:endParaRPr lang="en-US" dirty="0"/>
          </a:p>
        </p:txBody>
      </p:sp>
      <p:cxnSp>
        <p:nvCxnSpPr>
          <p:cNvPr id="5" name="Straight Connector 4"/>
          <p:cNvCxnSpPr>
            <a:stCxn id="4" idx="2"/>
            <a:endCxn id="25" idx="0"/>
          </p:cNvCxnSpPr>
          <p:nvPr/>
        </p:nvCxnSpPr>
        <p:spPr>
          <a:xfrm rot="10800000" flipV="1">
            <a:off x="2514600" y="1638300"/>
            <a:ext cx="1752600" cy="1028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>
            <a:stCxn id="4" idx="6"/>
            <a:endCxn id="27" idx="0"/>
          </p:cNvCxnSpPr>
          <p:nvPr/>
        </p:nvCxnSpPr>
        <p:spPr>
          <a:xfrm>
            <a:off x="4876800" y="1638300"/>
            <a:ext cx="1828800" cy="1028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209800" y="26670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22</a:t>
            </a:r>
            <a:endParaRPr lang="en-US" dirty="0"/>
          </a:p>
        </p:txBody>
      </p:sp>
      <p:sp>
        <p:nvSpPr>
          <p:cNvPr id="27" name="Oval 26"/>
          <p:cNvSpPr/>
          <p:nvPr/>
        </p:nvSpPr>
        <p:spPr>
          <a:xfrm>
            <a:off x="6400800" y="26670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35</a:t>
            </a:r>
            <a:endParaRPr lang="en-US" dirty="0"/>
          </a:p>
        </p:txBody>
      </p:sp>
      <p:cxnSp>
        <p:nvCxnSpPr>
          <p:cNvPr id="30" name="Straight Connector 29"/>
          <p:cNvCxnSpPr/>
          <p:nvPr/>
        </p:nvCxnSpPr>
        <p:spPr>
          <a:xfrm rot="5400000">
            <a:off x="1605780" y="3345306"/>
            <a:ext cx="916315" cy="470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33" idx="0"/>
            <a:endCxn id="25" idx="5"/>
          </p:cNvCxnSpPr>
          <p:nvPr/>
        </p:nvCxnSpPr>
        <p:spPr>
          <a:xfrm rot="16200000" flipV="1">
            <a:off x="2469006" y="3383406"/>
            <a:ext cx="916315" cy="3940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28194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23</a:t>
            </a:r>
            <a:endParaRPr lang="en-US" dirty="0"/>
          </a:p>
        </p:txBody>
      </p:sp>
      <p:sp>
        <p:nvSpPr>
          <p:cNvPr id="34" name="Oval 33"/>
          <p:cNvSpPr/>
          <p:nvPr/>
        </p:nvSpPr>
        <p:spPr>
          <a:xfrm>
            <a:off x="15240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10</a:t>
            </a:r>
            <a:endParaRPr lang="en-US" dirty="0"/>
          </a:p>
        </p:txBody>
      </p:sp>
      <p:cxnSp>
        <p:nvCxnSpPr>
          <p:cNvPr id="37" name="Straight Connector 36"/>
          <p:cNvCxnSpPr/>
          <p:nvPr/>
        </p:nvCxnSpPr>
        <p:spPr>
          <a:xfrm rot="5400000">
            <a:off x="5606280" y="3154806"/>
            <a:ext cx="916315" cy="851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27" idx="5"/>
            <a:endCxn id="42" idx="0"/>
          </p:cNvCxnSpPr>
          <p:nvPr/>
        </p:nvCxnSpPr>
        <p:spPr>
          <a:xfrm rot="16200000" flipH="1">
            <a:off x="6888606" y="3154805"/>
            <a:ext cx="916315" cy="851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53340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29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74676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40</a:t>
            </a:r>
            <a:endParaRPr lang="en-US" dirty="0"/>
          </a:p>
        </p:txBody>
      </p:sp>
      <p:cxnSp>
        <p:nvCxnSpPr>
          <p:cNvPr id="55" name="Straight Connector 54"/>
          <p:cNvCxnSpPr>
            <a:stCxn id="42" idx="3"/>
          </p:cNvCxnSpPr>
          <p:nvPr/>
        </p:nvCxnSpPr>
        <p:spPr>
          <a:xfrm flipH="1">
            <a:off x="7086601" y="4493885"/>
            <a:ext cx="470273" cy="4591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57" idx="0"/>
            <a:endCxn id="42" idx="5"/>
          </p:cNvCxnSpPr>
          <p:nvPr/>
        </p:nvCxnSpPr>
        <p:spPr>
          <a:xfrm flipH="1" flipV="1">
            <a:off x="7987926" y="4493885"/>
            <a:ext cx="394074" cy="5353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8077200" y="50292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43</a:t>
            </a:r>
            <a:endParaRPr lang="en-US" dirty="0"/>
          </a:p>
        </p:txBody>
      </p:sp>
      <p:sp>
        <p:nvSpPr>
          <p:cNvPr id="58" name="Oval 57"/>
          <p:cNvSpPr/>
          <p:nvPr/>
        </p:nvSpPr>
        <p:spPr>
          <a:xfrm>
            <a:off x="6781800" y="49530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37</a:t>
            </a:r>
            <a:endParaRPr lang="en-US" dirty="0"/>
          </a:p>
        </p:txBody>
      </p:sp>
      <p:cxnSp>
        <p:nvCxnSpPr>
          <p:cNvPr id="26" name="Straight Connector 25"/>
          <p:cNvCxnSpPr>
            <a:stCxn id="58" idx="5"/>
          </p:cNvCxnSpPr>
          <p:nvPr/>
        </p:nvCxnSpPr>
        <p:spPr>
          <a:xfrm>
            <a:off x="7302126" y="5408285"/>
            <a:ext cx="254749" cy="5314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7391400" y="5943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39</a:t>
            </a:r>
            <a:endParaRPr lang="en-US" dirty="0"/>
          </a:p>
        </p:txBody>
      </p:sp>
      <p:cxnSp>
        <p:nvCxnSpPr>
          <p:cNvPr id="24" name="Straight Connector 23"/>
          <p:cNvCxnSpPr>
            <a:stCxn id="33" idx="5"/>
            <a:endCxn id="28" idx="0"/>
          </p:cNvCxnSpPr>
          <p:nvPr/>
        </p:nvCxnSpPr>
        <p:spPr>
          <a:xfrm>
            <a:off x="3339726" y="4493885"/>
            <a:ext cx="698874" cy="9925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3733800" y="54864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2974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Application of Queue: </a:t>
            </a:r>
            <a:r>
              <a:rPr lang="en-US" dirty="0" err="1" smtClean="0"/>
              <a:t>Levelorder</a:t>
            </a:r>
            <a:r>
              <a:rPr lang="en-US" dirty="0" smtClean="0"/>
              <a:t> Traversal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4267200" y="1371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25</a:t>
            </a:r>
            <a:endParaRPr lang="en-US" dirty="0"/>
          </a:p>
        </p:txBody>
      </p:sp>
      <p:cxnSp>
        <p:nvCxnSpPr>
          <p:cNvPr id="5" name="Straight Connector 4"/>
          <p:cNvCxnSpPr>
            <a:stCxn id="4" idx="2"/>
            <a:endCxn id="25" idx="0"/>
          </p:cNvCxnSpPr>
          <p:nvPr/>
        </p:nvCxnSpPr>
        <p:spPr>
          <a:xfrm rot="10800000" flipV="1">
            <a:off x="2514600" y="1638300"/>
            <a:ext cx="1752600" cy="1028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>
            <a:stCxn id="4" idx="6"/>
            <a:endCxn id="27" idx="0"/>
          </p:cNvCxnSpPr>
          <p:nvPr/>
        </p:nvCxnSpPr>
        <p:spPr>
          <a:xfrm>
            <a:off x="4876800" y="1638300"/>
            <a:ext cx="1828800" cy="1028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209800" y="26670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20</a:t>
            </a:r>
            <a:endParaRPr lang="en-US" dirty="0"/>
          </a:p>
        </p:txBody>
      </p:sp>
      <p:sp>
        <p:nvSpPr>
          <p:cNvPr id="27" name="Oval 26"/>
          <p:cNvSpPr/>
          <p:nvPr/>
        </p:nvSpPr>
        <p:spPr>
          <a:xfrm>
            <a:off x="6400800" y="26670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35</a:t>
            </a:r>
            <a:endParaRPr lang="en-US" dirty="0"/>
          </a:p>
        </p:txBody>
      </p:sp>
      <p:cxnSp>
        <p:nvCxnSpPr>
          <p:cNvPr id="30" name="Straight Connector 29"/>
          <p:cNvCxnSpPr>
            <a:stCxn id="25" idx="3"/>
            <a:endCxn id="34" idx="0"/>
          </p:cNvCxnSpPr>
          <p:nvPr/>
        </p:nvCxnSpPr>
        <p:spPr>
          <a:xfrm rot="5400000">
            <a:off x="1605780" y="3345305"/>
            <a:ext cx="916315" cy="470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33" idx="0"/>
            <a:endCxn id="25" idx="5"/>
          </p:cNvCxnSpPr>
          <p:nvPr/>
        </p:nvCxnSpPr>
        <p:spPr>
          <a:xfrm rot="16200000" flipV="1">
            <a:off x="2469006" y="3383406"/>
            <a:ext cx="916315" cy="3940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28194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23</a:t>
            </a:r>
            <a:endParaRPr lang="en-US" dirty="0"/>
          </a:p>
        </p:txBody>
      </p:sp>
      <p:sp>
        <p:nvSpPr>
          <p:cNvPr id="34" name="Oval 33"/>
          <p:cNvSpPr/>
          <p:nvPr/>
        </p:nvSpPr>
        <p:spPr>
          <a:xfrm>
            <a:off x="15240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10</a:t>
            </a:r>
            <a:endParaRPr lang="en-US" dirty="0"/>
          </a:p>
        </p:txBody>
      </p:sp>
      <p:cxnSp>
        <p:nvCxnSpPr>
          <p:cNvPr id="37" name="Straight Connector 36"/>
          <p:cNvCxnSpPr>
            <a:stCxn id="27" idx="3"/>
            <a:endCxn id="41" idx="0"/>
          </p:cNvCxnSpPr>
          <p:nvPr/>
        </p:nvCxnSpPr>
        <p:spPr>
          <a:xfrm rot="5400000">
            <a:off x="5606280" y="3154805"/>
            <a:ext cx="916315" cy="851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27" idx="5"/>
            <a:endCxn id="42" idx="0"/>
          </p:cNvCxnSpPr>
          <p:nvPr/>
        </p:nvCxnSpPr>
        <p:spPr>
          <a:xfrm rot="16200000" flipH="1">
            <a:off x="6888606" y="3154805"/>
            <a:ext cx="916315" cy="851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53340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29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7467600" y="403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40</a:t>
            </a:r>
            <a:endParaRPr lang="en-US" dirty="0"/>
          </a:p>
        </p:txBody>
      </p:sp>
      <p:cxnSp>
        <p:nvCxnSpPr>
          <p:cNvPr id="55" name="Straight Connector 54"/>
          <p:cNvCxnSpPr>
            <a:endCxn id="58" idx="0"/>
          </p:cNvCxnSpPr>
          <p:nvPr/>
        </p:nvCxnSpPr>
        <p:spPr>
          <a:xfrm rot="5400000">
            <a:off x="6824522" y="4757879"/>
            <a:ext cx="994431" cy="470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57" idx="0"/>
          </p:cNvCxnSpPr>
          <p:nvPr/>
        </p:nvCxnSpPr>
        <p:spPr>
          <a:xfrm rot="16200000" flipV="1">
            <a:off x="7687748" y="4795980"/>
            <a:ext cx="994431" cy="3940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8077200" y="5490232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43</a:t>
            </a:r>
            <a:endParaRPr lang="en-US" dirty="0"/>
          </a:p>
        </p:txBody>
      </p:sp>
      <p:sp>
        <p:nvSpPr>
          <p:cNvPr id="58" name="Oval 57"/>
          <p:cNvSpPr/>
          <p:nvPr/>
        </p:nvSpPr>
        <p:spPr>
          <a:xfrm>
            <a:off x="6781800" y="5490232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37</a:t>
            </a:r>
            <a:endParaRPr lang="en-US" dirty="0"/>
          </a:p>
        </p:txBody>
      </p:sp>
      <p:cxnSp>
        <p:nvCxnSpPr>
          <p:cNvPr id="61" name="Straight Connector 60"/>
          <p:cNvCxnSpPr>
            <a:stCxn id="33" idx="4"/>
            <a:endCxn id="63" idx="0"/>
          </p:cNvCxnSpPr>
          <p:nvPr/>
        </p:nvCxnSpPr>
        <p:spPr>
          <a:xfrm rot="5400000">
            <a:off x="2362200" y="4724400"/>
            <a:ext cx="914400" cy="609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2209800" y="54864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22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3506200" y="6324600"/>
            <a:ext cx="3520516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25, 20, 35, 10, 23, 29, 40, 22, 37, 43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838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4267200" y="228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25</a:t>
            </a:r>
            <a:endParaRPr lang="en-US" dirty="0"/>
          </a:p>
        </p:txBody>
      </p:sp>
      <p:cxnSp>
        <p:nvCxnSpPr>
          <p:cNvPr id="5" name="Straight Connector 4"/>
          <p:cNvCxnSpPr>
            <a:stCxn id="4" idx="2"/>
            <a:endCxn id="25" idx="0"/>
          </p:cNvCxnSpPr>
          <p:nvPr/>
        </p:nvCxnSpPr>
        <p:spPr>
          <a:xfrm rot="10800000" flipV="1">
            <a:off x="2514600" y="495300"/>
            <a:ext cx="1752600" cy="1028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>
            <a:stCxn id="4" idx="6"/>
            <a:endCxn id="27" idx="0"/>
          </p:cNvCxnSpPr>
          <p:nvPr/>
        </p:nvCxnSpPr>
        <p:spPr>
          <a:xfrm>
            <a:off x="4876800" y="495300"/>
            <a:ext cx="1828800" cy="1028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209800" y="15240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20</a:t>
            </a:r>
            <a:endParaRPr lang="en-US" dirty="0"/>
          </a:p>
        </p:txBody>
      </p:sp>
      <p:sp>
        <p:nvSpPr>
          <p:cNvPr id="27" name="Oval 26"/>
          <p:cNvSpPr/>
          <p:nvPr/>
        </p:nvSpPr>
        <p:spPr>
          <a:xfrm>
            <a:off x="6400800" y="15240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35</a:t>
            </a:r>
            <a:endParaRPr lang="en-US" dirty="0"/>
          </a:p>
        </p:txBody>
      </p:sp>
      <p:cxnSp>
        <p:nvCxnSpPr>
          <p:cNvPr id="30" name="Straight Connector 29"/>
          <p:cNvCxnSpPr>
            <a:stCxn id="25" idx="3"/>
            <a:endCxn id="34" idx="0"/>
          </p:cNvCxnSpPr>
          <p:nvPr/>
        </p:nvCxnSpPr>
        <p:spPr>
          <a:xfrm rot="5400000">
            <a:off x="1605780" y="2202305"/>
            <a:ext cx="916315" cy="470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33" idx="0"/>
            <a:endCxn id="25" idx="5"/>
          </p:cNvCxnSpPr>
          <p:nvPr/>
        </p:nvCxnSpPr>
        <p:spPr>
          <a:xfrm rot="16200000" flipV="1">
            <a:off x="2469006" y="2240406"/>
            <a:ext cx="916315" cy="3940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2819400" y="2895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23</a:t>
            </a:r>
            <a:endParaRPr lang="en-US" dirty="0"/>
          </a:p>
        </p:txBody>
      </p:sp>
      <p:sp>
        <p:nvSpPr>
          <p:cNvPr id="34" name="Oval 33"/>
          <p:cNvSpPr/>
          <p:nvPr/>
        </p:nvSpPr>
        <p:spPr>
          <a:xfrm>
            <a:off x="1524000" y="2895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10</a:t>
            </a:r>
            <a:endParaRPr lang="en-US" dirty="0"/>
          </a:p>
        </p:txBody>
      </p:sp>
      <p:cxnSp>
        <p:nvCxnSpPr>
          <p:cNvPr id="37" name="Straight Connector 36"/>
          <p:cNvCxnSpPr>
            <a:stCxn id="27" idx="3"/>
            <a:endCxn id="41" idx="0"/>
          </p:cNvCxnSpPr>
          <p:nvPr/>
        </p:nvCxnSpPr>
        <p:spPr>
          <a:xfrm rot="5400000">
            <a:off x="5606280" y="2011805"/>
            <a:ext cx="916315" cy="851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27" idx="5"/>
            <a:endCxn id="42" idx="0"/>
          </p:cNvCxnSpPr>
          <p:nvPr/>
        </p:nvCxnSpPr>
        <p:spPr>
          <a:xfrm rot="16200000" flipH="1">
            <a:off x="6888606" y="2011805"/>
            <a:ext cx="916315" cy="851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5334000" y="2895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29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7467600" y="28956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40</a:t>
            </a:r>
            <a:endParaRPr lang="en-US" dirty="0"/>
          </a:p>
        </p:txBody>
      </p:sp>
      <p:cxnSp>
        <p:nvCxnSpPr>
          <p:cNvPr id="55" name="Straight Connector 54"/>
          <p:cNvCxnSpPr>
            <a:endCxn id="58" idx="0"/>
          </p:cNvCxnSpPr>
          <p:nvPr/>
        </p:nvCxnSpPr>
        <p:spPr>
          <a:xfrm rot="5400000">
            <a:off x="6824522" y="3614879"/>
            <a:ext cx="994431" cy="470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57" idx="0"/>
          </p:cNvCxnSpPr>
          <p:nvPr/>
        </p:nvCxnSpPr>
        <p:spPr>
          <a:xfrm rot="16200000" flipV="1">
            <a:off x="7687748" y="3652980"/>
            <a:ext cx="994431" cy="3940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8077200" y="4347232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43</a:t>
            </a:r>
            <a:endParaRPr lang="en-US" dirty="0"/>
          </a:p>
        </p:txBody>
      </p:sp>
      <p:sp>
        <p:nvSpPr>
          <p:cNvPr id="58" name="Oval 57"/>
          <p:cNvSpPr/>
          <p:nvPr/>
        </p:nvSpPr>
        <p:spPr>
          <a:xfrm>
            <a:off x="6781800" y="4347232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37</a:t>
            </a:r>
            <a:endParaRPr lang="en-US" dirty="0"/>
          </a:p>
        </p:txBody>
      </p:sp>
      <p:cxnSp>
        <p:nvCxnSpPr>
          <p:cNvPr id="61" name="Straight Connector 60"/>
          <p:cNvCxnSpPr>
            <a:stCxn id="33" idx="4"/>
            <a:endCxn id="63" idx="0"/>
          </p:cNvCxnSpPr>
          <p:nvPr/>
        </p:nvCxnSpPr>
        <p:spPr>
          <a:xfrm rot="5400000">
            <a:off x="2362200" y="3581400"/>
            <a:ext cx="914400" cy="609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2209800" y="4343400"/>
            <a:ext cx="6096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70C0"/>
                </a:solidFill>
              </a:rPr>
              <a:t>22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3506200" y="3657600"/>
            <a:ext cx="2285000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Queue:                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640557" y="4267200"/>
            <a:ext cx="3288208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Q = </a:t>
            </a:r>
            <a:r>
              <a:rPr lang="en-IN" dirty="0" err="1" smtClean="0"/>
              <a:t>enqueue</a:t>
            </a:r>
            <a:r>
              <a:rPr lang="en-IN" dirty="0" smtClean="0"/>
              <a:t>(Q, root);</a:t>
            </a:r>
          </a:p>
          <a:p>
            <a:r>
              <a:rPr lang="en-IN" dirty="0" smtClean="0"/>
              <a:t>While (Q is not empty) {</a:t>
            </a:r>
          </a:p>
          <a:p>
            <a:r>
              <a:rPr lang="en-IN" dirty="0"/>
              <a:t> </a:t>
            </a:r>
            <a:r>
              <a:rPr lang="en-IN" dirty="0" smtClean="0"/>
              <a:t>  x = </a:t>
            </a:r>
            <a:r>
              <a:rPr lang="en-IN" dirty="0" err="1" smtClean="0"/>
              <a:t>dequeue</a:t>
            </a:r>
            <a:r>
              <a:rPr lang="en-IN" dirty="0" smtClean="0"/>
              <a:t>(Q);</a:t>
            </a:r>
          </a:p>
          <a:p>
            <a:r>
              <a:rPr lang="en-IN" dirty="0"/>
              <a:t> </a:t>
            </a:r>
            <a:r>
              <a:rPr lang="en-IN" dirty="0" smtClean="0"/>
              <a:t>  print(x-&gt;data);</a:t>
            </a:r>
          </a:p>
          <a:p>
            <a:r>
              <a:rPr lang="en-IN" dirty="0"/>
              <a:t> </a:t>
            </a:r>
            <a:r>
              <a:rPr lang="en-IN" dirty="0" smtClean="0"/>
              <a:t>  if(x-&gt;left != NULL)</a:t>
            </a:r>
          </a:p>
          <a:p>
            <a:r>
              <a:rPr lang="en-IN" dirty="0" smtClean="0"/>
              <a:t>             </a:t>
            </a:r>
            <a:r>
              <a:rPr lang="en-IN" dirty="0"/>
              <a:t>Q = </a:t>
            </a:r>
            <a:r>
              <a:rPr lang="en-IN" dirty="0" err="1"/>
              <a:t>enqueue</a:t>
            </a:r>
            <a:r>
              <a:rPr lang="en-IN" dirty="0"/>
              <a:t>(Q, </a:t>
            </a:r>
            <a:r>
              <a:rPr lang="en-IN" dirty="0" smtClean="0"/>
              <a:t>x-&gt;left);</a:t>
            </a:r>
          </a:p>
          <a:p>
            <a:r>
              <a:rPr lang="en-IN" dirty="0" smtClean="0"/>
              <a:t>   if(x-&gt;right != NULL)</a:t>
            </a:r>
          </a:p>
          <a:p>
            <a:r>
              <a:rPr lang="en-IN" dirty="0"/>
              <a:t> </a:t>
            </a:r>
            <a:r>
              <a:rPr lang="en-IN" dirty="0" smtClean="0"/>
              <a:t>            Q </a:t>
            </a:r>
            <a:r>
              <a:rPr lang="en-IN" dirty="0"/>
              <a:t>= </a:t>
            </a:r>
            <a:r>
              <a:rPr lang="en-IN" dirty="0" err="1"/>
              <a:t>enqueue</a:t>
            </a:r>
            <a:r>
              <a:rPr lang="en-IN" dirty="0"/>
              <a:t>(Q, x-</a:t>
            </a:r>
            <a:r>
              <a:rPr lang="en-IN" dirty="0" smtClean="0"/>
              <a:t>&gt;right);</a:t>
            </a:r>
          </a:p>
          <a:p>
            <a:r>
              <a:rPr lang="en-IN" dirty="0"/>
              <a:t>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4800" y="228600"/>
            <a:ext cx="3733800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25  </a:t>
            </a:r>
            <a:r>
              <a:rPr lang="en-US" dirty="0" smtClean="0">
                <a:solidFill>
                  <a:srgbClr val="00B050"/>
                </a:solidFill>
              </a:rPr>
              <a:t>20  35</a:t>
            </a:r>
            <a:r>
              <a:rPr lang="en-US" dirty="0" smtClean="0"/>
              <a:t>  10  23  29 40  </a:t>
            </a:r>
            <a:r>
              <a:rPr lang="en-US" dirty="0" smtClean="0">
                <a:solidFill>
                  <a:srgbClr val="00B050"/>
                </a:solidFill>
              </a:rPr>
              <a:t>22  37  43</a:t>
            </a:r>
            <a:r>
              <a:rPr lang="en-US" dirty="0" smtClean="0"/>
              <a:t>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947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1085</TotalTime>
  <Words>2293</Words>
  <Application>Microsoft Office PowerPoint</Application>
  <PresentationFormat>On-screen Show (4:3)</PresentationFormat>
  <Paragraphs>555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6" baseType="lpstr">
      <vt:lpstr>Arial</vt:lpstr>
      <vt:lpstr>Calibri</vt:lpstr>
      <vt:lpstr>Wingdings</vt:lpstr>
      <vt:lpstr>Office Theme</vt:lpstr>
      <vt:lpstr>Tree: A Non-Linear Data Structure</vt:lpstr>
      <vt:lpstr>Example of a Tree</vt:lpstr>
      <vt:lpstr>Tree</vt:lpstr>
      <vt:lpstr>Definitions</vt:lpstr>
      <vt:lpstr>Definitions</vt:lpstr>
      <vt:lpstr>Example</vt:lpstr>
      <vt:lpstr>Binary Tree</vt:lpstr>
      <vt:lpstr>Binary Tree</vt:lpstr>
      <vt:lpstr>Binary Tree: Recursive Definition</vt:lpstr>
      <vt:lpstr>Binary Tree</vt:lpstr>
      <vt:lpstr>Binary Tree</vt:lpstr>
      <vt:lpstr>Binary Tree Data Structure</vt:lpstr>
      <vt:lpstr>Example</vt:lpstr>
      <vt:lpstr>Binary Tree Traversals</vt:lpstr>
      <vt:lpstr>Preorder Traversal</vt:lpstr>
      <vt:lpstr>Preorder Traversal</vt:lpstr>
      <vt:lpstr>Inorder Traversal</vt:lpstr>
      <vt:lpstr>Inorder Traversal</vt:lpstr>
      <vt:lpstr>Postorder Traversal</vt:lpstr>
      <vt:lpstr>Postorder Traversal</vt:lpstr>
      <vt:lpstr>Binary Tree Construction</vt:lpstr>
      <vt:lpstr>BT Construction from Preorder + Inorder</vt:lpstr>
      <vt:lpstr>BT Construction from Postorder + Inorder</vt:lpstr>
      <vt:lpstr>Binary Search Tree</vt:lpstr>
      <vt:lpstr>Binary Search Tree</vt:lpstr>
      <vt:lpstr>Preorder Traversal</vt:lpstr>
      <vt:lpstr>Inorder Traversal</vt:lpstr>
      <vt:lpstr>Postorder Traversal</vt:lpstr>
      <vt:lpstr>Search in BST</vt:lpstr>
      <vt:lpstr>Search (root, 37)</vt:lpstr>
      <vt:lpstr>Search in BST</vt:lpstr>
      <vt:lpstr>Insertion in BST</vt:lpstr>
      <vt:lpstr>Insert(root, 32)</vt:lpstr>
      <vt:lpstr>Insertion in BST</vt:lpstr>
      <vt:lpstr>Insertion in BST</vt:lpstr>
      <vt:lpstr>Insertion at BST: 10, 20, 5, 15</vt:lpstr>
      <vt:lpstr>Deletion in BST</vt:lpstr>
      <vt:lpstr>Deletion in BST</vt:lpstr>
      <vt:lpstr>Delete(root, 37)</vt:lpstr>
      <vt:lpstr>Deletion in BST</vt:lpstr>
      <vt:lpstr>Delete(root, 40)</vt:lpstr>
      <vt:lpstr>Deletion in BST</vt:lpstr>
      <vt:lpstr>Delete(root, 25)</vt:lpstr>
      <vt:lpstr>Deletion in BST</vt:lpstr>
      <vt:lpstr>Delete(root, 35)</vt:lpstr>
      <vt:lpstr>Delete(root-&gt;right, 37)</vt:lpstr>
      <vt:lpstr>Delete(root-&gt;right, 37)</vt:lpstr>
      <vt:lpstr>Delete(root, 20)</vt:lpstr>
      <vt:lpstr>Delete(root-&gt;right, 22)</vt:lpstr>
      <vt:lpstr>Delete(root-&gt;right, 22)</vt:lpstr>
      <vt:lpstr>Application of Queue: Levelorder Traversal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Linked List</dc:title>
  <dc:creator>IITBBSR</dc:creator>
  <cp:lastModifiedBy>IIT</cp:lastModifiedBy>
  <cp:revision>174</cp:revision>
  <dcterms:created xsi:type="dcterms:W3CDTF">2006-08-16T00:00:00Z</dcterms:created>
  <dcterms:modified xsi:type="dcterms:W3CDTF">2023-08-29T07:23:14Z</dcterms:modified>
</cp:coreProperties>
</file>
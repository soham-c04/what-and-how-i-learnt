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4" r:id="rId3"/>
    <p:sldId id="265" r:id="rId4"/>
    <p:sldId id="257" r:id="rId5"/>
    <p:sldId id="258" r:id="rId6"/>
    <p:sldId id="259" r:id="rId7"/>
    <p:sldId id="260" r:id="rId8"/>
    <p:sldId id="261" r:id="rId9"/>
    <p:sldId id="262" r:id="rId10"/>
    <p:sldId id="263" r:id="rId11"/>
    <p:sldId id="266" r:id="rId12"/>
    <p:sldId id="267" r:id="rId13"/>
    <p:sldId id="268" r:id="rId14"/>
    <p:sldId id="269" r:id="rId15"/>
    <p:sldId id="270" r:id="rId16"/>
    <p:sldId id="271" r:id="rId17"/>
    <p:sldId id="272" r:id="rId18"/>
    <p:sldId id="275" r:id="rId19"/>
    <p:sldId id="276" r:id="rId20"/>
    <p:sldId id="273" r:id="rId21"/>
    <p:sldId id="274"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643"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B3054-3D9F-3D97-9A15-1B66FFA7E7A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2E651F-7648-7928-807F-74546289C1F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E362FDD-DC9B-19F2-8B06-5E85ECEB547E}"/>
              </a:ext>
            </a:extLst>
          </p:cNvPr>
          <p:cNvSpPr>
            <a:spLocks noGrp="1"/>
          </p:cNvSpPr>
          <p:nvPr>
            <p:ph type="dt" sz="half" idx="10"/>
          </p:nvPr>
        </p:nvSpPr>
        <p:spPr/>
        <p:txBody>
          <a:bodyPr/>
          <a:lstStyle/>
          <a:p>
            <a:fld id="{02A06361-DF0C-4A2C-A544-6CCC88EEAAF0}" type="datetimeFigureOut">
              <a:rPr lang="en-US" smtClean="0"/>
              <a:t>16-May-23</a:t>
            </a:fld>
            <a:endParaRPr lang="en-US"/>
          </a:p>
        </p:txBody>
      </p:sp>
      <p:sp>
        <p:nvSpPr>
          <p:cNvPr id="5" name="Footer Placeholder 4">
            <a:extLst>
              <a:ext uri="{FF2B5EF4-FFF2-40B4-BE49-F238E27FC236}">
                <a16:creationId xmlns:a16="http://schemas.microsoft.com/office/drawing/2014/main" id="{A776A079-8D0F-B2C3-A880-E1A04CB80C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9D4962-2DB3-0A4E-1573-5BAF9ED11E2B}"/>
              </a:ext>
            </a:extLst>
          </p:cNvPr>
          <p:cNvSpPr>
            <a:spLocks noGrp="1"/>
          </p:cNvSpPr>
          <p:nvPr>
            <p:ph type="sldNum" sz="quarter" idx="12"/>
          </p:nvPr>
        </p:nvSpPr>
        <p:spPr/>
        <p:txBody>
          <a:bodyPr/>
          <a:lstStyle/>
          <a:p>
            <a:fld id="{46EFA9BC-346E-4D7E-A1D9-3023C17893C1}" type="slidenum">
              <a:rPr lang="en-US" smtClean="0"/>
              <a:t>‹#›</a:t>
            </a:fld>
            <a:endParaRPr lang="en-US"/>
          </a:p>
        </p:txBody>
      </p:sp>
    </p:spTree>
    <p:extLst>
      <p:ext uri="{BB962C8B-B14F-4D97-AF65-F5344CB8AC3E}">
        <p14:creationId xmlns:p14="http://schemas.microsoft.com/office/powerpoint/2010/main" val="11162612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667E6-7468-87B4-BC74-BEFE75D525F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DFAA65E-FACE-D47E-BFE2-7AA59BBD8B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D35123-956E-3718-AAE1-131A4235C467}"/>
              </a:ext>
            </a:extLst>
          </p:cNvPr>
          <p:cNvSpPr>
            <a:spLocks noGrp="1"/>
          </p:cNvSpPr>
          <p:nvPr>
            <p:ph type="dt" sz="half" idx="10"/>
          </p:nvPr>
        </p:nvSpPr>
        <p:spPr/>
        <p:txBody>
          <a:bodyPr/>
          <a:lstStyle/>
          <a:p>
            <a:fld id="{02A06361-DF0C-4A2C-A544-6CCC88EEAAF0}" type="datetimeFigureOut">
              <a:rPr lang="en-US" smtClean="0"/>
              <a:t>16-May-23</a:t>
            </a:fld>
            <a:endParaRPr lang="en-US"/>
          </a:p>
        </p:txBody>
      </p:sp>
      <p:sp>
        <p:nvSpPr>
          <p:cNvPr id="5" name="Footer Placeholder 4">
            <a:extLst>
              <a:ext uri="{FF2B5EF4-FFF2-40B4-BE49-F238E27FC236}">
                <a16:creationId xmlns:a16="http://schemas.microsoft.com/office/drawing/2014/main" id="{CDF25788-E9EE-48E8-A284-31425C8950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203F95-CB65-124D-38B7-CB5145BAA305}"/>
              </a:ext>
            </a:extLst>
          </p:cNvPr>
          <p:cNvSpPr>
            <a:spLocks noGrp="1"/>
          </p:cNvSpPr>
          <p:nvPr>
            <p:ph type="sldNum" sz="quarter" idx="12"/>
          </p:nvPr>
        </p:nvSpPr>
        <p:spPr/>
        <p:txBody>
          <a:bodyPr/>
          <a:lstStyle/>
          <a:p>
            <a:fld id="{46EFA9BC-346E-4D7E-A1D9-3023C17893C1}" type="slidenum">
              <a:rPr lang="en-US" smtClean="0"/>
              <a:t>‹#›</a:t>
            </a:fld>
            <a:endParaRPr lang="en-US"/>
          </a:p>
        </p:txBody>
      </p:sp>
    </p:spTree>
    <p:extLst>
      <p:ext uri="{BB962C8B-B14F-4D97-AF65-F5344CB8AC3E}">
        <p14:creationId xmlns:p14="http://schemas.microsoft.com/office/powerpoint/2010/main" val="30964318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6DE63-D350-BF96-0647-69BA4A9B689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244202D-C86C-CBAB-6452-DDA2B22F8C9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EC31B82-62A0-D10F-4827-9A850C566CBB}"/>
              </a:ext>
            </a:extLst>
          </p:cNvPr>
          <p:cNvSpPr>
            <a:spLocks noGrp="1"/>
          </p:cNvSpPr>
          <p:nvPr>
            <p:ph type="dt" sz="half" idx="10"/>
          </p:nvPr>
        </p:nvSpPr>
        <p:spPr/>
        <p:txBody>
          <a:bodyPr/>
          <a:lstStyle/>
          <a:p>
            <a:fld id="{02A06361-DF0C-4A2C-A544-6CCC88EEAAF0}" type="datetimeFigureOut">
              <a:rPr lang="en-US" smtClean="0"/>
              <a:t>16-May-23</a:t>
            </a:fld>
            <a:endParaRPr lang="en-US"/>
          </a:p>
        </p:txBody>
      </p:sp>
      <p:sp>
        <p:nvSpPr>
          <p:cNvPr id="5" name="Footer Placeholder 4">
            <a:extLst>
              <a:ext uri="{FF2B5EF4-FFF2-40B4-BE49-F238E27FC236}">
                <a16:creationId xmlns:a16="http://schemas.microsoft.com/office/drawing/2014/main" id="{DCD9480E-6BCB-24AB-EA73-F685A44B86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D1A791-C619-BE8C-434E-7BD6B7405147}"/>
              </a:ext>
            </a:extLst>
          </p:cNvPr>
          <p:cNvSpPr>
            <a:spLocks noGrp="1"/>
          </p:cNvSpPr>
          <p:nvPr>
            <p:ph type="sldNum" sz="quarter" idx="12"/>
          </p:nvPr>
        </p:nvSpPr>
        <p:spPr/>
        <p:txBody>
          <a:bodyPr/>
          <a:lstStyle/>
          <a:p>
            <a:fld id="{46EFA9BC-346E-4D7E-A1D9-3023C17893C1}" type="slidenum">
              <a:rPr lang="en-US" smtClean="0"/>
              <a:t>‹#›</a:t>
            </a:fld>
            <a:endParaRPr lang="en-US"/>
          </a:p>
        </p:txBody>
      </p:sp>
    </p:spTree>
    <p:extLst>
      <p:ext uri="{BB962C8B-B14F-4D97-AF65-F5344CB8AC3E}">
        <p14:creationId xmlns:p14="http://schemas.microsoft.com/office/powerpoint/2010/main" val="15606944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46C24-1290-A54C-8898-55A6FF0802F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CE390FE-F68D-73B5-0484-31A0EE32C72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8D27ECF-93D6-93C0-10B2-E2095AC693D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2804870-8BFB-EE3D-AFDD-D2E2582AA4F6}"/>
              </a:ext>
            </a:extLst>
          </p:cNvPr>
          <p:cNvSpPr>
            <a:spLocks noGrp="1"/>
          </p:cNvSpPr>
          <p:nvPr>
            <p:ph type="dt" sz="half" idx="10"/>
          </p:nvPr>
        </p:nvSpPr>
        <p:spPr/>
        <p:txBody>
          <a:bodyPr/>
          <a:lstStyle/>
          <a:p>
            <a:fld id="{02A06361-DF0C-4A2C-A544-6CCC88EEAAF0}" type="datetimeFigureOut">
              <a:rPr lang="en-US" smtClean="0"/>
              <a:t>16-May-23</a:t>
            </a:fld>
            <a:endParaRPr lang="en-US"/>
          </a:p>
        </p:txBody>
      </p:sp>
      <p:sp>
        <p:nvSpPr>
          <p:cNvPr id="6" name="Footer Placeholder 5">
            <a:extLst>
              <a:ext uri="{FF2B5EF4-FFF2-40B4-BE49-F238E27FC236}">
                <a16:creationId xmlns:a16="http://schemas.microsoft.com/office/drawing/2014/main" id="{A899E966-1090-868D-F8F3-9B17F58EC0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C1FA4B9-B13D-FBCE-B7E4-879CD3A4583C}"/>
              </a:ext>
            </a:extLst>
          </p:cNvPr>
          <p:cNvSpPr>
            <a:spLocks noGrp="1"/>
          </p:cNvSpPr>
          <p:nvPr>
            <p:ph type="sldNum" sz="quarter" idx="12"/>
          </p:nvPr>
        </p:nvSpPr>
        <p:spPr/>
        <p:txBody>
          <a:bodyPr/>
          <a:lstStyle/>
          <a:p>
            <a:fld id="{46EFA9BC-346E-4D7E-A1D9-3023C17893C1}" type="slidenum">
              <a:rPr lang="en-US" smtClean="0"/>
              <a:t>‹#›</a:t>
            </a:fld>
            <a:endParaRPr lang="en-US"/>
          </a:p>
        </p:txBody>
      </p:sp>
    </p:spTree>
    <p:extLst>
      <p:ext uri="{BB962C8B-B14F-4D97-AF65-F5344CB8AC3E}">
        <p14:creationId xmlns:p14="http://schemas.microsoft.com/office/powerpoint/2010/main" val="7718353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F97CE-3A60-7687-90F2-3083AAC4069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8BDA7DE-0149-F2BF-9021-A756CFEC2B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E1F3351-A50E-374B-CB44-4B7F98B7F1F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09EFA28-FF82-382B-DFD1-E800C22EADE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2E3A03F-F66B-067F-A363-C2DF8FD6B85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F756D95-8481-B686-831A-C703578FBFA7}"/>
              </a:ext>
            </a:extLst>
          </p:cNvPr>
          <p:cNvSpPr>
            <a:spLocks noGrp="1"/>
          </p:cNvSpPr>
          <p:nvPr>
            <p:ph type="dt" sz="half" idx="10"/>
          </p:nvPr>
        </p:nvSpPr>
        <p:spPr/>
        <p:txBody>
          <a:bodyPr/>
          <a:lstStyle/>
          <a:p>
            <a:fld id="{02A06361-DF0C-4A2C-A544-6CCC88EEAAF0}" type="datetimeFigureOut">
              <a:rPr lang="en-US" smtClean="0"/>
              <a:t>16-May-23</a:t>
            </a:fld>
            <a:endParaRPr lang="en-US"/>
          </a:p>
        </p:txBody>
      </p:sp>
      <p:sp>
        <p:nvSpPr>
          <p:cNvPr id="8" name="Footer Placeholder 7">
            <a:extLst>
              <a:ext uri="{FF2B5EF4-FFF2-40B4-BE49-F238E27FC236}">
                <a16:creationId xmlns:a16="http://schemas.microsoft.com/office/drawing/2014/main" id="{FABFD7ED-6A87-E4BD-92CA-4A3077843B3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51AB114-493D-EF33-F453-FFED3818645D}"/>
              </a:ext>
            </a:extLst>
          </p:cNvPr>
          <p:cNvSpPr>
            <a:spLocks noGrp="1"/>
          </p:cNvSpPr>
          <p:nvPr>
            <p:ph type="sldNum" sz="quarter" idx="12"/>
          </p:nvPr>
        </p:nvSpPr>
        <p:spPr/>
        <p:txBody>
          <a:bodyPr/>
          <a:lstStyle/>
          <a:p>
            <a:fld id="{46EFA9BC-346E-4D7E-A1D9-3023C17893C1}" type="slidenum">
              <a:rPr lang="en-US" smtClean="0"/>
              <a:t>‹#›</a:t>
            </a:fld>
            <a:endParaRPr lang="en-US"/>
          </a:p>
        </p:txBody>
      </p:sp>
    </p:spTree>
    <p:extLst>
      <p:ext uri="{BB962C8B-B14F-4D97-AF65-F5344CB8AC3E}">
        <p14:creationId xmlns:p14="http://schemas.microsoft.com/office/powerpoint/2010/main" val="9491622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FB1C1-EA22-6C99-C345-4BE2AFA5D3D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C35742-E05F-25C2-C674-C8309D09EED2}"/>
              </a:ext>
            </a:extLst>
          </p:cNvPr>
          <p:cNvSpPr>
            <a:spLocks noGrp="1"/>
          </p:cNvSpPr>
          <p:nvPr>
            <p:ph type="dt" sz="half" idx="10"/>
          </p:nvPr>
        </p:nvSpPr>
        <p:spPr/>
        <p:txBody>
          <a:bodyPr/>
          <a:lstStyle/>
          <a:p>
            <a:fld id="{02A06361-DF0C-4A2C-A544-6CCC88EEAAF0}" type="datetimeFigureOut">
              <a:rPr lang="en-US" smtClean="0"/>
              <a:t>16-May-23</a:t>
            </a:fld>
            <a:endParaRPr lang="en-US"/>
          </a:p>
        </p:txBody>
      </p:sp>
      <p:sp>
        <p:nvSpPr>
          <p:cNvPr id="4" name="Footer Placeholder 3">
            <a:extLst>
              <a:ext uri="{FF2B5EF4-FFF2-40B4-BE49-F238E27FC236}">
                <a16:creationId xmlns:a16="http://schemas.microsoft.com/office/drawing/2014/main" id="{6FBB4CAF-AA0E-58EF-7BED-11B93088EF0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FB24975-580C-E7D7-F93D-1DF98C8D8FD6}"/>
              </a:ext>
            </a:extLst>
          </p:cNvPr>
          <p:cNvSpPr>
            <a:spLocks noGrp="1"/>
          </p:cNvSpPr>
          <p:nvPr>
            <p:ph type="sldNum" sz="quarter" idx="12"/>
          </p:nvPr>
        </p:nvSpPr>
        <p:spPr/>
        <p:txBody>
          <a:bodyPr/>
          <a:lstStyle/>
          <a:p>
            <a:fld id="{46EFA9BC-346E-4D7E-A1D9-3023C17893C1}" type="slidenum">
              <a:rPr lang="en-US" smtClean="0"/>
              <a:t>‹#›</a:t>
            </a:fld>
            <a:endParaRPr lang="en-US"/>
          </a:p>
        </p:txBody>
      </p:sp>
    </p:spTree>
    <p:extLst>
      <p:ext uri="{BB962C8B-B14F-4D97-AF65-F5344CB8AC3E}">
        <p14:creationId xmlns:p14="http://schemas.microsoft.com/office/powerpoint/2010/main" val="3545425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51FAF0-4672-A641-22A4-00C244835600}"/>
              </a:ext>
            </a:extLst>
          </p:cNvPr>
          <p:cNvSpPr>
            <a:spLocks noGrp="1"/>
          </p:cNvSpPr>
          <p:nvPr>
            <p:ph type="dt" sz="half" idx="10"/>
          </p:nvPr>
        </p:nvSpPr>
        <p:spPr/>
        <p:txBody>
          <a:bodyPr/>
          <a:lstStyle/>
          <a:p>
            <a:fld id="{02A06361-DF0C-4A2C-A544-6CCC88EEAAF0}" type="datetimeFigureOut">
              <a:rPr lang="en-US" smtClean="0"/>
              <a:t>16-May-23</a:t>
            </a:fld>
            <a:endParaRPr lang="en-US"/>
          </a:p>
        </p:txBody>
      </p:sp>
      <p:sp>
        <p:nvSpPr>
          <p:cNvPr id="3" name="Footer Placeholder 2">
            <a:extLst>
              <a:ext uri="{FF2B5EF4-FFF2-40B4-BE49-F238E27FC236}">
                <a16:creationId xmlns:a16="http://schemas.microsoft.com/office/drawing/2014/main" id="{06140FA5-71A2-3590-AE87-D6B3D4D7C07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FC1335-DF2C-AA39-071B-E8F881292522}"/>
              </a:ext>
            </a:extLst>
          </p:cNvPr>
          <p:cNvSpPr>
            <a:spLocks noGrp="1"/>
          </p:cNvSpPr>
          <p:nvPr>
            <p:ph type="sldNum" sz="quarter" idx="12"/>
          </p:nvPr>
        </p:nvSpPr>
        <p:spPr/>
        <p:txBody>
          <a:bodyPr/>
          <a:lstStyle/>
          <a:p>
            <a:fld id="{46EFA9BC-346E-4D7E-A1D9-3023C17893C1}" type="slidenum">
              <a:rPr lang="en-US" smtClean="0"/>
              <a:t>‹#›</a:t>
            </a:fld>
            <a:endParaRPr lang="en-US"/>
          </a:p>
        </p:txBody>
      </p:sp>
    </p:spTree>
    <p:extLst>
      <p:ext uri="{BB962C8B-B14F-4D97-AF65-F5344CB8AC3E}">
        <p14:creationId xmlns:p14="http://schemas.microsoft.com/office/powerpoint/2010/main" val="31139906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4BDECA-D1C9-0BCC-8B05-639DE2E70C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3D54CCC-AEC6-6D0C-5456-D2AF6F6AB6B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1C4BF60-48B3-EBD2-D5D8-0CE0980F38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CFB258-35D7-C1BC-5BB9-E221184C54CF}"/>
              </a:ext>
            </a:extLst>
          </p:cNvPr>
          <p:cNvSpPr>
            <a:spLocks noGrp="1"/>
          </p:cNvSpPr>
          <p:nvPr>
            <p:ph type="dt" sz="half" idx="10"/>
          </p:nvPr>
        </p:nvSpPr>
        <p:spPr/>
        <p:txBody>
          <a:bodyPr/>
          <a:lstStyle/>
          <a:p>
            <a:fld id="{02A06361-DF0C-4A2C-A544-6CCC88EEAAF0}" type="datetimeFigureOut">
              <a:rPr lang="en-US" smtClean="0"/>
              <a:t>16-May-23</a:t>
            </a:fld>
            <a:endParaRPr lang="en-US"/>
          </a:p>
        </p:txBody>
      </p:sp>
      <p:sp>
        <p:nvSpPr>
          <p:cNvPr id="6" name="Footer Placeholder 5">
            <a:extLst>
              <a:ext uri="{FF2B5EF4-FFF2-40B4-BE49-F238E27FC236}">
                <a16:creationId xmlns:a16="http://schemas.microsoft.com/office/drawing/2014/main" id="{AC1AF4F8-4A62-C2DA-FA03-83ED70331A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4040D7-E7E1-CFB0-AC87-1FAB77754404}"/>
              </a:ext>
            </a:extLst>
          </p:cNvPr>
          <p:cNvSpPr>
            <a:spLocks noGrp="1"/>
          </p:cNvSpPr>
          <p:nvPr>
            <p:ph type="sldNum" sz="quarter" idx="12"/>
          </p:nvPr>
        </p:nvSpPr>
        <p:spPr/>
        <p:txBody>
          <a:bodyPr/>
          <a:lstStyle/>
          <a:p>
            <a:fld id="{46EFA9BC-346E-4D7E-A1D9-3023C17893C1}" type="slidenum">
              <a:rPr lang="en-US" smtClean="0"/>
              <a:t>‹#›</a:t>
            </a:fld>
            <a:endParaRPr lang="en-US"/>
          </a:p>
        </p:txBody>
      </p:sp>
    </p:spTree>
    <p:extLst>
      <p:ext uri="{BB962C8B-B14F-4D97-AF65-F5344CB8AC3E}">
        <p14:creationId xmlns:p14="http://schemas.microsoft.com/office/powerpoint/2010/main" val="58452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B7C4D-12D1-1733-82D8-408247563A6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8E58C90-1D3D-5035-6791-E91514727B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E34E3B6-8F6B-3813-2CC3-BB8AF37BEE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EF6FB7-8C44-ACEA-12D3-B07F9CC3EC2D}"/>
              </a:ext>
            </a:extLst>
          </p:cNvPr>
          <p:cNvSpPr>
            <a:spLocks noGrp="1"/>
          </p:cNvSpPr>
          <p:nvPr>
            <p:ph type="dt" sz="half" idx="10"/>
          </p:nvPr>
        </p:nvSpPr>
        <p:spPr/>
        <p:txBody>
          <a:bodyPr/>
          <a:lstStyle/>
          <a:p>
            <a:fld id="{02A06361-DF0C-4A2C-A544-6CCC88EEAAF0}" type="datetimeFigureOut">
              <a:rPr lang="en-US" smtClean="0"/>
              <a:t>16-May-23</a:t>
            </a:fld>
            <a:endParaRPr lang="en-US"/>
          </a:p>
        </p:txBody>
      </p:sp>
      <p:sp>
        <p:nvSpPr>
          <p:cNvPr id="6" name="Footer Placeholder 5">
            <a:extLst>
              <a:ext uri="{FF2B5EF4-FFF2-40B4-BE49-F238E27FC236}">
                <a16:creationId xmlns:a16="http://schemas.microsoft.com/office/drawing/2014/main" id="{497901A9-9E1C-06FB-19C1-5C58AAD8C52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B293DFD-B29C-65D5-AE20-126860A81306}"/>
              </a:ext>
            </a:extLst>
          </p:cNvPr>
          <p:cNvSpPr>
            <a:spLocks noGrp="1"/>
          </p:cNvSpPr>
          <p:nvPr>
            <p:ph type="sldNum" sz="quarter" idx="12"/>
          </p:nvPr>
        </p:nvSpPr>
        <p:spPr/>
        <p:txBody>
          <a:bodyPr/>
          <a:lstStyle/>
          <a:p>
            <a:fld id="{46EFA9BC-346E-4D7E-A1D9-3023C17893C1}" type="slidenum">
              <a:rPr lang="en-US" smtClean="0"/>
              <a:t>‹#›</a:t>
            </a:fld>
            <a:endParaRPr lang="en-US"/>
          </a:p>
        </p:txBody>
      </p:sp>
    </p:spTree>
    <p:extLst>
      <p:ext uri="{BB962C8B-B14F-4D97-AF65-F5344CB8AC3E}">
        <p14:creationId xmlns:p14="http://schemas.microsoft.com/office/powerpoint/2010/main" val="32783130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11F2C-851D-BA93-24EE-DE2861C74A3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3B6BA47-DF10-E073-2932-1A5F5197962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939461-725C-6376-C2D0-225AFA540648}"/>
              </a:ext>
            </a:extLst>
          </p:cNvPr>
          <p:cNvSpPr>
            <a:spLocks noGrp="1"/>
          </p:cNvSpPr>
          <p:nvPr>
            <p:ph type="dt" sz="half" idx="10"/>
          </p:nvPr>
        </p:nvSpPr>
        <p:spPr/>
        <p:txBody>
          <a:bodyPr/>
          <a:lstStyle/>
          <a:p>
            <a:fld id="{02A06361-DF0C-4A2C-A544-6CCC88EEAAF0}" type="datetimeFigureOut">
              <a:rPr lang="en-US" smtClean="0"/>
              <a:t>16-May-23</a:t>
            </a:fld>
            <a:endParaRPr lang="en-US"/>
          </a:p>
        </p:txBody>
      </p:sp>
      <p:sp>
        <p:nvSpPr>
          <p:cNvPr id="5" name="Footer Placeholder 4">
            <a:extLst>
              <a:ext uri="{FF2B5EF4-FFF2-40B4-BE49-F238E27FC236}">
                <a16:creationId xmlns:a16="http://schemas.microsoft.com/office/drawing/2014/main" id="{0756E98D-486F-C766-7372-1B614F947C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711E99-086E-4CB6-964B-9C02F6AA293C}"/>
              </a:ext>
            </a:extLst>
          </p:cNvPr>
          <p:cNvSpPr>
            <a:spLocks noGrp="1"/>
          </p:cNvSpPr>
          <p:nvPr>
            <p:ph type="sldNum" sz="quarter" idx="12"/>
          </p:nvPr>
        </p:nvSpPr>
        <p:spPr/>
        <p:txBody>
          <a:bodyPr/>
          <a:lstStyle/>
          <a:p>
            <a:fld id="{46EFA9BC-346E-4D7E-A1D9-3023C17893C1}" type="slidenum">
              <a:rPr lang="en-US" smtClean="0"/>
              <a:t>‹#›</a:t>
            </a:fld>
            <a:endParaRPr lang="en-US"/>
          </a:p>
        </p:txBody>
      </p:sp>
    </p:spTree>
    <p:extLst>
      <p:ext uri="{BB962C8B-B14F-4D97-AF65-F5344CB8AC3E}">
        <p14:creationId xmlns:p14="http://schemas.microsoft.com/office/powerpoint/2010/main" val="28260582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C72332D-D24F-6E42-F33E-40885E4043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482E67C-7498-EE4F-255C-3A31C455A5D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44F1E2-ECA3-31AC-8A2F-9E4A92AA9434}"/>
              </a:ext>
            </a:extLst>
          </p:cNvPr>
          <p:cNvSpPr>
            <a:spLocks noGrp="1"/>
          </p:cNvSpPr>
          <p:nvPr>
            <p:ph type="dt" sz="half" idx="10"/>
          </p:nvPr>
        </p:nvSpPr>
        <p:spPr/>
        <p:txBody>
          <a:bodyPr/>
          <a:lstStyle/>
          <a:p>
            <a:fld id="{02A06361-DF0C-4A2C-A544-6CCC88EEAAF0}" type="datetimeFigureOut">
              <a:rPr lang="en-US" smtClean="0"/>
              <a:t>16-May-23</a:t>
            </a:fld>
            <a:endParaRPr lang="en-US"/>
          </a:p>
        </p:txBody>
      </p:sp>
      <p:sp>
        <p:nvSpPr>
          <p:cNvPr id="5" name="Footer Placeholder 4">
            <a:extLst>
              <a:ext uri="{FF2B5EF4-FFF2-40B4-BE49-F238E27FC236}">
                <a16:creationId xmlns:a16="http://schemas.microsoft.com/office/drawing/2014/main" id="{5A345CD1-A1D9-53BB-38C6-323B16E6C0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41C455-CF10-D7BB-95D2-EA36703E4BEB}"/>
              </a:ext>
            </a:extLst>
          </p:cNvPr>
          <p:cNvSpPr>
            <a:spLocks noGrp="1"/>
          </p:cNvSpPr>
          <p:nvPr>
            <p:ph type="sldNum" sz="quarter" idx="12"/>
          </p:nvPr>
        </p:nvSpPr>
        <p:spPr/>
        <p:txBody>
          <a:bodyPr/>
          <a:lstStyle/>
          <a:p>
            <a:fld id="{46EFA9BC-346E-4D7E-A1D9-3023C17893C1}" type="slidenum">
              <a:rPr lang="en-US" smtClean="0"/>
              <a:t>‹#›</a:t>
            </a:fld>
            <a:endParaRPr lang="en-US"/>
          </a:p>
        </p:txBody>
      </p:sp>
    </p:spTree>
    <p:extLst>
      <p:ext uri="{BB962C8B-B14F-4D97-AF65-F5344CB8AC3E}">
        <p14:creationId xmlns:p14="http://schemas.microsoft.com/office/powerpoint/2010/main" val="23655450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4A53396-9CCB-74AC-4507-A4D81E4353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E01DFC7-3CC1-6EB9-664A-8D2BDF79EE7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E14015-D32B-3F36-4EA0-7B6A009328B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06361-DF0C-4A2C-A544-6CCC88EEAAF0}" type="datetimeFigureOut">
              <a:rPr lang="en-US" smtClean="0"/>
              <a:t>16-May-23</a:t>
            </a:fld>
            <a:endParaRPr lang="en-US"/>
          </a:p>
        </p:txBody>
      </p:sp>
      <p:sp>
        <p:nvSpPr>
          <p:cNvPr id="5" name="Footer Placeholder 4">
            <a:extLst>
              <a:ext uri="{FF2B5EF4-FFF2-40B4-BE49-F238E27FC236}">
                <a16:creationId xmlns:a16="http://schemas.microsoft.com/office/drawing/2014/main" id="{985EE652-0CD8-FB1E-4116-7AF26D64284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4D03748-7B3B-BFFD-C3C8-D57B90F7C6E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6EFA9BC-346E-4D7E-A1D9-3023C17893C1}" type="slidenum">
              <a:rPr lang="en-US" smtClean="0"/>
              <a:t>‹#›</a:t>
            </a:fld>
            <a:endParaRPr lang="en-US"/>
          </a:p>
        </p:txBody>
      </p:sp>
    </p:spTree>
    <p:extLst>
      <p:ext uri="{BB962C8B-B14F-4D97-AF65-F5344CB8AC3E}">
        <p14:creationId xmlns:p14="http://schemas.microsoft.com/office/powerpoint/2010/main" val="22568418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95124-A736-B28D-8B2C-D7ECD413A689}"/>
              </a:ext>
            </a:extLst>
          </p:cNvPr>
          <p:cNvSpPr>
            <a:spLocks noGrp="1"/>
          </p:cNvSpPr>
          <p:nvPr>
            <p:ph type="ctrTitle"/>
          </p:nvPr>
        </p:nvSpPr>
        <p:spPr/>
        <p:txBody>
          <a:bodyPr/>
          <a:lstStyle/>
          <a:p>
            <a:r>
              <a:rPr lang="en-US" dirty="0"/>
              <a:t>Tutorial on Bubble Sort &amp; Strings</a:t>
            </a:r>
          </a:p>
        </p:txBody>
      </p:sp>
      <p:sp>
        <p:nvSpPr>
          <p:cNvPr id="3" name="Subtitle 2">
            <a:extLst>
              <a:ext uri="{FF2B5EF4-FFF2-40B4-BE49-F238E27FC236}">
                <a16:creationId xmlns:a16="http://schemas.microsoft.com/office/drawing/2014/main" id="{A8780D88-A719-50D9-EA04-447B946D4BEB}"/>
              </a:ext>
            </a:extLst>
          </p:cNvPr>
          <p:cNvSpPr>
            <a:spLocks noGrp="1"/>
          </p:cNvSpPr>
          <p:nvPr>
            <p:ph type="subTitle" idx="1"/>
          </p:nvPr>
        </p:nvSpPr>
        <p:spPr/>
        <p:txBody>
          <a:bodyPr/>
          <a:lstStyle/>
          <a:p>
            <a:r>
              <a:rPr lang="en-US" dirty="0"/>
              <a:t>16/05/2023</a:t>
            </a:r>
          </a:p>
          <a:p>
            <a:endParaRPr lang="en-US" dirty="0"/>
          </a:p>
        </p:txBody>
      </p:sp>
    </p:spTree>
    <p:extLst>
      <p:ext uri="{BB962C8B-B14F-4D97-AF65-F5344CB8AC3E}">
        <p14:creationId xmlns:p14="http://schemas.microsoft.com/office/powerpoint/2010/main" val="7140040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7C4E4-DFF6-F058-0814-4E1D1422DEC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4282783-4D7D-8174-37AA-6CF74A431324}"/>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E675D253-EF2D-8A40-2B68-4A39C4DECDC3}"/>
              </a:ext>
            </a:extLst>
          </p:cNvPr>
          <p:cNvPicPr>
            <a:picLocks noChangeAspect="1"/>
          </p:cNvPicPr>
          <p:nvPr/>
        </p:nvPicPr>
        <p:blipFill>
          <a:blip r:embed="rId2"/>
          <a:stretch>
            <a:fillRect/>
          </a:stretch>
        </p:blipFill>
        <p:spPr>
          <a:xfrm>
            <a:off x="838200" y="365125"/>
            <a:ext cx="10471246" cy="4524116"/>
          </a:xfrm>
          <a:prstGeom prst="rect">
            <a:avLst/>
          </a:prstGeom>
        </p:spPr>
      </p:pic>
    </p:spTree>
    <p:extLst>
      <p:ext uri="{BB962C8B-B14F-4D97-AF65-F5344CB8AC3E}">
        <p14:creationId xmlns:p14="http://schemas.microsoft.com/office/powerpoint/2010/main" val="12604851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34796-3320-C44B-8FC1-4B6EFAF5A2E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21AB643-3FC3-D392-9B09-E3497E7DE635}"/>
              </a:ext>
            </a:extLst>
          </p:cNvPr>
          <p:cNvSpPr>
            <a:spLocks noGrp="1"/>
          </p:cNvSpPr>
          <p:nvPr>
            <p:ph idx="1"/>
          </p:nvPr>
        </p:nvSpPr>
        <p:spPr/>
        <p:txBody>
          <a:bodyPr/>
          <a:lstStyle/>
          <a:p>
            <a:pPr marL="0" indent="0">
              <a:buNone/>
            </a:pPr>
            <a:r>
              <a:rPr lang="en-US" dirty="0"/>
              <a:t>Option 4 - 7</a:t>
            </a:r>
          </a:p>
        </p:txBody>
      </p:sp>
    </p:spTree>
    <p:extLst>
      <p:ext uri="{BB962C8B-B14F-4D97-AF65-F5344CB8AC3E}">
        <p14:creationId xmlns:p14="http://schemas.microsoft.com/office/powerpoint/2010/main" val="6830406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0CF1DAC-0E9E-0143-4CBF-167428FB83D2}"/>
              </a:ext>
            </a:extLst>
          </p:cNvPr>
          <p:cNvSpPr txBox="1"/>
          <p:nvPr/>
        </p:nvSpPr>
        <p:spPr>
          <a:xfrm>
            <a:off x="314909" y="58846"/>
            <a:ext cx="6097554" cy="6740307"/>
          </a:xfrm>
          <a:prstGeom prst="rect">
            <a:avLst/>
          </a:prstGeom>
          <a:noFill/>
        </p:spPr>
        <p:txBody>
          <a:bodyPr wrap="square">
            <a:spAutoFit/>
          </a:bodyPr>
          <a:lstStyle/>
          <a:p>
            <a:r>
              <a:rPr lang="en-US" dirty="0"/>
              <a:t>#include &lt;</a:t>
            </a:r>
            <a:r>
              <a:rPr lang="en-US" dirty="0" err="1"/>
              <a:t>stdio.h</a:t>
            </a:r>
            <a:r>
              <a:rPr lang="en-US" dirty="0"/>
              <a:t>&gt;</a:t>
            </a:r>
          </a:p>
          <a:p>
            <a:endParaRPr lang="en-US" dirty="0"/>
          </a:p>
          <a:p>
            <a:r>
              <a:rPr lang="en-US" dirty="0"/>
              <a:t>void </a:t>
            </a:r>
            <a:r>
              <a:rPr lang="en-US" dirty="0" err="1"/>
              <a:t>bubbleSort</a:t>
            </a:r>
            <a:r>
              <a:rPr lang="en-US" dirty="0"/>
              <a:t>(int </a:t>
            </a:r>
            <a:r>
              <a:rPr lang="en-US" dirty="0" err="1"/>
              <a:t>arr</a:t>
            </a:r>
            <a:r>
              <a:rPr lang="en-US" dirty="0"/>
              <a:t>[], int n) {</a:t>
            </a:r>
          </a:p>
          <a:p>
            <a:r>
              <a:rPr lang="en-US" dirty="0"/>
              <a:t>    int </a:t>
            </a:r>
            <a:r>
              <a:rPr lang="en-US" dirty="0" err="1"/>
              <a:t>i</a:t>
            </a:r>
            <a:r>
              <a:rPr lang="en-US" dirty="0"/>
              <a:t>, j;</a:t>
            </a:r>
          </a:p>
          <a:p>
            <a:r>
              <a:rPr lang="en-US" dirty="0"/>
              <a:t>    for (</a:t>
            </a:r>
            <a:r>
              <a:rPr lang="en-US" dirty="0" err="1"/>
              <a:t>i</a:t>
            </a:r>
            <a:r>
              <a:rPr lang="en-US" dirty="0"/>
              <a:t> = 0; </a:t>
            </a:r>
            <a:r>
              <a:rPr lang="en-US" dirty="0" err="1"/>
              <a:t>i</a:t>
            </a:r>
            <a:r>
              <a:rPr lang="en-US" dirty="0"/>
              <a:t> &lt; n-1; </a:t>
            </a:r>
            <a:r>
              <a:rPr lang="en-US" dirty="0" err="1"/>
              <a:t>i</a:t>
            </a:r>
            <a:r>
              <a:rPr lang="en-US" dirty="0"/>
              <a:t>++) {</a:t>
            </a:r>
          </a:p>
          <a:p>
            <a:r>
              <a:rPr lang="en-US" dirty="0"/>
              <a:t>        for (j = 0; j &lt; n-i-1; </a:t>
            </a:r>
            <a:r>
              <a:rPr lang="en-US" dirty="0" err="1"/>
              <a:t>j++</a:t>
            </a:r>
            <a:r>
              <a:rPr lang="en-US" dirty="0"/>
              <a:t>) {</a:t>
            </a:r>
          </a:p>
          <a:p>
            <a:r>
              <a:rPr lang="en-US" dirty="0"/>
              <a:t>            if (</a:t>
            </a:r>
            <a:r>
              <a:rPr lang="en-US" dirty="0" err="1"/>
              <a:t>arr</a:t>
            </a:r>
            <a:r>
              <a:rPr lang="en-US" dirty="0"/>
              <a:t>[j] &gt; </a:t>
            </a:r>
            <a:r>
              <a:rPr lang="en-US" dirty="0" err="1"/>
              <a:t>arr</a:t>
            </a:r>
            <a:r>
              <a:rPr lang="en-US" dirty="0"/>
              <a:t>[j+1]) {</a:t>
            </a:r>
          </a:p>
          <a:p>
            <a:r>
              <a:rPr lang="en-US" dirty="0"/>
              <a:t>                int temp = </a:t>
            </a:r>
            <a:r>
              <a:rPr lang="en-US" dirty="0" err="1"/>
              <a:t>arr</a:t>
            </a:r>
            <a:r>
              <a:rPr lang="en-US" dirty="0"/>
              <a:t>[j];</a:t>
            </a:r>
          </a:p>
          <a:p>
            <a:r>
              <a:rPr lang="en-US" dirty="0"/>
              <a:t>                </a:t>
            </a:r>
            <a:r>
              <a:rPr lang="en-US" dirty="0" err="1"/>
              <a:t>arr</a:t>
            </a:r>
            <a:r>
              <a:rPr lang="en-US" dirty="0"/>
              <a:t>[j] = </a:t>
            </a:r>
            <a:r>
              <a:rPr lang="en-US" dirty="0" err="1"/>
              <a:t>arr</a:t>
            </a:r>
            <a:r>
              <a:rPr lang="en-US" dirty="0"/>
              <a:t>[j+1];</a:t>
            </a:r>
          </a:p>
          <a:p>
            <a:r>
              <a:rPr lang="en-US" dirty="0"/>
              <a:t>                </a:t>
            </a:r>
            <a:r>
              <a:rPr lang="en-US" dirty="0" err="1"/>
              <a:t>arr</a:t>
            </a:r>
            <a:r>
              <a:rPr lang="en-US" dirty="0"/>
              <a:t>[j+1] = temp;</a:t>
            </a:r>
          </a:p>
          <a:p>
            <a:r>
              <a:rPr lang="en-US" dirty="0"/>
              <a:t>            }</a:t>
            </a:r>
          </a:p>
          <a:p>
            <a:r>
              <a:rPr lang="en-US" dirty="0"/>
              <a:t>        }</a:t>
            </a:r>
          </a:p>
          <a:p>
            <a:r>
              <a:rPr lang="en-US" dirty="0"/>
              <a:t>    }</a:t>
            </a:r>
          </a:p>
          <a:p>
            <a:r>
              <a:rPr lang="en-US" dirty="0"/>
              <a:t>}</a:t>
            </a:r>
          </a:p>
          <a:p>
            <a:endParaRPr lang="en-US" dirty="0"/>
          </a:p>
          <a:p>
            <a:r>
              <a:rPr lang="en-US" dirty="0"/>
              <a:t>int main() {</a:t>
            </a:r>
          </a:p>
          <a:p>
            <a:r>
              <a:rPr lang="en-US" dirty="0"/>
              <a:t>    int </a:t>
            </a:r>
            <a:r>
              <a:rPr lang="en-US" dirty="0" err="1"/>
              <a:t>arr</a:t>
            </a:r>
            <a:r>
              <a:rPr lang="en-US" dirty="0"/>
              <a:t>[] = {5, 2, 8, 12, 1};</a:t>
            </a:r>
          </a:p>
          <a:p>
            <a:r>
              <a:rPr lang="en-US" dirty="0"/>
              <a:t>    int n = </a:t>
            </a:r>
            <a:r>
              <a:rPr lang="en-US" dirty="0" err="1"/>
              <a:t>sizeof</a:t>
            </a:r>
            <a:r>
              <a:rPr lang="en-US" dirty="0"/>
              <a:t>(</a:t>
            </a:r>
            <a:r>
              <a:rPr lang="en-US" dirty="0" err="1"/>
              <a:t>arr</a:t>
            </a:r>
            <a:r>
              <a:rPr lang="en-US" dirty="0"/>
              <a:t>)/</a:t>
            </a:r>
            <a:r>
              <a:rPr lang="en-US" dirty="0" err="1"/>
              <a:t>sizeof</a:t>
            </a:r>
            <a:r>
              <a:rPr lang="en-US" dirty="0"/>
              <a:t>(</a:t>
            </a:r>
            <a:r>
              <a:rPr lang="en-US" dirty="0" err="1"/>
              <a:t>arr</a:t>
            </a:r>
            <a:r>
              <a:rPr lang="en-US" dirty="0"/>
              <a:t>[0]);</a:t>
            </a:r>
          </a:p>
          <a:p>
            <a:r>
              <a:rPr lang="en-US" dirty="0"/>
              <a:t>    </a:t>
            </a:r>
            <a:r>
              <a:rPr lang="en-US" dirty="0" err="1"/>
              <a:t>bubbleSort</a:t>
            </a:r>
            <a:r>
              <a:rPr lang="en-US" dirty="0"/>
              <a:t>(</a:t>
            </a:r>
            <a:r>
              <a:rPr lang="en-US" dirty="0" err="1"/>
              <a:t>arr</a:t>
            </a:r>
            <a:r>
              <a:rPr lang="en-US" dirty="0"/>
              <a:t>, n);</a:t>
            </a:r>
          </a:p>
          <a:p>
            <a:r>
              <a:rPr lang="en-US" dirty="0"/>
              <a:t>    for (int </a:t>
            </a:r>
            <a:r>
              <a:rPr lang="en-US" dirty="0" err="1"/>
              <a:t>i</a:t>
            </a:r>
            <a:r>
              <a:rPr lang="en-US" dirty="0"/>
              <a:t> = 0; </a:t>
            </a:r>
            <a:r>
              <a:rPr lang="en-US" dirty="0" err="1"/>
              <a:t>i</a:t>
            </a:r>
            <a:r>
              <a:rPr lang="en-US" dirty="0"/>
              <a:t> &lt; n; </a:t>
            </a:r>
            <a:r>
              <a:rPr lang="en-US" dirty="0" err="1"/>
              <a:t>i</a:t>
            </a:r>
            <a:r>
              <a:rPr lang="en-US" dirty="0"/>
              <a:t>++) {</a:t>
            </a:r>
          </a:p>
          <a:p>
            <a:r>
              <a:rPr lang="en-US" dirty="0"/>
              <a:t>        </a:t>
            </a:r>
            <a:r>
              <a:rPr lang="en-US" dirty="0" err="1"/>
              <a:t>printf</a:t>
            </a:r>
            <a:r>
              <a:rPr lang="en-US" dirty="0"/>
              <a:t>("%d ", </a:t>
            </a:r>
            <a:r>
              <a:rPr lang="en-US" dirty="0" err="1"/>
              <a:t>arr</a:t>
            </a:r>
            <a:r>
              <a:rPr lang="en-US" dirty="0"/>
              <a:t>[</a:t>
            </a:r>
            <a:r>
              <a:rPr lang="en-US" dirty="0" err="1"/>
              <a:t>i</a:t>
            </a:r>
            <a:r>
              <a:rPr lang="en-US" dirty="0"/>
              <a:t>]);</a:t>
            </a:r>
          </a:p>
          <a:p>
            <a:r>
              <a:rPr lang="en-US" dirty="0"/>
              <a:t>    }</a:t>
            </a:r>
          </a:p>
          <a:p>
            <a:r>
              <a:rPr lang="en-US" dirty="0"/>
              <a:t>    return 0;</a:t>
            </a:r>
          </a:p>
          <a:p>
            <a:r>
              <a:rPr lang="en-US" dirty="0"/>
              <a:t>}</a:t>
            </a:r>
          </a:p>
        </p:txBody>
      </p:sp>
      <p:sp>
        <p:nvSpPr>
          <p:cNvPr id="7" name="TextBox 6">
            <a:extLst>
              <a:ext uri="{FF2B5EF4-FFF2-40B4-BE49-F238E27FC236}">
                <a16:creationId xmlns:a16="http://schemas.microsoft.com/office/drawing/2014/main" id="{66852F53-A5B8-3733-B299-D8545099CAE5}"/>
              </a:ext>
            </a:extLst>
          </p:cNvPr>
          <p:cNvSpPr txBox="1"/>
          <p:nvPr/>
        </p:nvSpPr>
        <p:spPr>
          <a:xfrm>
            <a:off x="5628692" y="684541"/>
            <a:ext cx="6097554" cy="2308324"/>
          </a:xfrm>
          <a:prstGeom prst="rect">
            <a:avLst/>
          </a:prstGeom>
          <a:noFill/>
        </p:spPr>
        <p:txBody>
          <a:bodyPr wrap="square">
            <a:spAutoFit/>
          </a:bodyPr>
          <a:lstStyle/>
          <a:p>
            <a:pPr algn="l"/>
            <a:r>
              <a:rPr lang="en-US" sz="2400" b="0" i="0" dirty="0">
                <a:solidFill>
                  <a:srgbClr val="374151"/>
                </a:solidFill>
                <a:effectLst/>
                <a:latin typeface="Söhne"/>
              </a:rPr>
              <a:t>What will be the output of the above code?</a:t>
            </a:r>
          </a:p>
          <a:p>
            <a:pPr algn="l"/>
            <a:r>
              <a:rPr lang="en-US" sz="2400" b="0" i="0" dirty="0">
                <a:solidFill>
                  <a:srgbClr val="374151"/>
                </a:solidFill>
                <a:effectLst/>
                <a:latin typeface="Söhne"/>
              </a:rPr>
              <a:t>Options:</a:t>
            </a:r>
          </a:p>
          <a:p>
            <a:pPr algn="l"/>
            <a:r>
              <a:rPr lang="en-US" sz="2400" b="0" i="0" dirty="0">
                <a:solidFill>
                  <a:srgbClr val="374151"/>
                </a:solidFill>
                <a:effectLst/>
                <a:latin typeface="Söhne"/>
              </a:rPr>
              <a:t> A) 1 2 5 8 12</a:t>
            </a:r>
          </a:p>
          <a:p>
            <a:pPr algn="l"/>
            <a:r>
              <a:rPr lang="en-US" sz="2400" b="0" i="0" dirty="0">
                <a:solidFill>
                  <a:srgbClr val="374151"/>
                </a:solidFill>
                <a:effectLst/>
                <a:latin typeface="Söhne"/>
              </a:rPr>
              <a:t> B) 2 5 8 12 1</a:t>
            </a:r>
          </a:p>
          <a:p>
            <a:pPr algn="l"/>
            <a:r>
              <a:rPr lang="en-US" sz="2400" b="0" i="0" dirty="0">
                <a:solidFill>
                  <a:srgbClr val="374151"/>
                </a:solidFill>
                <a:effectLst/>
                <a:latin typeface="Söhne"/>
              </a:rPr>
              <a:t> C) 1 5 2 8 12 </a:t>
            </a:r>
          </a:p>
          <a:p>
            <a:pPr algn="l"/>
            <a:r>
              <a:rPr lang="en-US" sz="2400" b="0" i="0" dirty="0">
                <a:solidFill>
                  <a:srgbClr val="374151"/>
                </a:solidFill>
                <a:effectLst/>
                <a:latin typeface="Söhne"/>
              </a:rPr>
              <a:t>D) 2 1 5 8 12</a:t>
            </a:r>
          </a:p>
        </p:txBody>
      </p:sp>
    </p:spTree>
    <p:extLst>
      <p:ext uri="{BB962C8B-B14F-4D97-AF65-F5344CB8AC3E}">
        <p14:creationId xmlns:p14="http://schemas.microsoft.com/office/powerpoint/2010/main" val="16124718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35642-38DA-D0C9-7522-EC3D576FF63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CDB21E6-B152-F218-32D1-0A7AF1DABE2D}"/>
              </a:ext>
            </a:extLst>
          </p:cNvPr>
          <p:cNvSpPr>
            <a:spLocks noGrp="1"/>
          </p:cNvSpPr>
          <p:nvPr>
            <p:ph idx="1"/>
          </p:nvPr>
        </p:nvSpPr>
        <p:spPr/>
        <p:txBody>
          <a:bodyPr/>
          <a:lstStyle/>
          <a:p>
            <a:pPr marL="0" indent="0">
              <a:buNone/>
            </a:pPr>
            <a:r>
              <a:rPr lang="en-US" b="0" i="0" dirty="0">
                <a:solidFill>
                  <a:srgbClr val="374151"/>
                </a:solidFill>
                <a:effectLst/>
                <a:latin typeface="Söhne"/>
              </a:rPr>
              <a:t>The code implements the bubble sort algorithm to sort the given array in ascending order. The input array is {5, 2, 8, 12, 1}. After sorting, the elements will be arranged in ascending order. </a:t>
            </a:r>
          </a:p>
          <a:p>
            <a:pPr marL="0" indent="0">
              <a:buNone/>
            </a:pPr>
            <a:r>
              <a:rPr lang="en-US" b="0" i="0" dirty="0">
                <a:solidFill>
                  <a:srgbClr val="374151"/>
                </a:solidFill>
                <a:effectLst/>
                <a:latin typeface="Söhne"/>
              </a:rPr>
              <a:t>The correct option is </a:t>
            </a:r>
          </a:p>
          <a:p>
            <a:pPr marL="0" indent="0">
              <a:buNone/>
            </a:pPr>
            <a:r>
              <a:rPr lang="en-US" b="0" i="0" dirty="0">
                <a:solidFill>
                  <a:srgbClr val="374151"/>
                </a:solidFill>
                <a:effectLst/>
                <a:latin typeface="Söhne"/>
              </a:rPr>
              <a:t>A) 1 2 5 8 12.</a:t>
            </a:r>
            <a:endParaRPr lang="en-US" dirty="0"/>
          </a:p>
        </p:txBody>
      </p:sp>
    </p:spTree>
    <p:extLst>
      <p:ext uri="{BB962C8B-B14F-4D97-AF65-F5344CB8AC3E}">
        <p14:creationId xmlns:p14="http://schemas.microsoft.com/office/powerpoint/2010/main" val="38370984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C62FA-E290-ADF0-C2A5-50B6A22FBCE3}"/>
              </a:ext>
            </a:extLst>
          </p:cNvPr>
          <p:cNvSpPr>
            <a:spLocks noGrp="1"/>
          </p:cNvSpPr>
          <p:nvPr>
            <p:ph type="title"/>
          </p:nvPr>
        </p:nvSpPr>
        <p:spPr>
          <a:xfrm>
            <a:off x="548951" y="159853"/>
            <a:ext cx="10515600" cy="315912"/>
          </a:xfrm>
        </p:spPr>
        <p:txBody>
          <a:bodyPr>
            <a:normAutofit fontScale="90000"/>
          </a:bodyPr>
          <a:lstStyle/>
          <a:p>
            <a:r>
              <a:rPr lang="en-US" sz="2000" b="0" i="0" dirty="0">
                <a:solidFill>
                  <a:srgbClr val="3A3A3A"/>
                </a:solidFill>
                <a:effectLst/>
                <a:latin typeface="Open Sans" panose="020B0606030504020204" pitchFamily="34" charset="0"/>
              </a:rPr>
              <a:t>Select the appropriate code that performs bubble sort.</a:t>
            </a:r>
            <a:endParaRPr lang="en-US" sz="2000" dirty="0"/>
          </a:p>
        </p:txBody>
      </p:sp>
      <p:pic>
        <p:nvPicPr>
          <p:cNvPr id="12" name="Picture 11">
            <a:extLst>
              <a:ext uri="{FF2B5EF4-FFF2-40B4-BE49-F238E27FC236}">
                <a16:creationId xmlns:a16="http://schemas.microsoft.com/office/drawing/2014/main" id="{9A0FA6FC-BB9E-BD12-67E7-C454969AF038}"/>
              </a:ext>
            </a:extLst>
          </p:cNvPr>
          <p:cNvPicPr>
            <a:picLocks noChangeAspect="1"/>
          </p:cNvPicPr>
          <p:nvPr/>
        </p:nvPicPr>
        <p:blipFill>
          <a:blip r:embed="rId2"/>
          <a:stretch>
            <a:fillRect/>
          </a:stretch>
        </p:blipFill>
        <p:spPr>
          <a:xfrm>
            <a:off x="58581" y="3107833"/>
            <a:ext cx="4105894" cy="3590314"/>
          </a:xfrm>
          <a:prstGeom prst="rect">
            <a:avLst/>
          </a:prstGeom>
        </p:spPr>
      </p:pic>
      <p:pic>
        <p:nvPicPr>
          <p:cNvPr id="14" name="Picture 13">
            <a:extLst>
              <a:ext uri="{FF2B5EF4-FFF2-40B4-BE49-F238E27FC236}">
                <a16:creationId xmlns:a16="http://schemas.microsoft.com/office/drawing/2014/main" id="{D65A804D-07F3-B570-135F-E8107660FAF3}"/>
              </a:ext>
            </a:extLst>
          </p:cNvPr>
          <p:cNvPicPr>
            <a:picLocks noChangeAspect="1"/>
          </p:cNvPicPr>
          <p:nvPr/>
        </p:nvPicPr>
        <p:blipFill>
          <a:blip r:embed="rId3"/>
          <a:stretch>
            <a:fillRect/>
          </a:stretch>
        </p:blipFill>
        <p:spPr>
          <a:xfrm>
            <a:off x="7969241" y="0"/>
            <a:ext cx="3998013" cy="3229922"/>
          </a:xfrm>
          <a:prstGeom prst="rect">
            <a:avLst/>
          </a:prstGeom>
        </p:spPr>
      </p:pic>
      <p:pic>
        <p:nvPicPr>
          <p:cNvPr id="6" name="Picture 5">
            <a:extLst>
              <a:ext uri="{FF2B5EF4-FFF2-40B4-BE49-F238E27FC236}">
                <a16:creationId xmlns:a16="http://schemas.microsoft.com/office/drawing/2014/main" id="{6A0F141A-F92C-D6AB-5772-BACC188288E2}"/>
              </a:ext>
            </a:extLst>
          </p:cNvPr>
          <p:cNvPicPr>
            <a:picLocks noChangeAspect="1"/>
          </p:cNvPicPr>
          <p:nvPr/>
        </p:nvPicPr>
        <p:blipFill>
          <a:blip r:embed="rId4"/>
          <a:stretch>
            <a:fillRect/>
          </a:stretch>
        </p:blipFill>
        <p:spPr>
          <a:xfrm>
            <a:off x="3223375" y="474168"/>
            <a:ext cx="4552743" cy="3844308"/>
          </a:xfrm>
          <a:prstGeom prst="rect">
            <a:avLst/>
          </a:prstGeom>
        </p:spPr>
      </p:pic>
      <p:pic>
        <p:nvPicPr>
          <p:cNvPr id="10" name="Picture 9">
            <a:extLst>
              <a:ext uri="{FF2B5EF4-FFF2-40B4-BE49-F238E27FC236}">
                <a16:creationId xmlns:a16="http://schemas.microsoft.com/office/drawing/2014/main" id="{009CC862-C2C7-9274-6456-AC2DCE2E4B5C}"/>
              </a:ext>
            </a:extLst>
          </p:cNvPr>
          <p:cNvPicPr>
            <a:picLocks noChangeAspect="1"/>
          </p:cNvPicPr>
          <p:nvPr/>
        </p:nvPicPr>
        <p:blipFill>
          <a:blip r:embed="rId5"/>
          <a:stretch>
            <a:fillRect/>
          </a:stretch>
        </p:blipFill>
        <p:spPr>
          <a:xfrm>
            <a:off x="7872680" y="3107833"/>
            <a:ext cx="4191136" cy="3656099"/>
          </a:xfrm>
          <a:prstGeom prst="rect">
            <a:avLst/>
          </a:prstGeom>
        </p:spPr>
      </p:pic>
    </p:spTree>
    <p:extLst>
      <p:ext uri="{BB962C8B-B14F-4D97-AF65-F5344CB8AC3E}">
        <p14:creationId xmlns:p14="http://schemas.microsoft.com/office/powerpoint/2010/main" val="2376030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400FC-2921-1F26-0FA7-059A16F8BB4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4C9F639-ABCD-826A-3AB3-79C621FDF206}"/>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7762D572-08BA-6FC0-875A-6DCE5258E5D6}"/>
              </a:ext>
            </a:extLst>
          </p:cNvPr>
          <p:cNvPicPr>
            <a:picLocks noChangeAspect="1"/>
          </p:cNvPicPr>
          <p:nvPr/>
        </p:nvPicPr>
        <p:blipFill>
          <a:blip r:embed="rId2"/>
          <a:stretch>
            <a:fillRect/>
          </a:stretch>
        </p:blipFill>
        <p:spPr>
          <a:xfrm>
            <a:off x="2902913" y="681037"/>
            <a:ext cx="6113503" cy="4973925"/>
          </a:xfrm>
          <a:prstGeom prst="rect">
            <a:avLst/>
          </a:prstGeom>
        </p:spPr>
      </p:pic>
    </p:spTree>
    <p:extLst>
      <p:ext uri="{BB962C8B-B14F-4D97-AF65-F5344CB8AC3E}">
        <p14:creationId xmlns:p14="http://schemas.microsoft.com/office/powerpoint/2010/main" val="38739086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198D4-2867-2CE3-36C6-37D829462D64}"/>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18FFF9CE-1AEA-849B-0FF7-F8094F691813}"/>
              </a:ext>
            </a:extLst>
          </p:cNvPr>
          <p:cNvSpPr>
            <a:spLocks noGrp="1"/>
          </p:cNvSpPr>
          <p:nvPr>
            <p:ph idx="1"/>
          </p:nvPr>
        </p:nvSpPr>
        <p:spPr/>
        <p:txBody>
          <a:bodyPr/>
          <a:lstStyle/>
          <a:p>
            <a:endParaRPr lang="en-US" dirty="0"/>
          </a:p>
        </p:txBody>
      </p:sp>
      <p:pic>
        <p:nvPicPr>
          <p:cNvPr id="7" name="Picture 6">
            <a:extLst>
              <a:ext uri="{FF2B5EF4-FFF2-40B4-BE49-F238E27FC236}">
                <a16:creationId xmlns:a16="http://schemas.microsoft.com/office/drawing/2014/main" id="{C3B00D6F-DBEF-AAFB-20EB-CF48D93B0A90}"/>
              </a:ext>
            </a:extLst>
          </p:cNvPr>
          <p:cNvPicPr>
            <a:picLocks noChangeAspect="1"/>
          </p:cNvPicPr>
          <p:nvPr/>
        </p:nvPicPr>
        <p:blipFill>
          <a:blip r:embed="rId2"/>
          <a:stretch>
            <a:fillRect/>
          </a:stretch>
        </p:blipFill>
        <p:spPr>
          <a:xfrm>
            <a:off x="601296" y="440913"/>
            <a:ext cx="10989408" cy="4905528"/>
          </a:xfrm>
          <a:prstGeom prst="rect">
            <a:avLst/>
          </a:prstGeom>
        </p:spPr>
      </p:pic>
    </p:spTree>
    <p:extLst>
      <p:ext uri="{BB962C8B-B14F-4D97-AF65-F5344CB8AC3E}">
        <p14:creationId xmlns:p14="http://schemas.microsoft.com/office/powerpoint/2010/main" val="32394472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E120A-27C7-8258-5EA2-0CBBAB6818C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44E3956-8933-5AE8-C4EE-51F1D07F406E}"/>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52A11BE7-CBC1-4FF4-95AD-53C3E3B1174C}"/>
              </a:ext>
            </a:extLst>
          </p:cNvPr>
          <p:cNvPicPr>
            <a:picLocks noChangeAspect="1"/>
          </p:cNvPicPr>
          <p:nvPr/>
        </p:nvPicPr>
        <p:blipFill>
          <a:blip r:embed="rId2"/>
          <a:stretch>
            <a:fillRect/>
          </a:stretch>
        </p:blipFill>
        <p:spPr>
          <a:xfrm>
            <a:off x="3144419" y="107979"/>
            <a:ext cx="5903161" cy="6311482"/>
          </a:xfrm>
          <a:prstGeom prst="rect">
            <a:avLst/>
          </a:prstGeom>
        </p:spPr>
      </p:pic>
    </p:spTree>
    <p:extLst>
      <p:ext uri="{BB962C8B-B14F-4D97-AF65-F5344CB8AC3E}">
        <p14:creationId xmlns:p14="http://schemas.microsoft.com/office/powerpoint/2010/main" val="6415340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15BAA-CBBE-754D-3412-AFC2DCB3894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4629089-321E-845A-34FF-095FFFC09826}"/>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2AEC888C-5227-D596-C8FE-6B0DCB5F48A7}"/>
              </a:ext>
            </a:extLst>
          </p:cNvPr>
          <p:cNvPicPr>
            <a:picLocks noChangeAspect="1"/>
          </p:cNvPicPr>
          <p:nvPr/>
        </p:nvPicPr>
        <p:blipFill>
          <a:blip r:embed="rId2"/>
          <a:stretch>
            <a:fillRect/>
          </a:stretch>
        </p:blipFill>
        <p:spPr>
          <a:xfrm>
            <a:off x="838199" y="363576"/>
            <a:ext cx="10517033" cy="4637632"/>
          </a:xfrm>
          <a:prstGeom prst="rect">
            <a:avLst/>
          </a:prstGeom>
        </p:spPr>
      </p:pic>
    </p:spTree>
    <p:extLst>
      <p:ext uri="{BB962C8B-B14F-4D97-AF65-F5344CB8AC3E}">
        <p14:creationId xmlns:p14="http://schemas.microsoft.com/office/powerpoint/2010/main" val="12616409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FBB24-F2EE-8E09-4C8E-CCBED977493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CE7826D-E250-5293-C533-00B2E2B1DB5E}"/>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FC3B3ADC-14BF-C84F-65A9-D3349CCCC8CD}"/>
              </a:ext>
            </a:extLst>
          </p:cNvPr>
          <p:cNvPicPr>
            <a:picLocks noChangeAspect="1"/>
          </p:cNvPicPr>
          <p:nvPr/>
        </p:nvPicPr>
        <p:blipFill>
          <a:blip r:embed="rId2"/>
          <a:stretch>
            <a:fillRect/>
          </a:stretch>
        </p:blipFill>
        <p:spPr>
          <a:xfrm>
            <a:off x="3797272" y="55992"/>
            <a:ext cx="4597456" cy="6746016"/>
          </a:xfrm>
          <a:prstGeom prst="rect">
            <a:avLst/>
          </a:prstGeom>
        </p:spPr>
      </p:pic>
    </p:spTree>
    <p:extLst>
      <p:ext uri="{BB962C8B-B14F-4D97-AF65-F5344CB8AC3E}">
        <p14:creationId xmlns:p14="http://schemas.microsoft.com/office/powerpoint/2010/main" val="16198514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2EA09B-D23A-9883-33AD-FD154330440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D8E2A86-206E-E2A2-508B-4313ED51FE0A}"/>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99860D62-992E-B818-DE30-2F5E2E7DFCE2}"/>
              </a:ext>
            </a:extLst>
          </p:cNvPr>
          <p:cNvPicPr>
            <a:picLocks noChangeAspect="1"/>
          </p:cNvPicPr>
          <p:nvPr/>
        </p:nvPicPr>
        <p:blipFill>
          <a:blip r:embed="rId2"/>
          <a:stretch>
            <a:fillRect/>
          </a:stretch>
        </p:blipFill>
        <p:spPr>
          <a:xfrm>
            <a:off x="785327" y="353261"/>
            <a:ext cx="10749977" cy="4470666"/>
          </a:xfrm>
          <a:prstGeom prst="rect">
            <a:avLst/>
          </a:prstGeom>
        </p:spPr>
      </p:pic>
    </p:spTree>
    <p:extLst>
      <p:ext uri="{BB962C8B-B14F-4D97-AF65-F5344CB8AC3E}">
        <p14:creationId xmlns:p14="http://schemas.microsoft.com/office/powerpoint/2010/main" val="5874232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D6C3F-BCE3-B0D0-8DE7-80EACCDD5EC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914B719-34F7-D157-1DDE-6666DB684114}"/>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87845BD5-A270-344F-B81C-0ABF985BF9A0}"/>
              </a:ext>
            </a:extLst>
          </p:cNvPr>
          <p:cNvPicPr>
            <a:picLocks noChangeAspect="1"/>
          </p:cNvPicPr>
          <p:nvPr/>
        </p:nvPicPr>
        <p:blipFill>
          <a:blip r:embed="rId2"/>
          <a:stretch>
            <a:fillRect/>
          </a:stretch>
        </p:blipFill>
        <p:spPr>
          <a:xfrm>
            <a:off x="838200" y="1298185"/>
            <a:ext cx="10369574" cy="3105863"/>
          </a:xfrm>
          <a:prstGeom prst="rect">
            <a:avLst/>
          </a:prstGeom>
        </p:spPr>
      </p:pic>
    </p:spTree>
    <p:extLst>
      <p:ext uri="{BB962C8B-B14F-4D97-AF65-F5344CB8AC3E}">
        <p14:creationId xmlns:p14="http://schemas.microsoft.com/office/powerpoint/2010/main" val="20748664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F0539F4-43D5-1E7E-EFF8-529E0D70F15A}"/>
              </a:ext>
            </a:extLst>
          </p:cNvPr>
          <p:cNvSpPr txBox="1"/>
          <p:nvPr/>
        </p:nvSpPr>
        <p:spPr>
          <a:xfrm>
            <a:off x="510852" y="519539"/>
            <a:ext cx="6097554" cy="5632311"/>
          </a:xfrm>
          <a:prstGeom prst="rect">
            <a:avLst/>
          </a:prstGeom>
          <a:noFill/>
        </p:spPr>
        <p:txBody>
          <a:bodyPr wrap="square">
            <a:spAutoFit/>
          </a:bodyPr>
          <a:lstStyle/>
          <a:p>
            <a:r>
              <a:rPr lang="en-US" dirty="0"/>
              <a:t>#include &lt;</a:t>
            </a:r>
            <a:r>
              <a:rPr lang="en-US" dirty="0" err="1"/>
              <a:t>stdio.h</a:t>
            </a:r>
            <a:r>
              <a:rPr lang="en-US" dirty="0"/>
              <a:t>&gt;</a:t>
            </a:r>
          </a:p>
          <a:p>
            <a:endParaRPr lang="en-US" dirty="0"/>
          </a:p>
          <a:p>
            <a:r>
              <a:rPr lang="en-US" dirty="0"/>
              <a:t>int </a:t>
            </a:r>
            <a:r>
              <a:rPr lang="en-US" dirty="0" err="1"/>
              <a:t>stringLength</a:t>
            </a:r>
            <a:r>
              <a:rPr lang="en-US" dirty="0"/>
              <a:t>(const char* str) {</a:t>
            </a:r>
          </a:p>
          <a:p>
            <a:r>
              <a:rPr lang="en-US" dirty="0"/>
              <a:t>    int length = 0;</a:t>
            </a:r>
          </a:p>
          <a:p>
            <a:r>
              <a:rPr lang="en-US" dirty="0"/>
              <a:t>    const char* </a:t>
            </a:r>
            <a:r>
              <a:rPr lang="en-US" dirty="0" err="1"/>
              <a:t>ptr</a:t>
            </a:r>
            <a:r>
              <a:rPr lang="en-US" dirty="0"/>
              <a:t> = str;</a:t>
            </a:r>
          </a:p>
          <a:p>
            <a:endParaRPr lang="en-US" dirty="0"/>
          </a:p>
          <a:p>
            <a:r>
              <a:rPr lang="en-US" dirty="0"/>
              <a:t>    while (*</a:t>
            </a:r>
            <a:r>
              <a:rPr lang="en-US" dirty="0" err="1"/>
              <a:t>ptr</a:t>
            </a:r>
            <a:r>
              <a:rPr lang="en-US" dirty="0"/>
              <a:t> != '\0') {</a:t>
            </a:r>
          </a:p>
          <a:p>
            <a:r>
              <a:rPr lang="en-US" dirty="0"/>
              <a:t>        length++;</a:t>
            </a:r>
          </a:p>
          <a:p>
            <a:r>
              <a:rPr lang="en-US" dirty="0"/>
              <a:t>        </a:t>
            </a:r>
            <a:r>
              <a:rPr lang="en-US" dirty="0" err="1"/>
              <a:t>ptr</a:t>
            </a:r>
            <a:r>
              <a:rPr lang="en-US" dirty="0"/>
              <a:t>++;</a:t>
            </a:r>
          </a:p>
          <a:p>
            <a:r>
              <a:rPr lang="en-US" dirty="0"/>
              <a:t>    }</a:t>
            </a:r>
          </a:p>
          <a:p>
            <a:endParaRPr lang="en-US" dirty="0"/>
          </a:p>
          <a:p>
            <a:r>
              <a:rPr lang="en-US" dirty="0"/>
              <a:t>    return length;</a:t>
            </a:r>
          </a:p>
          <a:p>
            <a:r>
              <a:rPr lang="en-US" dirty="0"/>
              <a:t>}</a:t>
            </a:r>
          </a:p>
          <a:p>
            <a:endParaRPr lang="en-US" dirty="0"/>
          </a:p>
          <a:p>
            <a:r>
              <a:rPr lang="en-US" dirty="0"/>
              <a:t>int main() {</a:t>
            </a:r>
          </a:p>
          <a:p>
            <a:r>
              <a:rPr lang="en-US" dirty="0"/>
              <a:t>    const char* str = "Hello, World!";</a:t>
            </a:r>
          </a:p>
          <a:p>
            <a:r>
              <a:rPr lang="en-US" dirty="0"/>
              <a:t>    int </a:t>
            </a:r>
            <a:r>
              <a:rPr lang="en-US" dirty="0" err="1"/>
              <a:t>len</a:t>
            </a:r>
            <a:r>
              <a:rPr lang="en-US" dirty="0"/>
              <a:t> = </a:t>
            </a:r>
            <a:r>
              <a:rPr lang="en-US" dirty="0" err="1"/>
              <a:t>stringLength</a:t>
            </a:r>
            <a:r>
              <a:rPr lang="en-US" dirty="0"/>
              <a:t>(str);</a:t>
            </a:r>
          </a:p>
          <a:p>
            <a:r>
              <a:rPr lang="en-US" dirty="0"/>
              <a:t>    </a:t>
            </a:r>
            <a:r>
              <a:rPr lang="en-US" dirty="0" err="1"/>
              <a:t>printf</a:t>
            </a:r>
            <a:r>
              <a:rPr lang="en-US" dirty="0"/>
              <a:t>("The length of the string '%s' is: %d\n", str, </a:t>
            </a:r>
            <a:r>
              <a:rPr lang="en-US" dirty="0" err="1"/>
              <a:t>len</a:t>
            </a:r>
            <a:r>
              <a:rPr lang="en-US" dirty="0"/>
              <a:t>);</a:t>
            </a:r>
          </a:p>
          <a:p>
            <a:r>
              <a:rPr lang="en-US" dirty="0"/>
              <a:t>    return 0;</a:t>
            </a:r>
          </a:p>
          <a:p>
            <a:r>
              <a:rPr lang="en-US" dirty="0"/>
              <a:t>}</a:t>
            </a:r>
          </a:p>
        </p:txBody>
      </p:sp>
      <p:sp>
        <p:nvSpPr>
          <p:cNvPr id="9" name="TextBox 8">
            <a:extLst>
              <a:ext uri="{FF2B5EF4-FFF2-40B4-BE49-F238E27FC236}">
                <a16:creationId xmlns:a16="http://schemas.microsoft.com/office/drawing/2014/main" id="{6ECAE07B-BCB5-EF2C-91CC-AD6C0B2DA940}"/>
              </a:ext>
            </a:extLst>
          </p:cNvPr>
          <p:cNvSpPr txBox="1"/>
          <p:nvPr/>
        </p:nvSpPr>
        <p:spPr>
          <a:xfrm>
            <a:off x="5913276" y="1729284"/>
            <a:ext cx="6097554" cy="2308324"/>
          </a:xfrm>
          <a:prstGeom prst="rect">
            <a:avLst/>
          </a:prstGeom>
          <a:noFill/>
        </p:spPr>
        <p:txBody>
          <a:bodyPr wrap="square">
            <a:spAutoFit/>
          </a:bodyPr>
          <a:lstStyle/>
          <a:p>
            <a:pPr algn="l"/>
            <a:r>
              <a:rPr lang="en-US" sz="2400" b="0" i="0" dirty="0">
                <a:solidFill>
                  <a:srgbClr val="374151"/>
                </a:solidFill>
                <a:effectLst/>
                <a:latin typeface="Söhne"/>
              </a:rPr>
              <a:t>What will be the output of the above code?</a:t>
            </a:r>
          </a:p>
          <a:p>
            <a:pPr algn="l"/>
            <a:r>
              <a:rPr lang="en-US" sz="2400" b="0" i="0" dirty="0">
                <a:solidFill>
                  <a:srgbClr val="374151"/>
                </a:solidFill>
                <a:effectLst/>
                <a:latin typeface="Söhne"/>
              </a:rPr>
              <a:t>Options: </a:t>
            </a:r>
          </a:p>
          <a:p>
            <a:pPr marL="342900" indent="-342900" algn="l">
              <a:buAutoNum type="alphaUcParenR"/>
            </a:pPr>
            <a:r>
              <a:rPr lang="en-US" sz="2400" b="0" i="0" dirty="0">
                <a:solidFill>
                  <a:srgbClr val="374151"/>
                </a:solidFill>
                <a:effectLst/>
                <a:latin typeface="Söhne"/>
              </a:rPr>
              <a:t>The length of the string 'Hello, World!' is: 13 </a:t>
            </a:r>
          </a:p>
          <a:p>
            <a:pPr marL="342900" indent="-342900" algn="l">
              <a:buAutoNum type="alphaUcParenR"/>
            </a:pPr>
            <a:r>
              <a:rPr lang="en-US" sz="2400" b="0" i="0" dirty="0">
                <a:solidFill>
                  <a:srgbClr val="374151"/>
                </a:solidFill>
                <a:effectLst/>
                <a:latin typeface="Söhne"/>
              </a:rPr>
              <a:t>The length of the string 'Hello, World!' is: 12 </a:t>
            </a:r>
          </a:p>
          <a:p>
            <a:pPr marL="342900" indent="-342900" algn="l">
              <a:buAutoNum type="alphaUcParenR"/>
            </a:pPr>
            <a:r>
              <a:rPr lang="en-US" sz="2400" b="0" i="0" dirty="0">
                <a:solidFill>
                  <a:srgbClr val="374151"/>
                </a:solidFill>
                <a:effectLst/>
                <a:latin typeface="Söhne"/>
              </a:rPr>
              <a:t>The length of the string 'Hello, World!' is: 14 </a:t>
            </a:r>
          </a:p>
          <a:p>
            <a:pPr marL="342900" indent="-342900" algn="l">
              <a:buAutoNum type="alphaUcParenR"/>
            </a:pPr>
            <a:r>
              <a:rPr lang="en-US" sz="2400" b="0" i="0" dirty="0">
                <a:solidFill>
                  <a:srgbClr val="374151"/>
                </a:solidFill>
                <a:effectLst/>
                <a:latin typeface="Söhne"/>
              </a:rPr>
              <a:t>The length of the string 'Hello, World!' is: 11</a:t>
            </a:r>
          </a:p>
        </p:txBody>
      </p:sp>
    </p:spTree>
    <p:extLst>
      <p:ext uri="{BB962C8B-B14F-4D97-AF65-F5344CB8AC3E}">
        <p14:creationId xmlns:p14="http://schemas.microsoft.com/office/powerpoint/2010/main" val="17303751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BC5AD-E06E-F178-9C96-D393E8F4A37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01F4948-70B7-1D4F-6DDB-74EBBAC4A98F}"/>
              </a:ext>
            </a:extLst>
          </p:cNvPr>
          <p:cNvSpPr>
            <a:spLocks noGrp="1"/>
          </p:cNvSpPr>
          <p:nvPr>
            <p:ph idx="1"/>
          </p:nvPr>
        </p:nvSpPr>
        <p:spPr/>
        <p:txBody>
          <a:bodyPr/>
          <a:lstStyle/>
          <a:p>
            <a:pPr marL="0" indent="0">
              <a:buNone/>
            </a:pPr>
            <a:r>
              <a:rPr lang="en-US" b="0" i="0" dirty="0">
                <a:solidFill>
                  <a:srgbClr val="374151"/>
                </a:solidFill>
                <a:effectLst/>
                <a:latin typeface="Söhne"/>
              </a:rPr>
              <a:t>The correct option is A) The length of the string 'Hello, World!' is: 13. Since there are 13 characters in the string, including the null character at the end, the function will correctly calculate the length as 13.</a:t>
            </a:r>
            <a:endParaRPr lang="en-US" dirty="0"/>
          </a:p>
        </p:txBody>
      </p:sp>
    </p:spTree>
    <p:extLst>
      <p:ext uri="{BB962C8B-B14F-4D97-AF65-F5344CB8AC3E}">
        <p14:creationId xmlns:p14="http://schemas.microsoft.com/office/powerpoint/2010/main" val="36489647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82A6EE-6216-C337-4BC7-073115205C15}"/>
              </a:ext>
            </a:extLst>
          </p:cNvPr>
          <p:cNvSpPr txBox="1"/>
          <p:nvPr/>
        </p:nvSpPr>
        <p:spPr>
          <a:xfrm>
            <a:off x="240264" y="232637"/>
            <a:ext cx="6097554" cy="5909310"/>
          </a:xfrm>
          <a:prstGeom prst="rect">
            <a:avLst/>
          </a:prstGeom>
          <a:noFill/>
        </p:spPr>
        <p:txBody>
          <a:bodyPr wrap="square">
            <a:spAutoFit/>
          </a:bodyPr>
          <a:lstStyle/>
          <a:p>
            <a:r>
              <a:rPr lang="en-US" dirty="0"/>
              <a:t>#include &lt;</a:t>
            </a:r>
            <a:r>
              <a:rPr lang="en-US" dirty="0" err="1"/>
              <a:t>stdio.h</a:t>
            </a:r>
            <a:r>
              <a:rPr lang="en-US" dirty="0"/>
              <a:t>&gt;</a:t>
            </a:r>
          </a:p>
          <a:p>
            <a:r>
              <a:rPr lang="en-US" dirty="0"/>
              <a:t>#include &lt;</a:t>
            </a:r>
            <a:r>
              <a:rPr lang="en-US" dirty="0" err="1"/>
              <a:t>string.h</a:t>
            </a:r>
            <a:r>
              <a:rPr lang="en-US" dirty="0"/>
              <a:t>&gt;</a:t>
            </a:r>
          </a:p>
          <a:p>
            <a:endParaRPr lang="en-US" dirty="0"/>
          </a:p>
          <a:p>
            <a:r>
              <a:rPr lang="en-US" dirty="0"/>
              <a:t>void </a:t>
            </a:r>
            <a:r>
              <a:rPr lang="en-US" dirty="0" err="1"/>
              <a:t>stringCopy</a:t>
            </a:r>
            <a:r>
              <a:rPr lang="en-US" dirty="0"/>
              <a:t>(char* </a:t>
            </a:r>
            <a:r>
              <a:rPr lang="en-US" dirty="0" err="1"/>
              <a:t>dest</a:t>
            </a:r>
            <a:r>
              <a:rPr lang="en-US" dirty="0"/>
              <a:t>, const char* </a:t>
            </a:r>
            <a:r>
              <a:rPr lang="en-US" dirty="0" err="1"/>
              <a:t>src</a:t>
            </a:r>
            <a:r>
              <a:rPr lang="en-US" dirty="0"/>
              <a:t>) {</a:t>
            </a:r>
          </a:p>
          <a:p>
            <a:r>
              <a:rPr lang="en-US" dirty="0"/>
              <a:t>    char* </a:t>
            </a:r>
            <a:r>
              <a:rPr lang="en-US" dirty="0" err="1"/>
              <a:t>firstWord</a:t>
            </a:r>
            <a:r>
              <a:rPr lang="en-US" dirty="0"/>
              <a:t> = </a:t>
            </a:r>
            <a:r>
              <a:rPr lang="en-US" dirty="0" err="1"/>
              <a:t>src</a:t>
            </a:r>
            <a:r>
              <a:rPr lang="en-US" dirty="0"/>
              <a:t>;</a:t>
            </a:r>
          </a:p>
          <a:p>
            <a:r>
              <a:rPr lang="en-US" dirty="0"/>
              <a:t>    char* </a:t>
            </a:r>
            <a:r>
              <a:rPr lang="en-US" dirty="0" err="1"/>
              <a:t>secondWord</a:t>
            </a:r>
            <a:r>
              <a:rPr lang="en-US" dirty="0"/>
              <a:t> = </a:t>
            </a:r>
            <a:r>
              <a:rPr lang="en-US" dirty="0" err="1"/>
              <a:t>strchr</a:t>
            </a:r>
            <a:r>
              <a:rPr lang="en-US" dirty="0"/>
              <a:t>(</a:t>
            </a:r>
            <a:r>
              <a:rPr lang="en-US" dirty="0" err="1"/>
              <a:t>firstWord</a:t>
            </a:r>
            <a:r>
              <a:rPr lang="en-US" dirty="0"/>
              <a:t>, ' ');</a:t>
            </a:r>
          </a:p>
          <a:p>
            <a:endParaRPr lang="en-US" dirty="0"/>
          </a:p>
          <a:p>
            <a:r>
              <a:rPr lang="en-US" dirty="0"/>
              <a:t>    if (</a:t>
            </a:r>
            <a:r>
              <a:rPr lang="en-US" dirty="0" err="1"/>
              <a:t>secondWord</a:t>
            </a:r>
            <a:r>
              <a:rPr lang="en-US" dirty="0"/>
              <a:t> == NULL) {</a:t>
            </a:r>
          </a:p>
          <a:p>
            <a:r>
              <a:rPr lang="en-US" dirty="0"/>
              <a:t>        </a:t>
            </a:r>
            <a:r>
              <a:rPr lang="en-US" dirty="0" err="1"/>
              <a:t>secondWord</a:t>
            </a:r>
            <a:r>
              <a:rPr lang="en-US" dirty="0"/>
              <a:t> = </a:t>
            </a:r>
            <a:r>
              <a:rPr lang="en-US" dirty="0" err="1"/>
              <a:t>src</a:t>
            </a:r>
            <a:r>
              <a:rPr lang="en-US" dirty="0"/>
              <a:t> + </a:t>
            </a:r>
            <a:r>
              <a:rPr lang="en-US" dirty="0" err="1"/>
              <a:t>strlen</a:t>
            </a:r>
            <a:r>
              <a:rPr lang="en-US" dirty="0"/>
              <a:t>(</a:t>
            </a:r>
            <a:r>
              <a:rPr lang="en-US" dirty="0" err="1"/>
              <a:t>src</a:t>
            </a:r>
            <a:r>
              <a:rPr lang="en-US" dirty="0"/>
              <a:t>);</a:t>
            </a:r>
          </a:p>
          <a:p>
            <a:r>
              <a:rPr lang="en-US" dirty="0"/>
              <a:t>    }</a:t>
            </a:r>
          </a:p>
          <a:p>
            <a:endParaRPr lang="en-US" dirty="0"/>
          </a:p>
          <a:p>
            <a:r>
              <a:rPr lang="en-US" dirty="0"/>
              <a:t>    int </a:t>
            </a:r>
            <a:r>
              <a:rPr lang="en-US" dirty="0" err="1"/>
              <a:t>i</a:t>
            </a:r>
            <a:r>
              <a:rPr lang="en-US" dirty="0"/>
              <a:t> = 0;</a:t>
            </a:r>
          </a:p>
          <a:p>
            <a:r>
              <a:rPr lang="en-US" dirty="0"/>
              <a:t>    while (</a:t>
            </a:r>
            <a:r>
              <a:rPr lang="en-US" dirty="0" err="1"/>
              <a:t>firstWord</a:t>
            </a:r>
            <a:r>
              <a:rPr lang="en-US" dirty="0"/>
              <a:t> != </a:t>
            </a:r>
            <a:r>
              <a:rPr lang="en-US" dirty="0" err="1"/>
              <a:t>secondWord</a:t>
            </a:r>
            <a:r>
              <a:rPr lang="en-US" dirty="0"/>
              <a:t>) {</a:t>
            </a:r>
          </a:p>
          <a:p>
            <a:r>
              <a:rPr lang="en-US" dirty="0"/>
              <a:t>        </a:t>
            </a:r>
            <a:r>
              <a:rPr lang="en-US" dirty="0" err="1"/>
              <a:t>dest</a:t>
            </a:r>
            <a:r>
              <a:rPr lang="en-US" dirty="0"/>
              <a:t>[</a:t>
            </a:r>
            <a:r>
              <a:rPr lang="en-US" dirty="0" err="1"/>
              <a:t>i</a:t>
            </a:r>
            <a:r>
              <a:rPr lang="en-US" dirty="0"/>
              <a:t>] = *</a:t>
            </a:r>
            <a:r>
              <a:rPr lang="en-US" dirty="0" err="1"/>
              <a:t>firstWord</a:t>
            </a:r>
            <a:r>
              <a:rPr lang="en-US" dirty="0"/>
              <a:t>;</a:t>
            </a:r>
          </a:p>
          <a:p>
            <a:r>
              <a:rPr lang="en-US" dirty="0"/>
              <a:t>        </a:t>
            </a:r>
            <a:r>
              <a:rPr lang="en-US" dirty="0" err="1"/>
              <a:t>firstWord</a:t>
            </a:r>
            <a:r>
              <a:rPr lang="en-US" dirty="0"/>
              <a:t>++;</a:t>
            </a:r>
          </a:p>
          <a:p>
            <a:r>
              <a:rPr lang="en-US" dirty="0"/>
              <a:t>        </a:t>
            </a:r>
            <a:r>
              <a:rPr lang="en-US" dirty="0" err="1"/>
              <a:t>i</a:t>
            </a:r>
            <a:r>
              <a:rPr lang="en-US" dirty="0"/>
              <a:t>++;</a:t>
            </a:r>
          </a:p>
          <a:p>
            <a:r>
              <a:rPr lang="en-US" dirty="0"/>
              <a:t>    }</a:t>
            </a:r>
          </a:p>
          <a:p>
            <a:endParaRPr lang="en-US" dirty="0"/>
          </a:p>
          <a:p>
            <a:r>
              <a:rPr lang="en-US" dirty="0"/>
              <a:t>    </a:t>
            </a:r>
            <a:r>
              <a:rPr lang="en-US" dirty="0" err="1"/>
              <a:t>dest</a:t>
            </a:r>
            <a:r>
              <a:rPr lang="en-US" dirty="0"/>
              <a:t>[</a:t>
            </a:r>
            <a:r>
              <a:rPr lang="en-US" dirty="0" err="1"/>
              <a:t>i</a:t>
            </a:r>
            <a:r>
              <a:rPr lang="en-US" dirty="0"/>
              <a:t>] = '\0';</a:t>
            </a:r>
          </a:p>
          <a:p>
            <a:r>
              <a:rPr lang="en-US" dirty="0"/>
              <a:t>}</a:t>
            </a:r>
          </a:p>
          <a:p>
            <a:endParaRPr lang="en-US" dirty="0"/>
          </a:p>
        </p:txBody>
      </p:sp>
      <p:sp>
        <p:nvSpPr>
          <p:cNvPr id="7" name="TextBox 6">
            <a:extLst>
              <a:ext uri="{FF2B5EF4-FFF2-40B4-BE49-F238E27FC236}">
                <a16:creationId xmlns:a16="http://schemas.microsoft.com/office/drawing/2014/main" id="{566E9EC9-B713-A4D2-DF87-469B56C0DF38}"/>
              </a:ext>
            </a:extLst>
          </p:cNvPr>
          <p:cNvSpPr txBox="1"/>
          <p:nvPr/>
        </p:nvSpPr>
        <p:spPr>
          <a:xfrm>
            <a:off x="5288125" y="232637"/>
            <a:ext cx="6097554" cy="2031325"/>
          </a:xfrm>
          <a:prstGeom prst="rect">
            <a:avLst/>
          </a:prstGeom>
          <a:noFill/>
        </p:spPr>
        <p:txBody>
          <a:bodyPr wrap="square">
            <a:spAutoFit/>
          </a:bodyPr>
          <a:lstStyle/>
          <a:p>
            <a:r>
              <a:rPr lang="en-US" dirty="0"/>
              <a:t>int main() {</a:t>
            </a:r>
          </a:p>
          <a:p>
            <a:r>
              <a:rPr lang="en-US" dirty="0"/>
              <a:t>    char </a:t>
            </a:r>
            <a:r>
              <a:rPr lang="en-US" dirty="0" err="1"/>
              <a:t>dest</a:t>
            </a:r>
            <a:r>
              <a:rPr lang="en-US" dirty="0"/>
              <a:t>[20];</a:t>
            </a:r>
          </a:p>
          <a:p>
            <a:r>
              <a:rPr lang="en-US" dirty="0"/>
              <a:t>    const char* </a:t>
            </a:r>
            <a:r>
              <a:rPr lang="en-US" dirty="0" err="1"/>
              <a:t>src</a:t>
            </a:r>
            <a:r>
              <a:rPr lang="en-US" dirty="0"/>
              <a:t> = "Copy this string";</a:t>
            </a:r>
          </a:p>
          <a:p>
            <a:r>
              <a:rPr lang="en-US" dirty="0"/>
              <a:t>    </a:t>
            </a:r>
            <a:r>
              <a:rPr lang="en-US" dirty="0" err="1"/>
              <a:t>stringCopy</a:t>
            </a:r>
            <a:r>
              <a:rPr lang="en-US" dirty="0"/>
              <a:t>(</a:t>
            </a:r>
            <a:r>
              <a:rPr lang="en-US" dirty="0" err="1"/>
              <a:t>dest</a:t>
            </a:r>
            <a:r>
              <a:rPr lang="en-US" dirty="0"/>
              <a:t>, </a:t>
            </a:r>
            <a:r>
              <a:rPr lang="en-US" dirty="0" err="1"/>
              <a:t>src</a:t>
            </a:r>
            <a:r>
              <a:rPr lang="en-US" dirty="0"/>
              <a:t>);</a:t>
            </a:r>
          </a:p>
          <a:p>
            <a:r>
              <a:rPr lang="en-US" dirty="0"/>
              <a:t>    </a:t>
            </a:r>
            <a:r>
              <a:rPr lang="en-US" dirty="0" err="1"/>
              <a:t>printf</a:t>
            </a:r>
            <a:r>
              <a:rPr lang="en-US" dirty="0"/>
              <a:t>("The copied string is: %s\n", </a:t>
            </a:r>
            <a:r>
              <a:rPr lang="en-US" dirty="0" err="1"/>
              <a:t>dest</a:t>
            </a:r>
            <a:r>
              <a:rPr lang="en-US" dirty="0"/>
              <a:t>);</a:t>
            </a:r>
          </a:p>
          <a:p>
            <a:r>
              <a:rPr lang="en-US" dirty="0"/>
              <a:t>    return 0;</a:t>
            </a:r>
          </a:p>
          <a:p>
            <a:r>
              <a:rPr lang="en-US" dirty="0"/>
              <a:t>}</a:t>
            </a:r>
          </a:p>
        </p:txBody>
      </p:sp>
      <p:sp>
        <p:nvSpPr>
          <p:cNvPr id="9" name="TextBox 8">
            <a:extLst>
              <a:ext uri="{FF2B5EF4-FFF2-40B4-BE49-F238E27FC236}">
                <a16:creationId xmlns:a16="http://schemas.microsoft.com/office/drawing/2014/main" id="{EA410ECC-5220-3AAB-323B-2233D7184055}"/>
              </a:ext>
            </a:extLst>
          </p:cNvPr>
          <p:cNvSpPr txBox="1"/>
          <p:nvPr/>
        </p:nvSpPr>
        <p:spPr>
          <a:xfrm>
            <a:off x="5036199" y="2483602"/>
            <a:ext cx="6655058" cy="2308324"/>
          </a:xfrm>
          <a:prstGeom prst="rect">
            <a:avLst/>
          </a:prstGeom>
          <a:noFill/>
        </p:spPr>
        <p:txBody>
          <a:bodyPr wrap="square">
            <a:spAutoFit/>
          </a:bodyPr>
          <a:lstStyle/>
          <a:p>
            <a:pPr algn="l"/>
            <a:r>
              <a:rPr lang="en-US" sz="2400" b="0" i="0" dirty="0">
                <a:solidFill>
                  <a:srgbClr val="374151"/>
                </a:solidFill>
                <a:effectLst/>
                <a:latin typeface="Söhne"/>
              </a:rPr>
              <a:t>What will be the output of the above code?</a:t>
            </a:r>
          </a:p>
          <a:p>
            <a:pPr algn="l"/>
            <a:r>
              <a:rPr lang="en-US" sz="2400" b="0" i="0" dirty="0">
                <a:solidFill>
                  <a:srgbClr val="374151"/>
                </a:solidFill>
                <a:effectLst/>
                <a:latin typeface="Söhne"/>
              </a:rPr>
              <a:t>Options:</a:t>
            </a:r>
          </a:p>
          <a:p>
            <a:pPr marL="342900" indent="-342900" algn="l">
              <a:buAutoNum type="alphaUcParenR"/>
            </a:pPr>
            <a:r>
              <a:rPr lang="en-US" sz="2400" b="0" i="0" dirty="0">
                <a:solidFill>
                  <a:srgbClr val="374151"/>
                </a:solidFill>
                <a:effectLst/>
                <a:latin typeface="Söhne"/>
              </a:rPr>
              <a:t>The copied string is: Copy this string </a:t>
            </a:r>
          </a:p>
          <a:p>
            <a:pPr marL="342900" indent="-342900" algn="l">
              <a:buAutoNum type="alphaUcParenR"/>
            </a:pPr>
            <a:r>
              <a:rPr lang="en-US" sz="2400" b="0" i="0" dirty="0">
                <a:solidFill>
                  <a:srgbClr val="374151"/>
                </a:solidFill>
                <a:effectLst/>
                <a:latin typeface="Söhne"/>
              </a:rPr>
              <a:t>The copied string is: Copy</a:t>
            </a:r>
          </a:p>
          <a:p>
            <a:pPr marL="342900" indent="-342900" algn="l">
              <a:buAutoNum type="alphaUcParenR"/>
            </a:pPr>
            <a:r>
              <a:rPr lang="en-US" sz="2400" b="0" i="0" dirty="0">
                <a:solidFill>
                  <a:srgbClr val="374151"/>
                </a:solidFill>
                <a:effectLst/>
                <a:latin typeface="Söhne"/>
              </a:rPr>
              <a:t>The copied string is: this </a:t>
            </a:r>
          </a:p>
          <a:p>
            <a:pPr marL="342900" indent="-342900" algn="l">
              <a:buAutoNum type="alphaUcParenR"/>
            </a:pPr>
            <a:r>
              <a:rPr lang="en-US" sz="2400" b="0" i="0" dirty="0">
                <a:solidFill>
                  <a:srgbClr val="374151"/>
                </a:solidFill>
                <a:effectLst/>
                <a:latin typeface="Söhne"/>
              </a:rPr>
              <a:t>The copied string is: string</a:t>
            </a:r>
          </a:p>
        </p:txBody>
      </p:sp>
      <p:sp>
        <p:nvSpPr>
          <p:cNvPr id="11" name="TextBox 10">
            <a:extLst>
              <a:ext uri="{FF2B5EF4-FFF2-40B4-BE49-F238E27FC236}">
                <a16:creationId xmlns:a16="http://schemas.microsoft.com/office/drawing/2014/main" id="{69461808-FEC8-5DCA-5791-2266406FFB5C}"/>
              </a:ext>
            </a:extLst>
          </p:cNvPr>
          <p:cNvSpPr txBox="1"/>
          <p:nvPr/>
        </p:nvSpPr>
        <p:spPr>
          <a:xfrm>
            <a:off x="3432498" y="5261681"/>
            <a:ext cx="8641313" cy="923330"/>
          </a:xfrm>
          <a:prstGeom prst="rect">
            <a:avLst/>
          </a:prstGeom>
          <a:noFill/>
        </p:spPr>
        <p:txBody>
          <a:bodyPr wrap="square">
            <a:spAutoFit/>
          </a:bodyPr>
          <a:lstStyle/>
          <a:p>
            <a:pPr algn="l"/>
            <a:r>
              <a:rPr lang="en-US" b="0" i="0" dirty="0">
                <a:solidFill>
                  <a:srgbClr val="374151"/>
                </a:solidFill>
                <a:effectLst/>
                <a:latin typeface="Söhne"/>
              </a:rPr>
              <a:t>The </a:t>
            </a:r>
            <a:r>
              <a:rPr lang="en-US" b="0" i="0" dirty="0" err="1">
                <a:solidFill>
                  <a:srgbClr val="374151"/>
                </a:solidFill>
                <a:effectLst/>
                <a:latin typeface="Söhne"/>
              </a:rPr>
              <a:t>strchr</a:t>
            </a:r>
            <a:r>
              <a:rPr lang="en-US" b="0" i="0" dirty="0">
                <a:solidFill>
                  <a:srgbClr val="374151"/>
                </a:solidFill>
                <a:effectLst/>
                <a:latin typeface="Söhne"/>
              </a:rPr>
              <a:t> function returns a pointer to the first occurrence of the specified character in the string str. If the character is found, the returned pointer points to that character in str and any subsequent characters. If the character is not found, the function returns NULL.</a:t>
            </a:r>
          </a:p>
        </p:txBody>
      </p:sp>
    </p:spTree>
    <p:extLst>
      <p:ext uri="{BB962C8B-B14F-4D97-AF65-F5344CB8AC3E}">
        <p14:creationId xmlns:p14="http://schemas.microsoft.com/office/powerpoint/2010/main" val="14521190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D03DC9-E825-02DB-B66A-C16762752B90}"/>
              </a:ext>
            </a:extLst>
          </p:cNvPr>
          <p:cNvSpPr>
            <a:spLocks noGrp="1"/>
          </p:cNvSpPr>
          <p:nvPr>
            <p:ph idx="1"/>
          </p:nvPr>
        </p:nvSpPr>
        <p:spPr>
          <a:xfrm>
            <a:off x="838200" y="435364"/>
            <a:ext cx="10515600" cy="4351338"/>
          </a:xfrm>
        </p:spPr>
        <p:txBody>
          <a:bodyPr>
            <a:noAutofit/>
          </a:bodyPr>
          <a:lstStyle/>
          <a:p>
            <a:pPr marL="0" indent="0" algn="just">
              <a:buNone/>
            </a:pPr>
            <a:r>
              <a:rPr lang="en-US" sz="2200" dirty="0"/>
              <a:t>The given code defines a function </a:t>
            </a:r>
            <a:r>
              <a:rPr lang="en-US" sz="2200" dirty="0" err="1"/>
              <a:t>stringCopy</a:t>
            </a:r>
            <a:r>
              <a:rPr lang="en-US" sz="2200" dirty="0"/>
              <a:t> that copies the characters from the source string to the destination string until it encounters either a space character or the null character. It stops copying when it reaches the first space character.</a:t>
            </a:r>
          </a:p>
          <a:p>
            <a:pPr marL="0" indent="0" algn="just">
              <a:buNone/>
            </a:pPr>
            <a:endParaRPr lang="en-US" sz="2200" dirty="0"/>
          </a:p>
          <a:p>
            <a:pPr marL="0" indent="0" algn="just">
              <a:buNone/>
            </a:pPr>
            <a:r>
              <a:rPr lang="en-US" sz="2200" dirty="0"/>
              <a:t>In the main function, a destination character array </a:t>
            </a:r>
            <a:r>
              <a:rPr lang="en-US" sz="2200" dirty="0" err="1"/>
              <a:t>dest</a:t>
            </a:r>
            <a:r>
              <a:rPr lang="en-US" sz="2200" dirty="0"/>
              <a:t> is declared with a size of 20 characters. The source string "Copy this string" is passed to the </a:t>
            </a:r>
            <a:r>
              <a:rPr lang="en-US" sz="2200" dirty="0" err="1"/>
              <a:t>stringCopy</a:t>
            </a:r>
            <a:r>
              <a:rPr lang="en-US" sz="2200" dirty="0"/>
              <a:t> function. The function starts copying the characters from the source string to the destination string until it reaches the space character after "Copy", and then it adds a null character to terminate the destination string.</a:t>
            </a:r>
          </a:p>
          <a:p>
            <a:pPr marL="0" indent="0" algn="just">
              <a:buNone/>
            </a:pPr>
            <a:endParaRPr lang="en-US" sz="2200" dirty="0"/>
          </a:p>
          <a:p>
            <a:pPr marL="0" indent="0" algn="just">
              <a:buNone/>
            </a:pPr>
            <a:r>
              <a:rPr lang="en-US" sz="2200" dirty="0"/>
              <a:t>The </a:t>
            </a:r>
            <a:r>
              <a:rPr lang="en-US" sz="2200" dirty="0" err="1"/>
              <a:t>strchr</a:t>
            </a:r>
            <a:r>
              <a:rPr lang="en-US" sz="2200" dirty="0"/>
              <a:t> function is used to find the position of the first occurrence of the space character (' ') in the source string. If the space character is not found, the </a:t>
            </a:r>
            <a:r>
              <a:rPr lang="en-US" sz="2200" dirty="0" err="1"/>
              <a:t>strchr</a:t>
            </a:r>
            <a:r>
              <a:rPr lang="en-US" sz="2200" dirty="0"/>
              <a:t> function returns NULL. The </a:t>
            </a:r>
            <a:r>
              <a:rPr lang="en-US" sz="2200" dirty="0" err="1"/>
              <a:t>strlen</a:t>
            </a:r>
            <a:r>
              <a:rPr lang="en-US" sz="2200" dirty="0"/>
              <a:t> function is used to determine the length of the source string if there is no space character present.</a:t>
            </a:r>
          </a:p>
          <a:p>
            <a:pPr marL="0" indent="0" algn="just">
              <a:buNone/>
            </a:pPr>
            <a:endParaRPr lang="en-US" sz="2200" dirty="0"/>
          </a:p>
          <a:p>
            <a:pPr marL="0" indent="0" algn="just">
              <a:buNone/>
            </a:pPr>
            <a:r>
              <a:rPr lang="en-US" sz="2200" dirty="0"/>
              <a:t>The correct option is B) The copied string is: Copy. The function </a:t>
            </a:r>
            <a:r>
              <a:rPr lang="en-US" sz="2200" dirty="0" err="1"/>
              <a:t>stringCopy</a:t>
            </a:r>
            <a:r>
              <a:rPr lang="en-US" sz="2200" dirty="0"/>
              <a:t> will copy the characters from the source string until it reaches the first space character, resulting in "Copy" being copied to the destination array </a:t>
            </a:r>
            <a:r>
              <a:rPr lang="en-US" sz="2200" dirty="0" err="1"/>
              <a:t>dest</a:t>
            </a:r>
            <a:r>
              <a:rPr lang="en-US" sz="2200" dirty="0"/>
              <a:t>.</a:t>
            </a:r>
          </a:p>
        </p:txBody>
      </p:sp>
    </p:spTree>
    <p:extLst>
      <p:ext uri="{BB962C8B-B14F-4D97-AF65-F5344CB8AC3E}">
        <p14:creationId xmlns:p14="http://schemas.microsoft.com/office/powerpoint/2010/main" val="4753023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77FBCB8-0BA0-5E5D-5893-707FBA00542C}"/>
              </a:ext>
            </a:extLst>
          </p:cNvPr>
          <p:cNvSpPr txBox="1"/>
          <p:nvPr/>
        </p:nvSpPr>
        <p:spPr>
          <a:xfrm>
            <a:off x="212273" y="330894"/>
            <a:ext cx="6097554" cy="3693319"/>
          </a:xfrm>
          <a:prstGeom prst="rect">
            <a:avLst/>
          </a:prstGeom>
          <a:noFill/>
        </p:spPr>
        <p:txBody>
          <a:bodyPr wrap="square">
            <a:spAutoFit/>
          </a:bodyPr>
          <a:lstStyle/>
          <a:p>
            <a:r>
              <a:rPr lang="en-US" dirty="0"/>
              <a:t>#include &lt;</a:t>
            </a:r>
            <a:r>
              <a:rPr lang="en-US" dirty="0" err="1"/>
              <a:t>stdio.h</a:t>
            </a:r>
            <a:r>
              <a:rPr lang="en-US" dirty="0"/>
              <a:t>&gt;</a:t>
            </a:r>
          </a:p>
          <a:p>
            <a:endParaRPr lang="en-US" dirty="0"/>
          </a:p>
          <a:p>
            <a:r>
              <a:rPr lang="en-US" dirty="0"/>
              <a:t>int </a:t>
            </a:r>
            <a:r>
              <a:rPr lang="en-US" dirty="0" err="1"/>
              <a:t>strCompare</a:t>
            </a:r>
            <a:r>
              <a:rPr lang="en-US" dirty="0"/>
              <a:t>(const char* str1, const char* str2) {</a:t>
            </a:r>
          </a:p>
          <a:p>
            <a:r>
              <a:rPr lang="en-US" dirty="0"/>
              <a:t>    while (*str1 == *str2) {</a:t>
            </a:r>
          </a:p>
          <a:p>
            <a:r>
              <a:rPr lang="en-US" dirty="0"/>
              <a:t>        if (*str1 == '\0')</a:t>
            </a:r>
          </a:p>
          <a:p>
            <a:r>
              <a:rPr lang="en-US" dirty="0"/>
              <a:t>            return 0;</a:t>
            </a:r>
          </a:p>
          <a:p>
            <a:r>
              <a:rPr lang="en-US" dirty="0"/>
              <a:t>        str1++;</a:t>
            </a:r>
          </a:p>
          <a:p>
            <a:r>
              <a:rPr lang="en-US" dirty="0"/>
              <a:t>        str2++;</a:t>
            </a:r>
          </a:p>
          <a:p>
            <a:r>
              <a:rPr lang="en-US" dirty="0"/>
              <a:t>    }</a:t>
            </a:r>
          </a:p>
          <a:p>
            <a:endParaRPr lang="en-US" dirty="0"/>
          </a:p>
          <a:p>
            <a:r>
              <a:rPr lang="en-US" dirty="0"/>
              <a:t>    return *str1 - *str2;</a:t>
            </a:r>
          </a:p>
          <a:p>
            <a:r>
              <a:rPr lang="en-US" dirty="0"/>
              <a:t>}</a:t>
            </a:r>
          </a:p>
          <a:p>
            <a:endParaRPr lang="en-US" dirty="0"/>
          </a:p>
        </p:txBody>
      </p:sp>
      <p:sp>
        <p:nvSpPr>
          <p:cNvPr id="7" name="TextBox 6">
            <a:extLst>
              <a:ext uri="{FF2B5EF4-FFF2-40B4-BE49-F238E27FC236}">
                <a16:creationId xmlns:a16="http://schemas.microsoft.com/office/drawing/2014/main" id="{8DAD1861-1629-0E72-2CAB-23D660A2685F}"/>
              </a:ext>
            </a:extLst>
          </p:cNvPr>
          <p:cNvSpPr txBox="1"/>
          <p:nvPr/>
        </p:nvSpPr>
        <p:spPr>
          <a:xfrm>
            <a:off x="5540052" y="173419"/>
            <a:ext cx="6097554" cy="3693319"/>
          </a:xfrm>
          <a:prstGeom prst="rect">
            <a:avLst/>
          </a:prstGeom>
          <a:noFill/>
        </p:spPr>
        <p:txBody>
          <a:bodyPr wrap="square">
            <a:spAutoFit/>
          </a:bodyPr>
          <a:lstStyle/>
          <a:p>
            <a:endParaRPr lang="en-US" dirty="0"/>
          </a:p>
          <a:p>
            <a:r>
              <a:rPr lang="en-US" dirty="0"/>
              <a:t>int main() {</a:t>
            </a:r>
          </a:p>
          <a:p>
            <a:r>
              <a:rPr lang="en-US" dirty="0"/>
              <a:t>    const char* str1 = "apple";</a:t>
            </a:r>
          </a:p>
          <a:p>
            <a:r>
              <a:rPr lang="en-US" dirty="0"/>
              <a:t>    const char* str2 = "banana";</a:t>
            </a:r>
          </a:p>
          <a:p>
            <a:r>
              <a:rPr lang="en-US" dirty="0"/>
              <a:t>    int result = </a:t>
            </a:r>
            <a:r>
              <a:rPr lang="en-US" dirty="0" err="1"/>
              <a:t>strCompare</a:t>
            </a:r>
            <a:r>
              <a:rPr lang="en-US" dirty="0"/>
              <a:t>(str1, str2);</a:t>
            </a:r>
          </a:p>
          <a:p>
            <a:r>
              <a:rPr lang="en-US" dirty="0"/>
              <a:t>    if (result &lt; 0)</a:t>
            </a:r>
          </a:p>
          <a:p>
            <a:r>
              <a:rPr lang="en-US" dirty="0"/>
              <a:t>        </a:t>
            </a:r>
            <a:r>
              <a:rPr lang="en-US" dirty="0" err="1"/>
              <a:t>printf</a:t>
            </a:r>
            <a:r>
              <a:rPr lang="en-US" dirty="0"/>
              <a:t>("The strings are in lexicographical order.\n");</a:t>
            </a:r>
          </a:p>
          <a:p>
            <a:r>
              <a:rPr lang="en-US" dirty="0"/>
              <a:t>    else if (result &gt; 0)</a:t>
            </a:r>
          </a:p>
          <a:p>
            <a:r>
              <a:rPr lang="en-US" dirty="0"/>
              <a:t>        </a:t>
            </a:r>
            <a:r>
              <a:rPr lang="en-US" dirty="0" err="1"/>
              <a:t>printf</a:t>
            </a:r>
            <a:r>
              <a:rPr lang="en-US" dirty="0"/>
              <a:t>("The strings are not in lexicographical order.\n");</a:t>
            </a:r>
          </a:p>
          <a:p>
            <a:r>
              <a:rPr lang="en-US" dirty="0"/>
              <a:t>    else</a:t>
            </a:r>
          </a:p>
          <a:p>
            <a:r>
              <a:rPr lang="en-US" dirty="0"/>
              <a:t>        </a:t>
            </a:r>
            <a:r>
              <a:rPr lang="en-US" dirty="0" err="1"/>
              <a:t>printf</a:t>
            </a:r>
            <a:r>
              <a:rPr lang="en-US" dirty="0"/>
              <a:t>("The strings are identical.\n");</a:t>
            </a:r>
          </a:p>
          <a:p>
            <a:r>
              <a:rPr lang="en-US" dirty="0"/>
              <a:t>    return 0;</a:t>
            </a:r>
          </a:p>
          <a:p>
            <a:r>
              <a:rPr lang="en-US" dirty="0"/>
              <a:t>}</a:t>
            </a:r>
          </a:p>
        </p:txBody>
      </p:sp>
      <p:sp>
        <p:nvSpPr>
          <p:cNvPr id="9" name="TextBox 8">
            <a:extLst>
              <a:ext uri="{FF2B5EF4-FFF2-40B4-BE49-F238E27FC236}">
                <a16:creationId xmlns:a16="http://schemas.microsoft.com/office/drawing/2014/main" id="{3548612E-31C2-0231-725D-5F5E08831CE8}"/>
              </a:ext>
            </a:extLst>
          </p:cNvPr>
          <p:cNvSpPr txBox="1"/>
          <p:nvPr/>
        </p:nvSpPr>
        <p:spPr>
          <a:xfrm>
            <a:off x="212273" y="4350784"/>
            <a:ext cx="8642479" cy="1815882"/>
          </a:xfrm>
          <a:prstGeom prst="rect">
            <a:avLst/>
          </a:prstGeom>
          <a:noFill/>
        </p:spPr>
        <p:txBody>
          <a:bodyPr wrap="square">
            <a:spAutoFit/>
          </a:bodyPr>
          <a:lstStyle/>
          <a:p>
            <a:pPr marL="342900" indent="-342900">
              <a:buAutoNum type="alphaUcParenR"/>
            </a:pPr>
            <a:r>
              <a:rPr lang="en-US" sz="2800" b="0" i="0" dirty="0">
                <a:solidFill>
                  <a:srgbClr val="374151"/>
                </a:solidFill>
                <a:effectLst/>
                <a:latin typeface="Söhne"/>
              </a:rPr>
              <a:t>The strings are in lexicographical order. </a:t>
            </a:r>
          </a:p>
          <a:p>
            <a:pPr marL="342900" indent="-342900">
              <a:buAutoNum type="alphaUcParenR"/>
            </a:pPr>
            <a:r>
              <a:rPr lang="en-US" sz="2800" b="0" i="0" dirty="0">
                <a:solidFill>
                  <a:srgbClr val="374151"/>
                </a:solidFill>
                <a:effectLst/>
                <a:latin typeface="Söhne"/>
              </a:rPr>
              <a:t>The strings are not in lexicographical order.</a:t>
            </a:r>
          </a:p>
          <a:p>
            <a:pPr marL="342900" indent="-342900">
              <a:buAutoNum type="alphaUcParenR"/>
            </a:pPr>
            <a:r>
              <a:rPr lang="en-US" sz="2800" b="0" i="0" dirty="0">
                <a:solidFill>
                  <a:srgbClr val="374151"/>
                </a:solidFill>
                <a:effectLst/>
                <a:latin typeface="Söhne"/>
              </a:rPr>
              <a:t>The strings are identical. </a:t>
            </a:r>
          </a:p>
          <a:p>
            <a:pPr marL="342900" indent="-342900">
              <a:buAutoNum type="alphaUcParenR"/>
            </a:pPr>
            <a:r>
              <a:rPr lang="en-US" sz="2800" b="0" i="0" dirty="0">
                <a:solidFill>
                  <a:srgbClr val="374151"/>
                </a:solidFill>
                <a:effectLst/>
                <a:latin typeface="Söhne"/>
              </a:rPr>
              <a:t>The output cannot be determined.</a:t>
            </a:r>
            <a:endParaRPr lang="en-US" sz="2800" dirty="0"/>
          </a:p>
        </p:txBody>
      </p:sp>
    </p:spTree>
    <p:extLst>
      <p:ext uri="{BB962C8B-B14F-4D97-AF65-F5344CB8AC3E}">
        <p14:creationId xmlns:p14="http://schemas.microsoft.com/office/powerpoint/2010/main" val="23677647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257E7-B180-B16D-F3B3-C943ED7421D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4EAE37A-B0A8-C91A-413D-FB57DA9354B2}"/>
              </a:ext>
            </a:extLst>
          </p:cNvPr>
          <p:cNvSpPr>
            <a:spLocks noGrp="1"/>
          </p:cNvSpPr>
          <p:nvPr>
            <p:ph idx="1"/>
          </p:nvPr>
        </p:nvSpPr>
        <p:spPr/>
        <p:txBody>
          <a:bodyPr>
            <a:normAutofit fontScale="85000" lnSpcReduction="20000"/>
          </a:bodyPr>
          <a:lstStyle/>
          <a:p>
            <a:pPr marL="0" indent="0" algn="just">
              <a:buNone/>
            </a:pPr>
            <a:r>
              <a:rPr lang="en-US" dirty="0"/>
              <a:t>The given code defines a function </a:t>
            </a:r>
            <a:r>
              <a:rPr lang="en-US" dirty="0" err="1"/>
              <a:t>strCompare</a:t>
            </a:r>
            <a:r>
              <a:rPr lang="en-US" dirty="0"/>
              <a:t> that compares two strings lexicographically. It compares each corresponding character of the two strings until a difference is encountered or the null character is reached. The function returns the difference between the ASCII values of the differing characters.</a:t>
            </a:r>
          </a:p>
          <a:p>
            <a:pPr marL="0" indent="0" algn="just">
              <a:buNone/>
            </a:pPr>
            <a:endParaRPr lang="en-US" dirty="0"/>
          </a:p>
          <a:p>
            <a:pPr marL="0" indent="0" algn="just">
              <a:buNone/>
            </a:pPr>
            <a:r>
              <a:rPr lang="en-US" dirty="0"/>
              <a:t>In the main function, two string pointers str1 and str2 are initialized with "apple" and "banana" respectively. The </a:t>
            </a:r>
            <a:r>
              <a:rPr lang="en-US" dirty="0" err="1"/>
              <a:t>strCompare</a:t>
            </a:r>
            <a:r>
              <a:rPr lang="en-US" dirty="0"/>
              <a:t> function is called to compare the two strings, and the result is stored in the variable result. Based on the value of result, the appropriate message is printed using </a:t>
            </a:r>
            <a:r>
              <a:rPr lang="en-US" dirty="0" err="1"/>
              <a:t>printf</a:t>
            </a:r>
            <a:r>
              <a:rPr lang="en-US" dirty="0"/>
              <a:t>.</a:t>
            </a:r>
          </a:p>
          <a:p>
            <a:pPr marL="0" indent="0" algn="just">
              <a:buNone/>
            </a:pPr>
            <a:endParaRPr lang="en-US" dirty="0"/>
          </a:p>
          <a:p>
            <a:pPr marL="0" indent="0" algn="just">
              <a:buNone/>
            </a:pPr>
            <a:r>
              <a:rPr lang="en-US" dirty="0"/>
              <a:t>The correct option is A) The strings are in lexicographical order. The function </a:t>
            </a:r>
            <a:r>
              <a:rPr lang="en-US" dirty="0" err="1"/>
              <a:t>strCompare</a:t>
            </a:r>
            <a:r>
              <a:rPr lang="en-US" dirty="0"/>
              <a:t> will compare the strings "apple" and "banana" and determine that "apple" should come before "banana" in lexicographical order, as 'a' has a smaller ASCII value than 'b'.</a:t>
            </a:r>
          </a:p>
        </p:txBody>
      </p:sp>
    </p:spTree>
    <p:extLst>
      <p:ext uri="{BB962C8B-B14F-4D97-AF65-F5344CB8AC3E}">
        <p14:creationId xmlns:p14="http://schemas.microsoft.com/office/powerpoint/2010/main" val="9068987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C07FE-2F03-6204-627E-A4B7761CFD7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06B3AF6-8725-1B02-3081-A14E979E1F40}"/>
              </a:ext>
            </a:extLst>
          </p:cNvPr>
          <p:cNvSpPr>
            <a:spLocks noGrp="1"/>
          </p:cNvSpPr>
          <p:nvPr>
            <p:ph idx="1"/>
          </p:nvPr>
        </p:nvSpPr>
        <p:spPr/>
        <p:txBody>
          <a:bodyPr/>
          <a:lstStyle/>
          <a:p>
            <a:pPr marL="0" indent="0">
              <a:buNone/>
            </a:pPr>
            <a:r>
              <a:rPr lang="en-US" dirty="0"/>
              <a:t>Implement the </a:t>
            </a:r>
            <a:r>
              <a:rPr lang="en-US" dirty="0" err="1"/>
              <a:t>strConcat</a:t>
            </a:r>
            <a:r>
              <a:rPr lang="en-US" dirty="0"/>
              <a:t> function that concatenates the characters from the source string to the end of the destination string. The destination string is passed as the first argument and the source string as the second argument.</a:t>
            </a:r>
          </a:p>
        </p:txBody>
      </p:sp>
    </p:spTree>
    <p:extLst>
      <p:ext uri="{BB962C8B-B14F-4D97-AF65-F5344CB8AC3E}">
        <p14:creationId xmlns:p14="http://schemas.microsoft.com/office/powerpoint/2010/main" val="3409782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99DC2-523E-ECEE-BE56-9EF2B787E14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3A2DD38-9FB8-E0C0-C21B-8E52E5D63C95}"/>
              </a:ext>
            </a:extLst>
          </p:cNvPr>
          <p:cNvSpPr>
            <a:spLocks noGrp="1"/>
          </p:cNvSpPr>
          <p:nvPr>
            <p:ph idx="1"/>
          </p:nvPr>
        </p:nvSpPr>
        <p:spPr/>
        <p:txBody>
          <a:bodyPr/>
          <a:lstStyle/>
          <a:p>
            <a:endParaRPr lang="en-US"/>
          </a:p>
        </p:txBody>
      </p:sp>
      <p:sp>
        <p:nvSpPr>
          <p:cNvPr id="5" name="TextBox 4">
            <a:extLst>
              <a:ext uri="{FF2B5EF4-FFF2-40B4-BE49-F238E27FC236}">
                <a16:creationId xmlns:a16="http://schemas.microsoft.com/office/drawing/2014/main" id="{F1D1BF15-CD4D-EA9E-4007-6F7ACCA26C2C}"/>
              </a:ext>
            </a:extLst>
          </p:cNvPr>
          <p:cNvSpPr txBox="1"/>
          <p:nvPr/>
        </p:nvSpPr>
        <p:spPr>
          <a:xfrm>
            <a:off x="3048778" y="58847"/>
            <a:ext cx="6097554" cy="6740307"/>
          </a:xfrm>
          <a:prstGeom prst="rect">
            <a:avLst/>
          </a:prstGeom>
          <a:noFill/>
        </p:spPr>
        <p:txBody>
          <a:bodyPr wrap="square">
            <a:spAutoFit/>
          </a:bodyPr>
          <a:lstStyle/>
          <a:p>
            <a:r>
              <a:rPr lang="en-US" dirty="0"/>
              <a:t>#include &lt;</a:t>
            </a:r>
            <a:r>
              <a:rPr lang="en-US" dirty="0" err="1"/>
              <a:t>stdio.h</a:t>
            </a:r>
            <a:r>
              <a:rPr lang="en-US" dirty="0"/>
              <a:t>&gt;</a:t>
            </a:r>
          </a:p>
          <a:p>
            <a:r>
              <a:rPr lang="en-US" dirty="0"/>
              <a:t>#include &lt;</a:t>
            </a:r>
            <a:r>
              <a:rPr lang="en-US" dirty="0" err="1"/>
              <a:t>string.h</a:t>
            </a:r>
            <a:r>
              <a:rPr lang="en-US" dirty="0"/>
              <a:t>&gt;</a:t>
            </a:r>
          </a:p>
          <a:p>
            <a:endParaRPr lang="en-US" dirty="0"/>
          </a:p>
          <a:p>
            <a:r>
              <a:rPr lang="en-US" dirty="0"/>
              <a:t>void </a:t>
            </a:r>
            <a:r>
              <a:rPr lang="en-US" dirty="0" err="1"/>
              <a:t>strConcat</a:t>
            </a:r>
            <a:r>
              <a:rPr lang="en-US" dirty="0"/>
              <a:t>(char* </a:t>
            </a:r>
            <a:r>
              <a:rPr lang="en-US" dirty="0" err="1"/>
              <a:t>dest</a:t>
            </a:r>
            <a:r>
              <a:rPr lang="en-US" dirty="0"/>
              <a:t>, const char* </a:t>
            </a:r>
            <a:r>
              <a:rPr lang="en-US" dirty="0" err="1"/>
              <a:t>src</a:t>
            </a:r>
            <a:r>
              <a:rPr lang="en-US" dirty="0"/>
              <a:t>) {</a:t>
            </a:r>
          </a:p>
          <a:p>
            <a:r>
              <a:rPr lang="en-US" dirty="0"/>
              <a:t>    while (*</a:t>
            </a:r>
            <a:r>
              <a:rPr lang="en-US" dirty="0" err="1"/>
              <a:t>dest</a:t>
            </a:r>
            <a:r>
              <a:rPr lang="en-US" dirty="0"/>
              <a:t> != '\0') {</a:t>
            </a:r>
          </a:p>
          <a:p>
            <a:r>
              <a:rPr lang="en-US" dirty="0"/>
              <a:t>        </a:t>
            </a:r>
            <a:r>
              <a:rPr lang="en-US" dirty="0" err="1"/>
              <a:t>dest</a:t>
            </a:r>
            <a:r>
              <a:rPr lang="en-US" dirty="0"/>
              <a:t>++;</a:t>
            </a:r>
          </a:p>
          <a:p>
            <a:r>
              <a:rPr lang="en-US" dirty="0"/>
              <a:t>    }</a:t>
            </a:r>
          </a:p>
          <a:p>
            <a:endParaRPr lang="en-US" dirty="0"/>
          </a:p>
          <a:p>
            <a:r>
              <a:rPr lang="en-US" dirty="0"/>
              <a:t>    while (*</a:t>
            </a:r>
            <a:r>
              <a:rPr lang="en-US" dirty="0" err="1"/>
              <a:t>src</a:t>
            </a:r>
            <a:r>
              <a:rPr lang="en-US" dirty="0"/>
              <a:t> != '\0') {</a:t>
            </a:r>
          </a:p>
          <a:p>
            <a:r>
              <a:rPr lang="en-US" dirty="0"/>
              <a:t>        *</a:t>
            </a:r>
            <a:r>
              <a:rPr lang="en-US" dirty="0" err="1"/>
              <a:t>dest</a:t>
            </a:r>
            <a:r>
              <a:rPr lang="en-US" dirty="0"/>
              <a:t> = *</a:t>
            </a:r>
            <a:r>
              <a:rPr lang="en-US" dirty="0" err="1"/>
              <a:t>src</a:t>
            </a:r>
            <a:r>
              <a:rPr lang="en-US" dirty="0"/>
              <a:t>;</a:t>
            </a:r>
          </a:p>
          <a:p>
            <a:r>
              <a:rPr lang="en-US" dirty="0"/>
              <a:t>        </a:t>
            </a:r>
            <a:r>
              <a:rPr lang="en-US" dirty="0" err="1"/>
              <a:t>dest</a:t>
            </a:r>
            <a:r>
              <a:rPr lang="en-US" dirty="0"/>
              <a:t>++;</a:t>
            </a:r>
          </a:p>
          <a:p>
            <a:r>
              <a:rPr lang="en-US" dirty="0"/>
              <a:t>        </a:t>
            </a:r>
            <a:r>
              <a:rPr lang="en-US" dirty="0" err="1"/>
              <a:t>src</a:t>
            </a:r>
            <a:r>
              <a:rPr lang="en-US" dirty="0"/>
              <a:t>++;</a:t>
            </a:r>
          </a:p>
          <a:p>
            <a:r>
              <a:rPr lang="en-US" dirty="0"/>
              <a:t>    }</a:t>
            </a:r>
          </a:p>
          <a:p>
            <a:endParaRPr lang="en-US" dirty="0"/>
          </a:p>
          <a:p>
            <a:r>
              <a:rPr lang="en-US" dirty="0"/>
              <a:t>    *</a:t>
            </a:r>
            <a:r>
              <a:rPr lang="en-US" dirty="0" err="1"/>
              <a:t>dest</a:t>
            </a:r>
            <a:r>
              <a:rPr lang="en-US" dirty="0"/>
              <a:t> = '\0';</a:t>
            </a:r>
          </a:p>
          <a:p>
            <a:r>
              <a:rPr lang="en-US" dirty="0"/>
              <a:t>}</a:t>
            </a:r>
          </a:p>
          <a:p>
            <a:endParaRPr lang="en-US" dirty="0"/>
          </a:p>
          <a:p>
            <a:r>
              <a:rPr lang="en-US" dirty="0"/>
              <a:t>int main() {</a:t>
            </a:r>
          </a:p>
          <a:p>
            <a:r>
              <a:rPr lang="en-US" dirty="0"/>
              <a:t>    char </a:t>
            </a:r>
            <a:r>
              <a:rPr lang="en-US" dirty="0" err="1"/>
              <a:t>dest</a:t>
            </a:r>
            <a:r>
              <a:rPr lang="en-US" dirty="0"/>
              <a:t>[20] = "Hello, ";</a:t>
            </a:r>
          </a:p>
          <a:p>
            <a:r>
              <a:rPr lang="en-US" dirty="0"/>
              <a:t>    const char* </a:t>
            </a:r>
            <a:r>
              <a:rPr lang="en-US" dirty="0" err="1"/>
              <a:t>src</a:t>
            </a:r>
            <a:r>
              <a:rPr lang="en-US" dirty="0"/>
              <a:t> = "World!";</a:t>
            </a:r>
          </a:p>
          <a:p>
            <a:r>
              <a:rPr lang="en-US" dirty="0"/>
              <a:t>    </a:t>
            </a:r>
            <a:r>
              <a:rPr lang="en-US" dirty="0" err="1"/>
              <a:t>strConcat</a:t>
            </a:r>
            <a:r>
              <a:rPr lang="en-US" dirty="0"/>
              <a:t>(</a:t>
            </a:r>
            <a:r>
              <a:rPr lang="en-US" dirty="0" err="1"/>
              <a:t>dest</a:t>
            </a:r>
            <a:r>
              <a:rPr lang="en-US" dirty="0"/>
              <a:t>, </a:t>
            </a:r>
            <a:r>
              <a:rPr lang="en-US" dirty="0" err="1"/>
              <a:t>src</a:t>
            </a:r>
            <a:r>
              <a:rPr lang="en-US" dirty="0"/>
              <a:t>);</a:t>
            </a:r>
          </a:p>
          <a:p>
            <a:r>
              <a:rPr lang="en-US" dirty="0"/>
              <a:t>    </a:t>
            </a:r>
            <a:r>
              <a:rPr lang="en-US" dirty="0" err="1"/>
              <a:t>printf</a:t>
            </a:r>
            <a:r>
              <a:rPr lang="en-US" dirty="0"/>
              <a:t>("The concatenated string is: %s\n", </a:t>
            </a:r>
            <a:r>
              <a:rPr lang="en-US" dirty="0" err="1"/>
              <a:t>dest</a:t>
            </a:r>
            <a:r>
              <a:rPr lang="en-US" dirty="0"/>
              <a:t>);</a:t>
            </a:r>
          </a:p>
          <a:p>
            <a:r>
              <a:rPr lang="en-US" dirty="0"/>
              <a:t>    return 0;</a:t>
            </a:r>
          </a:p>
          <a:p>
            <a:r>
              <a:rPr lang="en-US" dirty="0"/>
              <a:t>}</a:t>
            </a:r>
          </a:p>
        </p:txBody>
      </p:sp>
    </p:spTree>
    <p:extLst>
      <p:ext uri="{BB962C8B-B14F-4D97-AF65-F5344CB8AC3E}">
        <p14:creationId xmlns:p14="http://schemas.microsoft.com/office/powerpoint/2010/main" val="36945221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1457</Words>
  <Application>Microsoft Office PowerPoint</Application>
  <PresentationFormat>Widescreen</PresentationFormat>
  <Paragraphs>164</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Calibri Light</vt:lpstr>
      <vt:lpstr>Open Sans</vt:lpstr>
      <vt:lpstr>Söhne</vt:lpstr>
      <vt:lpstr>Office Theme</vt:lpstr>
      <vt:lpstr>Tutorial on Bubble Sort &amp; Strings</vt:lpstr>
      <vt:lpstr>PowerPoint Presentation</vt:lpstr>
      <vt:lpstr>PowerPoint Presentation</vt:lpstr>
      <vt:lpstr>PowerPoint Presentation</vt:lpstr>
      <vt:lpstr>PowerPoint Presentation</vt:lpstr>
      <vt:lpstr>Select the appropriate code that performs bubble sort.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Tutorial on Bubble Sort &amp; Strings</dc:title>
  <dc:creator>Anurag Tiwari</dc:creator>
  <cp:lastModifiedBy>Anurag Tiwari</cp:lastModifiedBy>
  <cp:revision>1</cp:revision>
  <dcterms:created xsi:type="dcterms:W3CDTF">2023-05-15T21:26:25Z</dcterms:created>
  <dcterms:modified xsi:type="dcterms:W3CDTF">2023-05-15T21:26:33Z</dcterms:modified>
</cp:coreProperties>
</file>
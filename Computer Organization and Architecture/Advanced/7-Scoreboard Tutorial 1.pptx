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84" r:id="rId3"/>
    <p:sldId id="283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42788-DEEE-392E-EEC1-6577959BD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FA14C6-2DFC-BB70-E7B9-AE21F015EB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61898-267B-0B27-B25A-47B7BE27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9860-8A87-408B-B784-335C51B69F10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E23E0-EF46-0ACB-ABDE-3A4CCFAC9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431CB-2FB6-3F0E-3C18-22CE23758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6466F-5AC1-44DE-BE74-C56801C73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120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3AF77-150D-2EAA-A222-876351283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EA464-9C66-538B-0B72-0CCCA5959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1C381-5813-6FD0-1900-5A74510F5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9860-8A87-408B-B784-335C51B69F10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07E6A-56A3-B2E3-A391-AD57C5452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BAB1C-0573-8EF2-786A-CA4426F49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6466F-5AC1-44DE-BE74-C56801C73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445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7C203-428D-65CB-746D-A6EC87194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A3EFE5-85A9-CC45-6667-A32526569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D28A7-1C9B-3054-5159-40C4D5322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9860-8A87-408B-B784-335C51B69F10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BDC31-C508-2D08-908B-61C82B54F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6E6EB-35A4-4556-AD01-51AB69F1D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6466F-5AC1-44DE-BE74-C56801C73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527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B01FE-C6BD-3990-90DA-7625A3625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5B0B5-55DA-BD30-C455-D5B21C8D20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446837-C6A4-272C-EBDC-ADF65338B5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028C2-4B7F-1758-3A4F-8A27CB544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9860-8A87-408B-B784-335C51B69F10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7552C-FE97-F3DD-73E8-F401891FD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19E373-06ED-D105-9E07-616DDEFDE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6466F-5AC1-44DE-BE74-C56801C73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59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27860-1CF8-4528-CE29-BE8259829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CCAE5-B9DA-348B-9646-20A15C7E4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742284-8888-BAE8-F6FC-2BCF913287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DD4AF4-B977-619A-9904-1FBDEC5059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FF07BE-1D88-300C-0DAC-23D653E55A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BCAF6E-4D21-988A-8BFE-2452D486F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9860-8A87-408B-B784-335C51B69F10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D446E8-0D44-8E70-CE55-41AF42559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E452F4-9870-FD3B-BA34-7C0A502B7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6466F-5AC1-44DE-BE74-C56801C73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592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07F18-CECB-4DCB-73DC-F5322DE9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DF436-1D8E-591F-CB09-DC1E3B5A3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9860-8A87-408B-B784-335C51B69F10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D2192F-14D5-3E03-5760-61ED5CBED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89B37-F4CE-6C41-6119-B559C4682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6466F-5AC1-44DE-BE74-C56801C73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028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21F23B-16A0-B86A-4D4E-F19FA3F2C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9860-8A87-408B-B784-335C51B69F10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FBBAB0-54DB-AC39-A975-C11D35286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F2F880-4B04-7662-C5D2-FE6830027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6466F-5AC1-44DE-BE74-C56801C73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018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F39B3-7812-C415-326C-CB2383F94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AA127-A8A8-62D7-7C3A-1159DDB96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3302AC-02AB-559D-1663-DE780E7F7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941BEA-EE75-2597-EFF4-8D6C049AD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9860-8A87-408B-B784-335C51B69F10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D60EE5-E50F-299B-6D74-6D6463910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9E61E6-8FC1-2652-9877-315129E30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6466F-5AC1-44DE-BE74-C56801C73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791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15D83-6CC9-6862-5E58-4333F3858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AC1E8D-298E-BE4B-A9E2-053278C622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9C3A6-2200-95E6-9141-5D1C51B32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836FAA-39B7-E825-A4C7-695D0DDED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9860-8A87-408B-B784-335C51B69F10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BC5508-AC55-7F47-0B49-647B261F8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05C179-830F-8A8F-392E-A613D7EC4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6466F-5AC1-44DE-BE74-C56801C73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093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21CF9-E659-21BE-09A3-3F1BACBCB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7FA1BF-A64B-E653-3A2D-BA213A05F0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5E048-3872-0613-D63B-371556AE8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9860-8A87-408B-B784-335C51B69F10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0378A-7FD3-CF00-8471-90A7D6F2F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EAC3E-DA28-8D25-BB06-75F289332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6466F-5AC1-44DE-BE74-C56801C73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737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1F7D4B-84EE-6E75-FEB4-FF09288F73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91762B-84F4-A555-F561-34125C2795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23898-98D6-0132-F139-E5A8B4155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9860-8A87-408B-B784-335C51B69F10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C1523-8CEC-BA8C-F31D-82EA27C00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E2E00-73C6-8F75-61F8-34076DDE3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6466F-5AC1-44DE-BE74-C56801C73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791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267E37-27CC-2052-645C-4F2C05B19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B56418-C515-A4C0-F8B1-AECADB28C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84C1D-767D-A0C4-ED2D-86045ADDD8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99860-8A87-408B-B784-335C51B69F10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37214-7EEA-092D-EB80-E0D1A30C8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E9133-5AE7-CFAF-E9E0-B515D16C3C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F6466F-5AC1-44DE-BE74-C56801C73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812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223E6-E837-39C5-9886-B15344834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Parts of the Scoreboard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43986-E8A2-7FFC-65B4-048683359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Instruction status</a:t>
            </a:r>
            <a:r>
              <a:rPr lang="en-US" dirty="0"/>
              <a:t>—which of 4 steps the instruction is in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Functional unit status</a:t>
            </a:r>
            <a:r>
              <a:rPr lang="en-US" dirty="0"/>
              <a:t>—Indicates the state of the functional unit (FU). 9 fields for each functional unit</a:t>
            </a:r>
          </a:p>
          <a:p>
            <a:pPr lvl="1"/>
            <a:r>
              <a:rPr lang="en-US" dirty="0">
                <a:solidFill>
                  <a:schemeClr val="accent5"/>
                </a:solidFill>
              </a:rPr>
              <a:t>Busy</a:t>
            </a:r>
            <a:r>
              <a:rPr lang="en-US" dirty="0"/>
              <a:t>—Indicates whether the unit is busy or not</a:t>
            </a:r>
          </a:p>
          <a:p>
            <a:pPr lvl="1"/>
            <a:r>
              <a:rPr lang="en-US" dirty="0">
                <a:solidFill>
                  <a:schemeClr val="accent5"/>
                </a:solidFill>
              </a:rPr>
              <a:t>Op</a:t>
            </a:r>
            <a:r>
              <a:rPr lang="en-US" dirty="0"/>
              <a:t>—Operation to perform in the unit (e.g., + or –)</a:t>
            </a:r>
          </a:p>
          <a:p>
            <a:pPr lvl="1"/>
            <a:r>
              <a:rPr lang="en-US" dirty="0">
                <a:solidFill>
                  <a:schemeClr val="accent5"/>
                </a:solidFill>
              </a:rPr>
              <a:t>Fi</a:t>
            </a:r>
            <a:r>
              <a:rPr lang="en-US" dirty="0"/>
              <a:t>—Destination register</a:t>
            </a:r>
          </a:p>
          <a:p>
            <a:pPr lvl="1"/>
            <a:r>
              <a:rPr lang="en-US" dirty="0">
                <a:solidFill>
                  <a:schemeClr val="accent5"/>
                </a:solidFill>
              </a:rPr>
              <a:t>Fj</a:t>
            </a:r>
            <a:r>
              <a:rPr lang="en-US" dirty="0"/>
              <a:t>, </a:t>
            </a:r>
            <a:r>
              <a:rPr lang="en-US" dirty="0" err="1">
                <a:solidFill>
                  <a:schemeClr val="accent5"/>
                </a:solidFill>
              </a:rPr>
              <a:t>Fk</a:t>
            </a:r>
            <a:r>
              <a:rPr lang="en-US" dirty="0"/>
              <a:t>—Source-register numbers</a:t>
            </a:r>
          </a:p>
          <a:p>
            <a:pPr lvl="1"/>
            <a:r>
              <a:rPr lang="en-US" dirty="0" err="1">
                <a:solidFill>
                  <a:schemeClr val="accent5"/>
                </a:solidFill>
              </a:rPr>
              <a:t>Qj</a:t>
            </a:r>
            <a:r>
              <a:rPr lang="en-US" dirty="0"/>
              <a:t>, </a:t>
            </a:r>
            <a:r>
              <a:rPr lang="en-US" dirty="0" err="1">
                <a:solidFill>
                  <a:schemeClr val="accent5"/>
                </a:solidFill>
              </a:rPr>
              <a:t>Qk</a:t>
            </a:r>
            <a:r>
              <a:rPr lang="en-US" dirty="0"/>
              <a:t>—Functional units producing source registers Fj, </a:t>
            </a:r>
            <a:r>
              <a:rPr lang="en-US" dirty="0" err="1"/>
              <a:t>Fk</a:t>
            </a:r>
            <a:endParaRPr lang="en-US" dirty="0"/>
          </a:p>
          <a:p>
            <a:pPr lvl="1"/>
            <a:r>
              <a:rPr lang="en-US" dirty="0" err="1">
                <a:solidFill>
                  <a:schemeClr val="accent5"/>
                </a:solidFill>
              </a:rPr>
              <a:t>Rj</a:t>
            </a:r>
            <a:r>
              <a:rPr lang="en-US" dirty="0"/>
              <a:t>, </a:t>
            </a:r>
            <a:r>
              <a:rPr lang="en-US" dirty="0" err="1">
                <a:solidFill>
                  <a:schemeClr val="accent5"/>
                </a:solidFill>
              </a:rPr>
              <a:t>Rk</a:t>
            </a:r>
            <a:r>
              <a:rPr lang="en-US" dirty="0"/>
              <a:t>—Flags indicating when Fj, </a:t>
            </a:r>
            <a:r>
              <a:rPr lang="en-US" dirty="0" err="1"/>
              <a:t>Fk</a:t>
            </a:r>
            <a:r>
              <a:rPr lang="en-US" dirty="0"/>
              <a:t> are ready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Register result status</a:t>
            </a:r>
            <a:r>
              <a:rPr lang="en-US" dirty="0"/>
              <a:t>—Indicates which functional unit will write each register, if one exists. Blank when no pending instructions will write that register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5857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6F78E-78D2-11C0-3210-F37F537C7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91E9B-FF4E-A48F-774C-2F8090A48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898"/>
            <a:ext cx="10515600" cy="500114"/>
          </a:xfrm>
        </p:spPr>
        <p:txBody>
          <a:bodyPr>
            <a:normAutofit fontScale="90000"/>
          </a:bodyPr>
          <a:lstStyle/>
          <a:p>
            <a:r>
              <a:rPr lang="en-US" dirty="0"/>
              <a:t>Detailed Scoreboard Pipeline Control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3F6CFC-9535-BB9D-E8E0-AF9239D67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754068"/>
            <a:ext cx="9488224" cy="578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695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70395-9237-FD1B-EAA5-67736D2D9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B7FB0-88B3-1189-4C4A-8CA0912D3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898"/>
            <a:ext cx="10515600" cy="500114"/>
          </a:xfrm>
        </p:spPr>
        <p:txBody>
          <a:bodyPr>
            <a:normAutofit fontScale="90000"/>
          </a:bodyPr>
          <a:lstStyle/>
          <a:p>
            <a:r>
              <a:rPr lang="en-US" dirty="0"/>
              <a:t>Detailed Scoreboard Pipeline Control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760EB03-30E1-A1AE-C036-9386227EA7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9299352"/>
              </p:ext>
            </p:extLst>
          </p:nvPr>
        </p:nvGraphicFramePr>
        <p:xfrm>
          <a:off x="838199" y="682012"/>
          <a:ext cx="10515600" cy="599409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41664829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6213906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56257970"/>
                    </a:ext>
                  </a:extLst>
                </a:gridCol>
              </a:tblGrid>
              <a:tr h="48481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Stage</a:t>
                      </a:r>
                      <a:endParaRPr lang="en-IN" sz="1400" dirty="0">
                        <a:solidFill>
                          <a:srgbClr val="1B1C1D"/>
                        </a:solidFill>
                        <a:effectLst/>
                        <a:latin typeface="+mn-lt"/>
                      </a:endParaRPr>
                    </a:p>
                  </a:txBody>
                  <a:tcPr marL="47993" marR="47993" marT="31995" marB="319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Wait until... (The Condition to Proceed)</a:t>
                      </a:r>
                      <a:endParaRPr lang="en-US" sz="1400" dirty="0">
                        <a:solidFill>
                          <a:srgbClr val="1B1C1D"/>
                        </a:solidFill>
                        <a:effectLst/>
                        <a:latin typeface="+mn-lt"/>
                      </a:endParaRPr>
                    </a:p>
                  </a:txBody>
                  <a:tcPr marL="47993" marR="47993" marT="31995" marB="319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Bookkeeping (What the Scoreboard Does)</a:t>
                      </a:r>
                      <a:endParaRPr lang="en-US" sz="1400">
                        <a:solidFill>
                          <a:srgbClr val="1B1C1D"/>
                        </a:solidFill>
                        <a:effectLst/>
                        <a:latin typeface="+mn-lt"/>
                      </a:endParaRPr>
                    </a:p>
                  </a:txBody>
                  <a:tcPr marL="47993" marR="47993" marT="31995" marB="319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392665"/>
                  </a:ext>
                </a:extLst>
              </a:tr>
              <a:tr h="187315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1. Issue</a:t>
                      </a:r>
                      <a:endParaRPr lang="en-IN" sz="1400">
                        <a:solidFill>
                          <a:srgbClr val="1B1C1D"/>
                        </a:solidFill>
                        <a:effectLst/>
                        <a:latin typeface="+mn-lt"/>
                      </a:endParaRPr>
                    </a:p>
                  </a:txBody>
                  <a:tcPr marL="47993" marR="47993" marT="31995" marB="319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1. The required </a:t>
                      </a:r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Functional Unit (FU)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 is free. 2. The </a:t>
                      </a:r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destination register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 is not already waiting for a result from another instruction.</a:t>
                      </a:r>
                    </a:p>
                  </a:txBody>
                  <a:tcPr marL="47993" marR="47993" marT="31995" marB="319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1. Mark the Functional Unit as </a:t>
                      </a:r>
                      <a:r>
                        <a:rPr lang="en-US" sz="1400" b="1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Busy</a:t>
                      </a:r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. 2. Mark the destination register as "waiting for this FU's result." 3. Check if source registers (S1, S2) are ready:    • If a source is ready, set its </a:t>
                      </a:r>
                      <a:r>
                        <a:rPr lang="en-US" sz="1400">
                          <a:solidFill>
                            <a:srgbClr val="444746"/>
                          </a:solidFill>
                          <a:effectLst/>
                          <a:latin typeface="+mn-lt"/>
                        </a:rPr>
                        <a:t>Ready</a:t>
                      </a:r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 flag to </a:t>
                      </a:r>
                      <a:r>
                        <a:rPr lang="en-US" sz="1400" b="1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Yes</a:t>
                      </a:r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.    • If a source is </a:t>
                      </a:r>
                      <a:r>
                        <a:rPr lang="en-US" sz="1400" i="1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not</a:t>
                      </a:r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 ready, note </a:t>
                      </a:r>
                      <a:r>
                        <a:rPr lang="en-US" sz="1400" i="1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which</a:t>
                      </a:r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 FU it's waiting for and set </a:t>
                      </a:r>
                      <a:r>
                        <a:rPr lang="en-US" sz="1400">
                          <a:solidFill>
                            <a:srgbClr val="444746"/>
                          </a:solidFill>
                          <a:effectLst/>
                          <a:latin typeface="+mn-lt"/>
                        </a:rPr>
                        <a:t>Ready</a:t>
                      </a:r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 to </a:t>
                      </a:r>
                      <a:r>
                        <a:rPr lang="en-US" sz="1400" b="1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No</a:t>
                      </a:r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.</a:t>
                      </a:r>
                    </a:p>
                  </a:txBody>
                  <a:tcPr marL="47993" marR="47993" marT="31995" marB="319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781427"/>
                  </a:ext>
                </a:extLst>
              </a:tr>
              <a:tr h="107981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2. Read operands</a:t>
                      </a:r>
                      <a:endParaRPr lang="en-IN" sz="1400">
                        <a:solidFill>
                          <a:srgbClr val="1B1C1D"/>
                        </a:solidFill>
                        <a:effectLst/>
                        <a:latin typeface="+mn-lt"/>
                      </a:endParaRPr>
                    </a:p>
                  </a:txBody>
                  <a:tcPr marL="47993" marR="47993" marT="31995" marB="319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i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Both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 source operands for the instruction have their </a:t>
                      </a:r>
                      <a:r>
                        <a:rPr lang="en-US" sz="1400" dirty="0">
                          <a:solidFill>
                            <a:srgbClr val="444746"/>
                          </a:solidFill>
                          <a:effectLst/>
                          <a:latin typeface="+mn-lt"/>
                        </a:rPr>
                        <a:t>Ready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 flags set to </a:t>
                      </a:r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Yes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. </a:t>
                      </a:r>
                      <a:r>
                        <a:rPr lang="en-US" sz="1400" i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(This resolves </a:t>
                      </a:r>
                      <a:r>
                        <a:rPr lang="en-US" sz="1400" b="1" i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RAW / Read-After-Write</a:t>
                      </a:r>
                      <a:r>
                        <a:rPr lang="en-US" sz="1400" i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 hazards, ensuring data is available before use.)</a:t>
                      </a:r>
                      <a:endParaRPr lang="en-US" sz="1400" dirty="0">
                        <a:solidFill>
                          <a:srgbClr val="1B1C1D"/>
                        </a:solidFill>
                        <a:effectLst/>
                        <a:latin typeface="+mn-lt"/>
                      </a:endParaRPr>
                    </a:p>
                  </a:txBody>
                  <a:tcPr marL="47993" marR="47993" marT="31995" marB="319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1. Set the </a:t>
                      </a:r>
                      <a:r>
                        <a:rPr lang="en-US" sz="1400" dirty="0">
                          <a:solidFill>
                            <a:srgbClr val="444746"/>
                          </a:solidFill>
                          <a:effectLst/>
                          <a:latin typeface="+mn-lt"/>
                        </a:rPr>
                        <a:t>Ready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 flags for </a:t>
                      </a:r>
                      <a:r>
                        <a:rPr lang="en-US" sz="1400" i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this instruction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 back to </a:t>
                      </a:r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No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 (since the operands have now been read).</a:t>
                      </a:r>
                    </a:p>
                  </a:txBody>
                  <a:tcPr marL="47993" marR="47993" marT="31995" marB="319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252113"/>
                  </a:ext>
                </a:extLst>
              </a:tr>
              <a:tr h="68315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3. Execution complete</a:t>
                      </a:r>
                      <a:endParaRPr lang="en-IN" sz="1400">
                        <a:solidFill>
                          <a:srgbClr val="1B1C1D"/>
                        </a:solidFill>
                        <a:effectLst/>
                        <a:latin typeface="+mn-lt"/>
                      </a:endParaRPr>
                    </a:p>
                  </a:txBody>
                  <a:tcPr marL="47993" marR="47993" marT="31995" marB="319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The Functional Unit has finished its calculation (e.g., the addition or multiplication is done).</a:t>
                      </a:r>
                    </a:p>
                  </a:txBody>
                  <a:tcPr marL="47993" marR="47993" marT="31995" marB="319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(No bookkeeping actions. The result is just held in the FU, waiting to be written.)</a:t>
                      </a:r>
                    </a:p>
                  </a:txBody>
                  <a:tcPr marL="47993" marR="47993" marT="31995" marB="319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9713579"/>
                  </a:ext>
                </a:extLst>
              </a:tr>
              <a:tr h="187315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4. Write result</a:t>
                      </a:r>
                      <a:endParaRPr lang="en-IN" sz="1400">
                        <a:solidFill>
                          <a:srgbClr val="1B1C1D"/>
                        </a:solidFill>
                        <a:effectLst/>
                        <a:latin typeface="+mn-lt"/>
                      </a:endParaRPr>
                    </a:p>
                  </a:txBody>
                  <a:tcPr marL="47993" marR="47993" marT="31995" marB="319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No other instruction (which was issued </a:t>
                      </a:r>
                      <a:r>
                        <a:rPr lang="en-US" sz="1400" i="1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earlier</a:t>
                      </a:r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) is still waiting to </a:t>
                      </a:r>
                      <a:r>
                        <a:rPr lang="en-US" sz="1400" i="1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read</a:t>
                      </a:r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 the </a:t>
                      </a:r>
                      <a:r>
                        <a:rPr lang="en-US" sz="1400" i="1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old value</a:t>
                      </a:r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 from this instruction's destination register. </a:t>
                      </a:r>
                      <a:r>
                        <a:rPr lang="en-US" sz="1400" i="1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(This resolves </a:t>
                      </a:r>
                      <a:r>
                        <a:rPr lang="en-US" sz="1400" b="1" i="1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WAR / Write-After-Read</a:t>
                      </a:r>
                      <a:r>
                        <a:rPr lang="en-US" sz="1400" i="1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 hazards, preventing an old instruction from reading a new value prematurely.)</a:t>
                      </a:r>
                      <a:endParaRPr lang="en-US" sz="1400">
                        <a:solidFill>
                          <a:srgbClr val="1B1C1D"/>
                        </a:solidFill>
                        <a:effectLst/>
                        <a:latin typeface="+mn-lt"/>
                      </a:endParaRPr>
                    </a:p>
                  </a:txBody>
                  <a:tcPr marL="47993" marR="47993" marT="31995" marB="319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1. </a:t>
                      </a:r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Notify all waiting instructions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: Tell any other instructions that were waiting for </a:t>
                      </a:r>
                      <a:r>
                        <a:rPr lang="en-US" sz="1400" i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this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 result that their operand is now </a:t>
                      </a:r>
                      <a:r>
                        <a:rPr lang="en-US" sz="1400" dirty="0">
                          <a:solidFill>
                            <a:srgbClr val="444746"/>
                          </a:solidFill>
                          <a:effectLst/>
                          <a:latin typeface="+mn-lt"/>
                        </a:rPr>
                        <a:t>Ready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 (set their flags to </a:t>
                      </a:r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Yes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). 2. </a:t>
                      </a:r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Free the destination register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: Clear its status so other instructions can write to it. 3. </a:t>
                      </a:r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Free the Functional Unit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: Mark the FU as </a:t>
                      </a:r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No longer Busy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.</a:t>
                      </a:r>
                    </a:p>
                  </a:txBody>
                  <a:tcPr marL="47993" marR="47993" marT="31995" marB="319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2425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5126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9CFB4-65D4-AB81-A8F0-D5DE8EEBD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355"/>
            <a:ext cx="10515600" cy="675311"/>
          </a:xfrm>
        </p:spPr>
        <p:txBody>
          <a:bodyPr>
            <a:normAutofit fontScale="90000"/>
          </a:bodyPr>
          <a:lstStyle/>
          <a:p>
            <a:r>
              <a:rPr lang="en-US" dirty="0"/>
              <a:t>Scoreboard Example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5D3562-072A-BC0A-898C-7A2B2C929F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482475"/>
              </p:ext>
            </p:extLst>
          </p:nvPr>
        </p:nvGraphicFramePr>
        <p:xfrm>
          <a:off x="838200" y="920666"/>
          <a:ext cx="2760404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34+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45+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R3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F4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DIVD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ADDD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86FE544-C95F-17C0-0B36-7634492616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8016602"/>
              </p:ext>
            </p:extLst>
          </p:nvPr>
        </p:nvGraphicFramePr>
        <p:xfrm>
          <a:off x="3773126" y="920666"/>
          <a:ext cx="4181172" cy="24084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579626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F0D1299-84E0-85F1-AC3F-8CAB8FE893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21018"/>
              </p:ext>
            </p:extLst>
          </p:nvPr>
        </p:nvGraphicFramePr>
        <p:xfrm>
          <a:off x="838200" y="3508333"/>
          <a:ext cx="10213258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C10FE31-6024-C7C8-51BA-5C772E223A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594988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90D0C57-9E40-852B-E8F2-1A2C5F20A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202725"/>
              </p:ext>
            </p:extLst>
          </p:nvPr>
        </p:nvGraphicFramePr>
        <p:xfrm>
          <a:off x="8128820" y="920666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0601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F3CDC-A71A-73F9-4AD3-6A4FA5E64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E01F7-EB69-689A-43F7-D73315EAC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355"/>
            <a:ext cx="10515600" cy="675311"/>
          </a:xfrm>
        </p:spPr>
        <p:txBody>
          <a:bodyPr>
            <a:normAutofit fontScale="90000"/>
          </a:bodyPr>
          <a:lstStyle/>
          <a:p>
            <a:r>
              <a:rPr lang="en-US" dirty="0"/>
              <a:t>Scoreboard Example Cycle 1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97BF80-0F34-6880-AD99-C655F98F7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30734"/>
              </p:ext>
            </p:extLst>
          </p:nvPr>
        </p:nvGraphicFramePr>
        <p:xfrm>
          <a:off x="838200" y="920666"/>
          <a:ext cx="2760404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34+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45+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R3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F4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DIVD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ADDD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0A4AC45-0B6A-AA69-2695-98A89301B9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115307"/>
              </p:ext>
            </p:extLst>
          </p:nvPr>
        </p:nvGraphicFramePr>
        <p:xfrm>
          <a:off x="3773126" y="920666"/>
          <a:ext cx="4181172" cy="24084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579626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C2FE7F3-FD20-4A51-1FF7-BE9A590F28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727386"/>
              </p:ext>
            </p:extLst>
          </p:nvPr>
        </p:nvGraphicFramePr>
        <p:xfrm>
          <a:off x="838200" y="3508333"/>
          <a:ext cx="10213258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Load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8B1155B-188A-3CB6-D5E5-674373BFC7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894118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C0BEDB3-60FC-F065-98B7-8649FC9EA1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906515"/>
              </p:ext>
            </p:extLst>
          </p:nvPr>
        </p:nvGraphicFramePr>
        <p:xfrm>
          <a:off x="8128820" y="920666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9989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18BB0-6AE3-C44A-FDB0-64AEAB82D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A66A4-6EF4-AF0D-FF58-76881E4D3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355"/>
            <a:ext cx="10515600" cy="675311"/>
          </a:xfrm>
        </p:spPr>
        <p:txBody>
          <a:bodyPr>
            <a:normAutofit fontScale="90000"/>
          </a:bodyPr>
          <a:lstStyle/>
          <a:p>
            <a:r>
              <a:rPr lang="en-US" dirty="0"/>
              <a:t>Scoreboard Example Cycle 2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8C91165-5C12-C13A-6047-69E2C0D503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410408"/>
              </p:ext>
            </p:extLst>
          </p:nvPr>
        </p:nvGraphicFramePr>
        <p:xfrm>
          <a:off x="838200" y="920666"/>
          <a:ext cx="2760404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34+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45+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R3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F4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DIVD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ADDD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6765559-A370-FCA4-BBC0-272153D5E7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984509"/>
              </p:ext>
            </p:extLst>
          </p:nvPr>
        </p:nvGraphicFramePr>
        <p:xfrm>
          <a:off x="3773126" y="920666"/>
          <a:ext cx="4181172" cy="24084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579626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13E76BF-1D57-B4F4-2B3B-8B3F62CBD2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362770"/>
              </p:ext>
            </p:extLst>
          </p:nvPr>
        </p:nvGraphicFramePr>
        <p:xfrm>
          <a:off x="838200" y="3508333"/>
          <a:ext cx="10213258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Load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67D7618-F8E2-BEB5-5FFE-6D6779837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2887105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388662C-AC8F-A611-E02F-8C81409295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906515"/>
              </p:ext>
            </p:extLst>
          </p:nvPr>
        </p:nvGraphicFramePr>
        <p:xfrm>
          <a:off x="8128820" y="920666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3623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A112F-5774-8FD6-CB66-D8166D403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36E0-23A5-2ADD-4DBB-249DE0360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355"/>
            <a:ext cx="10515600" cy="675311"/>
          </a:xfrm>
        </p:spPr>
        <p:txBody>
          <a:bodyPr>
            <a:normAutofit fontScale="90000"/>
          </a:bodyPr>
          <a:lstStyle/>
          <a:p>
            <a:r>
              <a:rPr lang="en-US" dirty="0"/>
              <a:t>Scoreboard Example Cycle 3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2093151-ABE9-9604-F820-EC0A5F7620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523340"/>
              </p:ext>
            </p:extLst>
          </p:nvPr>
        </p:nvGraphicFramePr>
        <p:xfrm>
          <a:off x="838200" y="920666"/>
          <a:ext cx="2760404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34+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45+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R3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F4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DIVD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ADDD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4178E42-0548-76D3-29F8-BB5FDC71A9D5}"/>
              </a:ext>
            </a:extLst>
          </p:cNvPr>
          <p:cNvGraphicFramePr>
            <a:graphicFrameLocks noGrp="1"/>
          </p:cNvGraphicFramePr>
          <p:nvPr/>
        </p:nvGraphicFramePr>
        <p:xfrm>
          <a:off x="3773126" y="920666"/>
          <a:ext cx="4181172" cy="24084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579626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D481E75-E9CA-294D-6BAB-E4DF8E1F292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508333"/>
          <a:ext cx="10213258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Load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95F548F-2336-2399-9221-5288EDCB3CE4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12771A4-9DA3-74E2-7081-1E7FDA8322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906515"/>
              </p:ext>
            </p:extLst>
          </p:nvPr>
        </p:nvGraphicFramePr>
        <p:xfrm>
          <a:off x="8128820" y="920666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1284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11E3A-56E0-FA2B-AA25-C35067654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19D6-5D04-48DE-4050-B19A32F32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355"/>
            <a:ext cx="10515600" cy="675311"/>
          </a:xfrm>
        </p:spPr>
        <p:txBody>
          <a:bodyPr>
            <a:normAutofit fontScale="90000"/>
          </a:bodyPr>
          <a:lstStyle/>
          <a:p>
            <a:r>
              <a:rPr lang="en-US" dirty="0"/>
              <a:t>Scoreboard Example Cycle 4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9C23CB5-FD4D-351F-81AD-D246ADD33B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723439"/>
              </p:ext>
            </p:extLst>
          </p:nvPr>
        </p:nvGraphicFramePr>
        <p:xfrm>
          <a:off x="838200" y="920666"/>
          <a:ext cx="2760404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34+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45+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R3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F4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DIVD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ADDD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F3816C2-673A-BCC0-457A-F3530CBEF0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32497"/>
              </p:ext>
            </p:extLst>
          </p:nvPr>
        </p:nvGraphicFramePr>
        <p:xfrm>
          <a:off x="3773126" y="920666"/>
          <a:ext cx="4181172" cy="24084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579626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BD881C6-03F5-F1F5-0394-8F9A67E3035B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508333"/>
          <a:ext cx="10213258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Load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886C551-BCC2-D4DF-919B-796FAA3309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34600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6948132-31C8-51E4-C3CF-858710BA59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906515"/>
              </p:ext>
            </p:extLst>
          </p:nvPr>
        </p:nvGraphicFramePr>
        <p:xfrm>
          <a:off x="8128820" y="920666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7899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2F5F9-006D-DCA5-23A0-A20F7AC79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2BB9C-F0E3-4F65-373E-A31AC1C3E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355"/>
            <a:ext cx="10515600" cy="675311"/>
          </a:xfrm>
        </p:spPr>
        <p:txBody>
          <a:bodyPr>
            <a:normAutofit fontScale="90000"/>
          </a:bodyPr>
          <a:lstStyle/>
          <a:p>
            <a:r>
              <a:rPr lang="en-US" dirty="0"/>
              <a:t>Scoreboard Example Cycle 5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511553A-4890-A83F-DA29-FC91D11A29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921815"/>
              </p:ext>
            </p:extLst>
          </p:nvPr>
        </p:nvGraphicFramePr>
        <p:xfrm>
          <a:off x="838200" y="920666"/>
          <a:ext cx="2760404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34+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45+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R3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F4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DIVD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ADDD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ECD1607-3B2F-2C9B-4924-5147D8ABEC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008096"/>
              </p:ext>
            </p:extLst>
          </p:nvPr>
        </p:nvGraphicFramePr>
        <p:xfrm>
          <a:off x="3773126" y="920666"/>
          <a:ext cx="4181172" cy="24084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579626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6520C82-0DD1-D2E6-C13D-424B9AB977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959727"/>
              </p:ext>
            </p:extLst>
          </p:nvPr>
        </p:nvGraphicFramePr>
        <p:xfrm>
          <a:off x="838200" y="3508333"/>
          <a:ext cx="10213258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Load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R3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70875D-2236-DE91-19FA-707C797385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060183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Integer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3A8C19B-9BDF-1C69-6E53-50A196D5AB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906515"/>
              </p:ext>
            </p:extLst>
          </p:nvPr>
        </p:nvGraphicFramePr>
        <p:xfrm>
          <a:off x="8128820" y="920666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4962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DB27E-093F-5E10-44CA-49048FAAA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C771D-E261-0514-A337-9FC1C7563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355"/>
            <a:ext cx="10515600" cy="675311"/>
          </a:xfrm>
        </p:spPr>
        <p:txBody>
          <a:bodyPr>
            <a:normAutofit fontScale="90000"/>
          </a:bodyPr>
          <a:lstStyle/>
          <a:p>
            <a:r>
              <a:rPr lang="en-US" dirty="0"/>
              <a:t>Scoreboard Example Cycle 6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46B124B-B5D2-BE68-7C1C-8E200E00F7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631383"/>
              </p:ext>
            </p:extLst>
          </p:nvPr>
        </p:nvGraphicFramePr>
        <p:xfrm>
          <a:off x="838200" y="920666"/>
          <a:ext cx="2760404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34+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45+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R3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F4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DIVD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ADDD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4AE3414-4240-7657-845F-2DADF5534F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265760"/>
              </p:ext>
            </p:extLst>
          </p:nvPr>
        </p:nvGraphicFramePr>
        <p:xfrm>
          <a:off x="3773126" y="920666"/>
          <a:ext cx="4181172" cy="24084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579626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B87B32F-7307-4A1F-2239-6EECF182EF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692095"/>
              </p:ext>
            </p:extLst>
          </p:nvPr>
        </p:nvGraphicFramePr>
        <p:xfrm>
          <a:off x="838200" y="3508333"/>
          <a:ext cx="10213258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Load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R3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F4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Integer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DF4AFAE-40F4-8B77-E480-42EC8E6B77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897898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Integer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88A9F7B-CA15-BBED-6C2D-2B6F1381FA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906515"/>
              </p:ext>
            </p:extLst>
          </p:nvPr>
        </p:nvGraphicFramePr>
        <p:xfrm>
          <a:off x="8128820" y="920666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7045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C7C37-8D5F-088D-A92A-8C29F6641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92842-0A39-9055-D8DF-6AC15482F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355"/>
            <a:ext cx="10515600" cy="675311"/>
          </a:xfrm>
        </p:spPr>
        <p:txBody>
          <a:bodyPr>
            <a:normAutofit fontScale="90000"/>
          </a:bodyPr>
          <a:lstStyle/>
          <a:p>
            <a:r>
              <a:rPr lang="en-US" dirty="0"/>
              <a:t>Scoreboard Example Cycle 7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4C4AF37-1B5A-FC83-4C3B-418D4D3548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890437"/>
              </p:ext>
            </p:extLst>
          </p:nvPr>
        </p:nvGraphicFramePr>
        <p:xfrm>
          <a:off x="838200" y="920666"/>
          <a:ext cx="2760404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34+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45+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R3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F4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DIVD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ADDD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0627BF4-0BAA-49B3-5CAA-6AA9D8F6A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222905"/>
              </p:ext>
            </p:extLst>
          </p:nvPr>
        </p:nvGraphicFramePr>
        <p:xfrm>
          <a:off x="3773126" y="920666"/>
          <a:ext cx="4181172" cy="24084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579626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FD995F6-0255-0B9E-0166-0173D4CD2D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2911341"/>
              </p:ext>
            </p:extLst>
          </p:nvPr>
        </p:nvGraphicFramePr>
        <p:xfrm>
          <a:off x="838200" y="3508333"/>
          <a:ext cx="10213258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Load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R3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F4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Integer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Integer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0BEA2B4-ED8D-C79C-8C55-CEF5E2BD97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723660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Integer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Add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FA08196-72B3-F8A8-0083-45A57E6C88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906515"/>
              </p:ext>
            </p:extLst>
          </p:nvPr>
        </p:nvGraphicFramePr>
        <p:xfrm>
          <a:off x="8128820" y="920666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9876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E6911-76C8-2519-D5DB-541C07AFB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FEAC2-E383-9161-283E-1C01480BB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355"/>
            <a:ext cx="10515600" cy="675311"/>
          </a:xfrm>
        </p:spPr>
        <p:txBody>
          <a:bodyPr>
            <a:normAutofit fontScale="90000"/>
          </a:bodyPr>
          <a:lstStyle/>
          <a:p>
            <a:r>
              <a:rPr lang="en-US" dirty="0"/>
              <a:t>Scoreboard Example Cycle 8a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7B0BBD9-A9D8-5893-BF52-99B7312E44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216478"/>
              </p:ext>
            </p:extLst>
          </p:nvPr>
        </p:nvGraphicFramePr>
        <p:xfrm>
          <a:off x="838200" y="920666"/>
          <a:ext cx="2760404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34+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45+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R3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F4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DIVD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ADDD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66A093D-07BE-AD8B-1858-641219D723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300164"/>
              </p:ext>
            </p:extLst>
          </p:nvPr>
        </p:nvGraphicFramePr>
        <p:xfrm>
          <a:off x="3773126" y="920666"/>
          <a:ext cx="4181172" cy="24084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579626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7F0119A-ED9D-5E13-1C8C-32CEEEE2E3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990320"/>
              </p:ext>
            </p:extLst>
          </p:nvPr>
        </p:nvGraphicFramePr>
        <p:xfrm>
          <a:off x="838200" y="3508333"/>
          <a:ext cx="10213258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Load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R3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F4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Integer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Integer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12809A0-4952-2352-5382-EBD2E49CD2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34734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Integer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Add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Divide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9453B12-02B1-1FF3-924A-B0695723AA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906515"/>
              </p:ext>
            </p:extLst>
          </p:nvPr>
        </p:nvGraphicFramePr>
        <p:xfrm>
          <a:off x="8128820" y="920666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0924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4F40E-1F57-E7C5-DE11-A1641996A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F76E1-BD66-1CCE-BF2F-3E10EA7CB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355"/>
            <a:ext cx="10515600" cy="675311"/>
          </a:xfrm>
        </p:spPr>
        <p:txBody>
          <a:bodyPr>
            <a:normAutofit fontScale="90000"/>
          </a:bodyPr>
          <a:lstStyle/>
          <a:p>
            <a:r>
              <a:rPr lang="en-US" dirty="0"/>
              <a:t>Scoreboard Example Cycle 8b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03308DF-8061-DBC6-77FE-8A807034872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920666"/>
          <a:ext cx="2760404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34+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45+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R3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F4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DIVD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ADDD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E44E6B6-1046-2FE7-965A-5917581281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337097"/>
              </p:ext>
            </p:extLst>
          </p:nvPr>
        </p:nvGraphicFramePr>
        <p:xfrm>
          <a:off x="3773126" y="920666"/>
          <a:ext cx="4181172" cy="24084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579626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92E6274-B0AD-4DC6-EF20-DC16F078E8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4479085"/>
              </p:ext>
            </p:extLst>
          </p:nvPr>
        </p:nvGraphicFramePr>
        <p:xfrm>
          <a:off x="838200" y="3508333"/>
          <a:ext cx="10213258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F4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8FBFB08-DD1C-3F61-F11E-429EC0465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055027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Add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Divide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C2DB676-415C-51E6-7D4C-8E83C293F4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906515"/>
              </p:ext>
            </p:extLst>
          </p:nvPr>
        </p:nvGraphicFramePr>
        <p:xfrm>
          <a:off x="8128820" y="920666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9013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D06CB-6B03-E916-9149-B16E71900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AB86F-6860-7865-8C77-ECB073736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355"/>
            <a:ext cx="10515600" cy="675311"/>
          </a:xfrm>
        </p:spPr>
        <p:txBody>
          <a:bodyPr>
            <a:normAutofit fontScale="90000"/>
          </a:bodyPr>
          <a:lstStyle/>
          <a:p>
            <a:r>
              <a:rPr lang="en-US" dirty="0"/>
              <a:t>Scoreboard Example Cycle 9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BB9EC1F-F417-0EB1-4722-1C89B64661E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920666"/>
          <a:ext cx="2760404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34+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45+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R3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F4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DIVD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ADDD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5B96A9E-1C74-898A-8C5C-B393EBD77E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5345173"/>
              </p:ext>
            </p:extLst>
          </p:nvPr>
        </p:nvGraphicFramePr>
        <p:xfrm>
          <a:off x="3773126" y="920666"/>
          <a:ext cx="4181172" cy="24084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579626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3BEDF75-8B57-5960-686C-4CAD191FD8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1058433"/>
              </p:ext>
            </p:extLst>
          </p:nvPr>
        </p:nvGraphicFramePr>
        <p:xfrm>
          <a:off x="838200" y="3508333"/>
          <a:ext cx="10213258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F4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21E175C-B04E-EFDA-B2D0-78204BC8CC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516773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Add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Divide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22CE86-B525-E5E8-E091-3C2C71492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906515"/>
              </p:ext>
            </p:extLst>
          </p:nvPr>
        </p:nvGraphicFramePr>
        <p:xfrm>
          <a:off x="8128820" y="920666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5334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841D6-37EB-73A4-1856-9BB60B629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C1A92-BF50-8586-0738-92B47107A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355"/>
            <a:ext cx="10515600" cy="675311"/>
          </a:xfrm>
        </p:spPr>
        <p:txBody>
          <a:bodyPr>
            <a:normAutofit fontScale="90000"/>
          </a:bodyPr>
          <a:lstStyle/>
          <a:p>
            <a:r>
              <a:rPr lang="en-US" dirty="0"/>
              <a:t>Scoreboard Example Cycle 11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5F02A19-0AB2-AAE3-0C41-000BD4D2B15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920666"/>
          <a:ext cx="2760404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34+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45+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R3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F4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DIVD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ADDD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D44C5C2-B6C1-DDE9-67D4-3BCA360F8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945147"/>
              </p:ext>
            </p:extLst>
          </p:nvPr>
        </p:nvGraphicFramePr>
        <p:xfrm>
          <a:off x="3773126" y="920666"/>
          <a:ext cx="4181172" cy="24084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579626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0E30A55-0F58-B392-AE2A-E44CAE0DDC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041178"/>
              </p:ext>
            </p:extLst>
          </p:nvPr>
        </p:nvGraphicFramePr>
        <p:xfrm>
          <a:off x="838200" y="3508333"/>
          <a:ext cx="10213258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F4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9F53C61-3EEB-AAC3-3C44-722701474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639408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11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Add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Divide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4629858-D33F-C07E-69DB-B2D66992F0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906515"/>
              </p:ext>
            </p:extLst>
          </p:nvPr>
        </p:nvGraphicFramePr>
        <p:xfrm>
          <a:off x="8128820" y="920666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8253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773F9-560B-948F-5CA8-95E35D476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A9E25-4B23-3652-F63B-03D53084A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355"/>
            <a:ext cx="10515600" cy="675311"/>
          </a:xfrm>
        </p:spPr>
        <p:txBody>
          <a:bodyPr>
            <a:normAutofit fontScale="90000"/>
          </a:bodyPr>
          <a:lstStyle/>
          <a:p>
            <a:r>
              <a:rPr lang="en-US" dirty="0"/>
              <a:t>Scoreboard Example Cycle 12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44AFB12-BFBF-F45B-DB73-FF961377ED1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920666"/>
          <a:ext cx="2760404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34+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45+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R3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F4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DIVD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ADDD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C279BA2-B901-25BC-8589-6348E65F2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500527"/>
              </p:ext>
            </p:extLst>
          </p:nvPr>
        </p:nvGraphicFramePr>
        <p:xfrm>
          <a:off x="3773126" y="920666"/>
          <a:ext cx="4181172" cy="24084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579626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A144C7C-AE44-2B3F-F3E1-382B9D6BF4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125734"/>
              </p:ext>
            </p:extLst>
          </p:nvPr>
        </p:nvGraphicFramePr>
        <p:xfrm>
          <a:off x="838200" y="3508333"/>
          <a:ext cx="10213258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F4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169CA40-9DE2-04F8-C8D2-FDA6DAF39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223576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12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Divide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09F8E56-1FCC-6D29-C5DC-2A8C1A43C3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906515"/>
              </p:ext>
            </p:extLst>
          </p:nvPr>
        </p:nvGraphicFramePr>
        <p:xfrm>
          <a:off x="8128820" y="920666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7700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A0B95-EFFC-CEE6-60DB-EDD9568B8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B6254-EA07-96D4-E10A-1C59FA3CD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355"/>
            <a:ext cx="10515600" cy="675311"/>
          </a:xfrm>
        </p:spPr>
        <p:txBody>
          <a:bodyPr>
            <a:normAutofit fontScale="90000"/>
          </a:bodyPr>
          <a:lstStyle/>
          <a:p>
            <a:r>
              <a:rPr lang="en-US" dirty="0"/>
              <a:t>Scoreboard Example Cycle 13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82D2FA6-DBF4-568B-EFF2-C8EFE647207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920666"/>
          <a:ext cx="2760404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34+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45+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R3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F4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DIVD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ADDD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80A371E-FAF4-0398-7353-F7E3F9236B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0020649"/>
              </p:ext>
            </p:extLst>
          </p:nvPr>
        </p:nvGraphicFramePr>
        <p:xfrm>
          <a:off x="3773126" y="920666"/>
          <a:ext cx="4181172" cy="24084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579626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13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77DA690-D09C-9428-B410-1034B1A077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458264"/>
              </p:ext>
            </p:extLst>
          </p:nvPr>
        </p:nvGraphicFramePr>
        <p:xfrm>
          <a:off x="838200" y="3508333"/>
          <a:ext cx="10213258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F4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Add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D5D6C24-5588-4090-0CBA-4708553AF8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128153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13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Divide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F0664A9-9F4B-283B-B7E5-14BA4E42D4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906515"/>
              </p:ext>
            </p:extLst>
          </p:nvPr>
        </p:nvGraphicFramePr>
        <p:xfrm>
          <a:off x="8128820" y="920666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6443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3828D-36F1-035D-0B33-05372E70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E9A2D-A0C0-82B1-96F7-D2652989B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355"/>
            <a:ext cx="10515600" cy="675311"/>
          </a:xfrm>
        </p:spPr>
        <p:txBody>
          <a:bodyPr>
            <a:normAutofit fontScale="90000"/>
          </a:bodyPr>
          <a:lstStyle/>
          <a:p>
            <a:r>
              <a:rPr lang="en-US" dirty="0"/>
              <a:t>Scoreboard Example Cycle 14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0522403-E950-972B-8967-F6CF27D24144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920666"/>
          <a:ext cx="2760404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34+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45+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R3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F4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DIVD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ADDD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B244CC7-294E-4E5E-5F12-2F1ADC45A0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243457"/>
              </p:ext>
            </p:extLst>
          </p:nvPr>
        </p:nvGraphicFramePr>
        <p:xfrm>
          <a:off x="3773126" y="920666"/>
          <a:ext cx="4181172" cy="24084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579626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13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263A40A-4579-BEAE-BE49-8CFFC0B608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284109"/>
              </p:ext>
            </p:extLst>
          </p:nvPr>
        </p:nvGraphicFramePr>
        <p:xfrm>
          <a:off x="838200" y="3508333"/>
          <a:ext cx="10213258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F4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Add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7C07987-872B-9191-446C-DF3CE357B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801542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14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Divide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DD1B009-7EB9-80BE-DA38-7E2A6A72D9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906515"/>
              </p:ext>
            </p:extLst>
          </p:nvPr>
        </p:nvGraphicFramePr>
        <p:xfrm>
          <a:off x="8128820" y="920666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80308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9A3F1-F0C6-F3D1-A5E2-ADCC3AEF8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A941C-4B1A-62FC-5463-F82D8B598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355"/>
            <a:ext cx="10515600" cy="675311"/>
          </a:xfrm>
        </p:spPr>
        <p:txBody>
          <a:bodyPr>
            <a:normAutofit fontScale="90000"/>
          </a:bodyPr>
          <a:lstStyle/>
          <a:p>
            <a:r>
              <a:rPr lang="en-US" dirty="0"/>
              <a:t>Scoreboard Example Cycle 15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AD8A42-2875-D5F3-4BE1-40C2DA1E4A1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920666"/>
          <a:ext cx="2760404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34+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45+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R3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F4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DIVD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ADDD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710A054-EAD5-DCBA-7797-42B89BEBFD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723530"/>
              </p:ext>
            </p:extLst>
          </p:nvPr>
        </p:nvGraphicFramePr>
        <p:xfrm>
          <a:off x="3773126" y="920666"/>
          <a:ext cx="4181172" cy="24084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579626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13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A7706ED-2737-D8C8-57DB-4BD263B4B9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41618"/>
              </p:ext>
            </p:extLst>
          </p:nvPr>
        </p:nvGraphicFramePr>
        <p:xfrm>
          <a:off x="838200" y="3508333"/>
          <a:ext cx="10213258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F4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Add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A966E85-EF4C-853E-9F14-F211609A37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629647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15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Divide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062D46F-13F2-3038-577D-C5D8B2C469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906515"/>
              </p:ext>
            </p:extLst>
          </p:nvPr>
        </p:nvGraphicFramePr>
        <p:xfrm>
          <a:off x="8128820" y="920666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81835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26C51-435D-F235-BEAF-B4625ABD3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AF708-4106-E341-425F-91777D872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355"/>
            <a:ext cx="10515600" cy="675311"/>
          </a:xfrm>
        </p:spPr>
        <p:txBody>
          <a:bodyPr>
            <a:normAutofit fontScale="90000"/>
          </a:bodyPr>
          <a:lstStyle/>
          <a:p>
            <a:r>
              <a:rPr lang="en-US" dirty="0"/>
              <a:t>Scoreboard Example Cycle 16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B1323BB-D944-80FC-1629-6E660EEF0C4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920666"/>
          <a:ext cx="2760404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34+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45+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R3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F4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DIVD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ADDD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B2821C6-C403-471F-E8C1-39A7E26B97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149108"/>
              </p:ext>
            </p:extLst>
          </p:nvPr>
        </p:nvGraphicFramePr>
        <p:xfrm>
          <a:off x="3773126" y="920666"/>
          <a:ext cx="4181172" cy="24084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579626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13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838A792-2F1B-738D-A7E9-69B0F3AE89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639291"/>
              </p:ext>
            </p:extLst>
          </p:nvPr>
        </p:nvGraphicFramePr>
        <p:xfrm>
          <a:off x="838200" y="3508333"/>
          <a:ext cx="10213258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F4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Add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C50076E-EFCE-F5BC-4FF4-E670E8320E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595127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16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Divide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FA3AFA6-0628-048A-6502-4767A1C4D8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906515"/>
              </p:ext>
            </p:extLst>
          </p:nvPr>
        </p:nvGraphicFramePr>
        <p:xfrm>
          <a:off x="8128820" y="920666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25956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DCF8F-B59F-F8CB-43BF-D5ED2B37F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A8695-6FB5-10AD-19A6-09AD6BE46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355"/>
            <a:ext cx="10515600" cy="675311"/>
          </a:xfrm>
        </p:spPr>
        <p:txBody>
          <a:bodyPr>
            <a:normAutofit fontScale="90000"/>
          </a:bodyPr>
          <a:lstStyle/>
          <a:p>
            <a:r>
              <a:rPr lang="en-US" dirty="0"/>
              <a:t>Scoreboard Example Cycle 17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C037649-BAA2-AF86-F06D-6EA783FE13C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920666"/>
          <a:ext cx="2760404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34+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45+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R3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F4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DIVD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ADDD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EE4906B-ED12-07B7-8C02-E90C20C013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070378"/>
              </p:ext>
            </p:extLst>
          </p:nvPr>
        </p:nvGraphicFramePr>
        <p:xfrm>
          <a:off x="3773126" y="920666"/>
          <a:ext cx="4181172" cy="24084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579626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13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4201DA7-1D01-94B5-B03C-4485350747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4926516"/>
              </p:ext>
            </p:extLst>
          </p:nvPr>
        </p:nvGraphicFramePr>
        <p:xfrm>
          <a:off x="838200" y="3508333"/>
          <a:ext cx="10213258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F4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Add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8DB8607-867E-BCCC-AEB9-4DF420B989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201671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17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Divide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CAB7AFB-6826-4448-C80D-9B366E9195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906515"/>
              </p:ext>
            </p:extLst>
          </p:nvPr>
        </p:nvGraphicFramePr>
        <p:xfrm>
          <a:off x="8128820" y="920666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85198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52CD1-398A-AAE0-16A5-C360AB653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3BAA2-BF4D-5BD9-A2A1-4AA5CDD2D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355"/>
            <a:ext cx="10515600" cy="675311"/>
          </a:xfrm>
        </p:spPr>
        <p:txBody>
          <a:bodyPr>
            <a:normAutofit fontScale="90000"/>
          </a:bodyPr>
          <a:lstStyle/>
          <a:p>
            <a:r>
              <a:rPr lang="en-US" dirty="0"/>
              <a:t>Scoreboard Example Cycle 18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13987BD-E1F6-6BB2-1C9B-301A39EBD26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920666"/>
          <a:ext cx="2760404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34+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45+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R3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F4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DIVD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ADDD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593D6C1-1F71-9FDB-DF82-AEBE067497AC}"/>
              </a:ext>
            </a:extLst>
          </p:cNvPr>
          <p:cNvGraphicFramePr>
            <a:graphicFrameLocks noGrp="1"/>
          </p:cNvGraphicFramePr>
          <p:nvPr/>
        </p:nvGraphicFramePr>
        <p:xfrm>
          <a:off x="3773126" y="920666"/>
          <a:ext cx="4181172" cy="24084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579626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13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BC3406A-05D1-3412-2778-8CB7C0223D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148039"/>
              </p:ext>
            </p:extLst>
          </p:nvPr>
        </p:nvGraphicFramePr>
        <p:xfrm>
          <a:off x="838200" y="3508333"/>
          <a:ext cx="10213258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F4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Add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2208B32-A6E7-A0A3-FA0F-26971F7335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787457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18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Divide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141A154-9C70-C90B-F219-5BE31451E8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906515"/>
              </p:ext>
            </p:extLst>
          </p:nvPr>
        </p:nvGraphicFramePr>
        <p:xfrm>
          <a:off x="8128820" y="920666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20962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EF136-BCCD-7F32-FC7B-A841D03D8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FFE01-A628-5522-F426-02797193B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355"/>
            <a:ext cx="10515600" cy="675311"/>
          </a:xfrm>
        </p:spPr>
        <p:txBody>
          <a:bodyPr>
            <a:normAutofit fontScale="90000"/>
          </a:bodyPr>
          <a:lstStyle/>
          <a:p>
            <a:r>
              <a:rPr lang="en-US" dirty="0"/>
              <a:t>Scoreboard Example Cycle 19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8D31602-775D-1F30-0827-EEF0E1CD1C0C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920666"/>
          <a:ext cx="2760404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34+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45+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R3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F4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DIVD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ADDD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F364FBB-56ED-1692-D5FE-6D5AAA74E1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574498"/>
              </p:ext>
            </p:extLst>
          </p:nvPr>
        </p:nvGraphicFramePr>
        <p:xfrm>
          <a:off x="3773126" y="920666"/>
          <a:ext cx="4181172" cy="24084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579626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13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27CF0CB-A390-3BB7-B869-579C265651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545725"/>
              </p:ext>
            </p:extLst>
          </p:nvPr>
        </p:nvGraphicFramePr>
        <p:xfrm>
          <a:off x="838200" y="3508333"/>
          <a:ext cx="10213258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F4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Add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18AF3DF-0959-F7FF-B7CF-47B45221C9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8264056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19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Divide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5BFFFFC-50C1-1749-DB01-6795EFC12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906515"/>
              </p:ext>
            </p:extLst>
          </p:nvPr>
        </p:nvGraphicFramePr>
        <p:xfrm>
          <a:off x="8128820" y="920666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87723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72465-A172-F0FD-A842-AA4BF6995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618B8-5D39-B8C4-2D8B-C76595457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355"/>
            <a:ext cx="10515600" cy="675311"/>
          </a:xfrm>
        </p:spPr>
        <p:txBody>
          <a:bodyPr>
            <a:normAutofit fontScale="90000"/>
          </a:bodyPr>
          <a:lstStyle/>
          <a:p>
            <a:r>
              <a:rPr lang="en-US" dirty="0"/>
              <a:t>Scoreboard Example Cycle 20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FCEF542-2E78-D0FF-245E-D79DBDEEB67C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920666"/>
          <a:ext cx="2760404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34+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45+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R3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F4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DIVD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ADDD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B869CAC-5E0E-CEE2-4FCB-82906E12CA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321993"/>
              </p:ext>
            </p:extLst>
          </p:nvPr>
        </p:nvGraphicFramePr>
        <p:xfrm>
          <a:off x="3773126" y="920666"/>
          <a:ext cx="4181172" cy="24084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579626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13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30CB00C-E55E-6289-77E4-ED1BCD5B50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460746"/>
              </p:ext>
            </p:extLst>
          </p:nvPr>
        </p:nvGraphicFramePr>
        <p:xfrm>
          <a:off x="838200" y="3508333"/>
          <a:ext cx="10213258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Add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7F5B864-96A5-91B8-157A-3896803A5F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005154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20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Divide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2FFC392-0BFA-755A-CBCB-1D4F2048AC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906515"/>
              </p:ext>
            </p:extLst>
          </p:nvPr>
        </p:nvGraphicFramePr>
        <p:xfrm>
          <a:off x="8128820" y="920666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19924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46F19-8D60-37FA-57C4-7C86E4435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11E9A-FD3E-8790-D0F6-7DE37B7EB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355"/>
            <a:ext cx="10515600" cy="675311"/>
          </a:xfrm>
        </p:spPr>
        <p:txBody>
          <a:bodyPr>
            <a:normAutofit fontScale="90000"/>
          </a:bodyPr>
          <a:lstStyle/>
          <a:p>
            <a:r>
              <a:rPr lang="en-US" dirty="0"/>
              <a:t>Scoreboard Example Cycle 21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39D6BCA-B0AA-FED4-B894-1C904893F68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920666"/>
          <a:ext cx="2760404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34+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45+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R3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F4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DIVD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ADDD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127B60D-A757-5BBE-1540-D9AFEF6C17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09002"/>
              </p:ext>
            </p:extLst>
          </p:nvPr>
        </p:nvGraphicFramePr>
        <p:xfrm>
          <a:off x="3773126" y="920666"/>
          <a:ext cx="4181172" cy="24084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579626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13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9B5FD92-8472-2E05-88A9-B554A055AA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29168"/>
              </p:ext>
            </p:extLst>
          </p:nvPr>
        </p:nvGraphicFramePr>
        <p:xfrm>
          <a:off x="838200" y="3508333"/>
          <a:ext cx="10213258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Add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3C21049-475B-96E0-DD04-450A626B7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608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21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Divide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D89D9E1-F449-63BD-55E3-807D6C9952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906515"/>
              </p:ext>
            </p:extLst>
          </p:nvPr>
        </p:nvGraphicFramePr>
        <p:xfrm>
          <a:off x="8128820" y="920666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75584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9AEBA-EEA4-72C1-C29E-2358EA3FB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6207E-4927-6FE2-CBA4-5C20FF575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355"/>
            <a:ext cx="10515600" cy="675311"/>
          </a:xfrm>
        </p:spPr>
        <p:txBody>
          <a:bodyPr>
            <a:normAutofit fontScale="90000"/>
          </a:bodyPr>
          <a:lstStyle/>
          <a:p>
            <a:r>
              <a:rPr lang="en-US" dirty="0"/>
              <a:t>Scoreboard Example Cycle 22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5249139-6BB6-A633-6A50-5A9CCE27635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920666"/>
          <a:ext cx="2760404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34+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45+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R3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F4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DIVD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ADDD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1DEA798-B4D5-68BD-1BA4-C1C063B201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279164"/>
              </p:ext>
            </p:extLst>
          </p:nvPr>
        </p:nvGraphicFramePr>
        <p:xfrm>
          <a:off x="3773126" y="920666"/>
          <a:ext cx="4181172" cy="24084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579626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13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5AE5599-083D-E7D5-692F-92E8F9B272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229039"/>
              </p:ext>
            </p:extLst>
          </p:nvPr>
        </p:nvGraphicFramePr>
        <p:xfrm>
          <a:off x="838200" y="3508333"/>
          <a:ext cx="10213258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40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BF6C217-934B-7A61-382B-24F1315800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53255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22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Divide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B068036-F6B4-709C-2DDC-DE835E061C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906515"/>
              </p:ext>
            </p:extLst>
          </p:nvPr>
        </p:nvGraphicFramePr>
        <p:xfrm>
          <a:off x="8128820" y="920666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22015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1BDF7-9FAC-CB29-8620-35299CCD2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A9D46-AA39-359F-294F-30AAD1F4D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355"/>
            <a:ext cx="10515600" cy="675311"/>
          </a:xfrm>
        </p:spPr>
        <p:txBody>
          <a:bodyPr>
            <a:normAutofit fontScale="90000"/>
          </a:bodyPr>
          <a:lstStyle/>
          <a:p>
            <a:r>
              <a:rPr lang="en-US" dirty="0"/>
              <a:t>Scoreboard Example Cycle 61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35422B1-CBB0-89B4-4038-0771B433028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920666"/>
          <a:ext cx="2760404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34+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45+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R3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F4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DIVD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ADDD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3F20902-F00B-83A6-3A71-F3D5F22119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685462"/>
              </p:ext>
            </p:extLst>
          </p:nvPr>
        </p:nvGraphicFramePr>
        <p:xfrm>
          <a:off x="3773126" y="920666"/>
          <a:ext cx="4181172" cy="24084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579626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13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1030BD9-6D83-848C-13E7-EF4DBE94BD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334926"/>
              </p:ext>
            </p:extLst>
          </p:nvPr>
        </p:nvGraphicFramePr>
        <p:xfrm>
          <a:off x="838200" y="3508333"/>
          <a:ext cx="10213258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BE9E88E-F9F1-FB78-18F3-0FC79C658B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327513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61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Divide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5D27B58-9CD9-4753-EEA1-733B0422D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906515"/>
              </p:ext>
            </p:extLst>
          </p:nvPr>
        </p:nvGraphicFramePr>
        <p:xfrm>
          <a:off x="8128820" y="920666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21240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D08FC-5F17-C3EF-9530-5984398D0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BED20-7788-DE0A-6FF3-38CD55022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355"/>
            <a:ext cx="10515600" cy="675311"/>
          </a:xfrm>
        </p:spPr>
        <p:txBody>
          <a:bodyPr>
            <a:normAutofit fontScale="90000"/>
          </a:bodyPr>
          <a:lstStyle/>
          <a:p>
            <a:r>
              <a:rPr lang="en-US" dirty="0"/>
              <a:t>Scoreboard Example Cycle 62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9F2C888-497B-6F1F-D899-6D269816002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920666"/>
          <a:ext cx="2760404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34+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45+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R3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F4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DIVD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ADDD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70068E6-E118-19F0-C860-D69E097AB2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965328"/>
              </p:ext>
            </p:extLst>
          </p:nvPr>
        </p:nvGraphicFramePr>
        <p:xfrm>
          <a:off x="3773126" y="920666"/>
          <a:ext cx="4181172" cy="24084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579626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13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EC8AED6-420A-41A4-DE69-2E4CE9DA22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220538"/>
              </p:ext>
            </p:extLst>
          </p:nvPr>
        </p:nvGraphicFramePr>
        <p:xfrm>
          <a:off x="838200" y="3508333"/>
          <a:ext cx="10213258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F982F00-D11E-253D-F69C-9811019E44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661433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62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43EE6E0-6199-481C-B488-B2DAA70C61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906515"/>
              </p:ext>
            </p:extLst>
          </p:nvPr>
        </p:nvGraphicFramePr>
        <p:xfrm>
          <a:off x="8128820" y="920666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8236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3956</Words>
  <Application>Microsoft Office PowerPoint</Application>
  <PresentationFormat>Widescreen</PresentationFormat>
  <Paragraphs>2630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Office Theme</vt:lpstr>
      <vt:lpstr>Three Parts of the Scoreboard</vt:lpstr>
      <vt:lpstr>Detailed Scoreboard Pipeline Control</vt:lpstr>
      <vt:lpstr>Detailed Scoreboard Pipeline Control</vt:lpstr>
      <vt:lpstr>Scoreboard Example</vt:lpstr>
      <vt:lpstr>Scoreboard Example Cycle 1</vt:lpstr>
      <vt:lpstr>Scoreboard Example Cycle 2</vt:lpstr>
      <vt:lpstr>Scoreboard Example Cycle 3</vt:lpstr>
      <vt:lpstr>Scoreboard Example Cycle 4</vt:lpstr>
      <vt:lpstr>Scoreboard Example Cycle 5</vt:lpstr>
      <vt:lpstr>Scoreboard Example Cycle 6</vt:lpstr>
      <vt:lpstr>Scoreboard Example Cycle 7</vt:lpstr>
      <vt:lpstr>Scoreboard Example Cycle 8a</vt:lpstr>
      <vt:lpstr>Scoreboard Example Cycle 8b</vt:lpstr>
      <vt:lpstr>Scoreboard Example Cycle 9</vt:lpstr>
      <vt:lpstr>Scoreboard Example Cycle 11</vt:lpstr>
      <vt:lpstr>Scoreboard Example Cycle 12</vt:lpstr>
      <vt:lpstr>Scoreboard Example Cycle 13</vt:lpstr>
      <vt:lpstr>Scoreboard Example Cycle 14</vt:lpstr>
      <vt:lpstr>Scoreboard Example Cycle 15</vt:lpstr>
      <vt:lpstr>Scoreboard Example Cycle 16</vt:lpstr>
      <vt:lpstr>Scoreboard Example Cycle 17</vt:lpstr>
      <vt:lpstr>Scoreboard Example Cycle 18</vt:lpstr>
      <vt:lpstr>Scoreboard Example Cycle 19</vt:lpstr>
      <vt:lpstr>Scoreboard Example Cycle 20</vt:lpstr>
      <vt:lpstr>Scoreboard Example Cycle 21</vt:lpstr>
      <vt:lpstr>Scoreboard Example Cycle 22</vt:lpstr>
      <vt:lpstr>Scoreboard Example Cycle 61</vt:lpstr>
      <vt:lpstr>Scoreboard Example Cycle 62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RAJ</dc:creator>
  <cp:lastModifiedBy>HARSH RAJ</cp:lastModifiedBy>
  <cp:revision>6</cp:revision>
  <dcterms:created xsi:type="dcterms:W3CDTF">2025-10-22T15:35:06Z</dcterms:created>
  <dcterms:modified xsi:type="dcterms:W3CDTF">2025-10-23T05:29:10Z</dcterms:modified>
</cp:coreProperties>
</file>
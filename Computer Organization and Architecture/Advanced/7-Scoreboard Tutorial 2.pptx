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4" r:id="rId3"/>
    <p:sldId id="283" r:id="rId4"/>
    <p:sldId id="256" r:id="rId5"/>
    <p:sldId id="285" r:id="rId6"/>
    <p:sldId id="286" r:id="rId7"/>
    <p:sldId id="287" r:id="rId8"/>
    <p:sldId id="289" r:id="rId9"/>
    <p:sldId id="290" r:id="rId10"/>
    <p:sldId id="291" r:id="rId11"/>
    <p:sldId id="292" r:id="rId12"/>
    <p:sldId id="293" r:id="rId13"/>
    <p:sldId id="294" r:id="rId14"/>
    <p:sldId id="319" r:id="rId15"/>
    <p:sldId id="322" r:id="rId16"/>
    <p:sldId id="295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2788-DEEE-392E-EEC1-6577959BD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A14C6-2DFC-BB70-E7B9-AE21F015E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61898-267B-0B27-B25A-47B7BE27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E23E0-EF46-0ACB-ABDE-3A4CCFAC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431CB-2FB6-3F0E-3C18-22CE2375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12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AF77-150D-2EAA-A222-87635128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EA464-9C66-538B-0B72-0CCCA5959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1C381-5813-6FD0-1900-5A74510F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07E6A-56A3-B2E3-A391-AD57C5452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BAB1C-0573-8EF2-786A-CA4426F4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445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C203-428D-65CB-746D-A6EC8719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3EFE5-85A9-CC45-6667-A32526569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D28A7-1C9B-3054-5159-40C4D532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BDC31-C508-2D08-908B-61C82B54F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6E6EB-35A4-4556-AD01-51AB69F1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27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01FE-C6BD-3990-90DA-7625A362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B0B5-55DA-BD30-C455-D5B21C8D2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46837-C6A4-272C-EBDC-ADF65338B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028C2-4B7F-1758-3A4F-8A27CB54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7552C-FE97-F3DD-73E8-F401891F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9E373-06ED-D105-9E07-616DDEFD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59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27860-1CF8-4528-CE29-BE825982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CCAE5-B9DA-348B-9646-20A15C7E4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42284-8888-BAE8-F6FC-2BCF91328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DD4AF4-B977-619A-9904-1FBDEC505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F07BE-1D88-300C-0DAC-23D653E55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BCAF6E-4D21-988A-8BFE-2452D486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D446E8-0D44-8E70-CE55-41AF4255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452F4-9870-FD3B-BA34-7C0A502B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59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7F18-CECB-4DCB-73DC-F5322DE9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DF436-1D8E-591F-CB09-DC1E3B5A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D2192F-14D5-3E03-5760-61ED5CBE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9B37-F4CE-6C41-6119-B559C468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02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21F23B-16A0-B86A-4D4E-F19FA3F2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BBAB0-54DB-AC39-A975-C11D3528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2F880-4B04-7662-C5D2-FE683002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01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39B3-7812-C415-326C-CB2383F94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AA127-A8A8-62D7-7C3A-1159DDB96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302AC-02AB-559D-1663-DE780E7F7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41BEA-EE75-2597-EFF4-8D6C049A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60EE5-E50F-299B-6D74-6D646391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E61E6-8FC1-2652-9877-315129E3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791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15D83-6CC9-6862-5E58-4333F385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C1E8D-298E-BE4B-A9E2-053278C62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9C3A6-2200-95E6-9141-5D1C51B32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36FAA-39B7-E825-A4C7-695D0DDED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C5508-AC55-7F47-0B49-647B261F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5C179-830F-8A8F-392E-A613D7EC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09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1CF9-E659-21BE-09A3-3F1BACBCB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FA1BF-A64B-E653-3A2D-BA213A05F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5E048-3872-0613-D63B-371556AE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0378A-7FD3-CF00-8471-90A7D6F2F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EAC3E-DA28-8D25-BB06-75F28933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73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F7D4B-84EE-6E75-FEB4-FF09288F7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1762B-84F4-A555-F561-34125C279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23898-98D6-0132-F139-E5A8B415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C1523-8CEC-BA8C-F31D-82EA27C00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2E00-73C6-8F75-61F8-34076DDE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79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267E37-27CC-2052-645C-4F2C05B1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56418-C515-A4C0-F8B1-AECADB28C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84C1D-767D-A0C4-ED2D-86045ADDD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99860-8A87-408B-B784-335C51B69F1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7214-7EEA-092D-EB80-E0D1A30C8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E9133-5AE7-CFAF-E9E0-B515D16C3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6466F-5AC1-44DE-BE74-C56801C73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81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23E6-E837-39C5-9886-B1534483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Parts of the Scoreboard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3986-E8A2-7FFC-65B4-048683359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Instruction status</a:t>
            </a:r>
            <a:r>
              <a:rPr lang="en-US" dirty="0"/>
              <a:t>—which of 4 steps the instruction is in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Functional unit status</a:t>
            </a:r>
            <a:r>
              <a:rPr lang="en-US" dirty="0"/>
              <a:t>—Indicates the state of the functional unit (FU). 9 fields for each functional unit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Busy</a:t>
            </a:r>
            <a:r>
              <a:rPr lang="en-US" dirty="0"/>
              <a:t>—Indicates whether the unit is busy or not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Op</a:t>
            </a:r>
            <a:r>
              <a:rPr lang="en-US" dirty="0"/>
              <a:t>—Operation to perform in the unit (e.g., + or –)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Fi</a:t>
            </a:r>
            <a:r>
              <a:rPr lang="en-US" dirty="0"/>
              <a:t>—Destination register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Fj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5"/>
                </a:solidFill>
              </a:rPr>
              <a:t>Fk</a:t>
            </a:r>
            <a:r>
              <a:rPr lang="en-US" dirty="0"/>
              <a:t>—Source-register numbers</a:t>
            </a:r>
          </a:p>
          <a:p>
            <a:pPr lvl="1"/>
            <a:r>
              <a:rPr lang="en-US" dirty="0" err="1">
                <a:solidFill>
                  <a:schemeClr val="accent5"/>
                </a:solidFill>
              </a:rPr>
              <a:t>Qj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5"/>
                </a:solidFill>
              </a:rPr>
              <a:t>Qk</a:t>
            </a:r>
            <a:r>
              <a:rPr lang="en-US" dirty="0"/>
              <a:t>—Functional units producing source registers Fj, </a:t>
            </a:r>
            <a:r>
              <a:rPr lang="en-US" dirty="0" err="1"/>
              <a:t>Fk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5"/>
                </a:solidFill>
              </a:rPr>
              <a:t>Rj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5"/>
                </a:solidFill>
              </a:rPr>
              <a:t>Rk</a:t>
            </a:r>
            <a:r>
              <a:rPr lang="en-US" dirty="0"/>
              <a:t>—Flags indicating when Fj, </a:t>
            </a:r>
            <a:r>
              <a:rPr lang="en-US" dirty="0" err="1"/>
              <a:t>Fk</a:t>
            </a:r>
            <a:r>
              <a:rPr lang="en-US" dirty="0"/>
              <a:t> are ready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Register result status</a:t>
            </a:r>
            <a:r>
              <a:rPr lang="en-US" dirty="0"/>
              <a:t>—Indicates which functional unit will write each register, if one exists. Blank when no pending instructions will write that register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85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6F78E-78D2-11C0-3210-F37F537C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1E9B-FF4E-A48F-774C-2F8090A48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898"/>
            <a:ext cx="10515600" cy="500114"/>
          </a:xfrm>
        </p:spPr>
        <p:txBody>
          <a:bodyPr>
            <a:normAutofit fontScale="90000"/>
          </a:bodyPr>
          <a:lstStyle/>
          <a:p>
            <a:r>
              <a:rPr lang="en-US" dirty="0"/>
              <a:t>Detailed Scoreboard Pipeline Control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3F6CFC-9535-BB9D-E8E0-AF9239D67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54068"/>
            <a:ext cx="9488224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95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0395-9237-FD1B-EAA5-67736D2D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7FB0-88B3-1189-4C4A-8CA0912D3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898"/>
            <a:ext cx="10515600" cy="500114"/>
          </a:xfrm>
        </p:spPr>
        <p:txBody>
          <a:bodyPr>
            <a:normAutofit fontScale="90000"/>
          </a:bodyPr>
          <a:lstStyle/>
          <a:p>
            <a:r>
              <a:rPr lang="en-US" dirty="0"/>
              <a:t>Detailed Scoreboard Pipeline Control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60EB03-30E1-A1AE-C036-9386227EA7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299352"/>
              </p:ext>
            </p:extLst>
          </p:nvPr>
        </p:nvGraphicFramePr>
        <p:xfrm>
          <a:off x="838199" y="682012"/>
          <a:ext cx="10515600" cy="599409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166482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621390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56257970"/>
                    </a:ext>
                  </a:extLst>
                </a:gridCol>
              </a:tblGrid>
              <a:tr h="48481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Stage</a:t>
                      </a:r>
                      <a:endParaRPr lang="en-IN" sz="14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Wait until... (The Condition to Proceed)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Bookkeeping (What the Scoreboard Does)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92665"/>
                  </a:ext>
                </a:extLst>
              </a:tr>
              <a:tr h="18731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1. Issue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1. The required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Functional Unit (FU)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is free. 2. The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destination register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is not already waiting for a result from another instruction.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1. Mark the Functional Unit as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Busy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. 2. Mark the destination register as "waiting for this FU's result." 3. Check if source registers (S1, S2) are ready:    • If a source is ready, set its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Ready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flag to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Yes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.    • If a source is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not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ready, note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which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FU it's waiting for and set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Ready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to </a:t>
                      </a: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781427"/>
                  </a:ext>
                </a:extLst>
              </a:tr>
              <a:tr h="10798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2. Read operands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Both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source operands for the instruction have their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Ready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flags set to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Yes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. </a:t>
                      </a:r>
                      <a:r>
                        <a:rPr lang="en-US" sz="1400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(This resolves </a:t>
                      </a:r>
                      <a:r>
                        <a:rPr lang="en-US" sz="1400" b="1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RAW / Read-After-Write</a:t>
                      </a:r>
                      <a:r>
                        <a:rPr lang="en-US" sz="1400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hazards, ensuring data is available before use.)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1. Set the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Ready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flags for </a:t>
                      </a:r>
                      <a:r>
                        <a:rPr lang="en-US" sz="1400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this instruction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back to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(since the operands have now been read).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52113"/>
                  </a:ext>
                </a:extLst>
              </a:tr>
              <a:tr h="6831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3. Execution complete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The Functional Unit has finished its calculation (e.g., the addition or multiplication is done).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(No bookkeeping actions. The result is just held in the FU, waiting to be written.)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713579"/>
                  </a:ext>
                </a:extLst>
              </a:tr>
              <a:tr h="18731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4. Write result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 other instruction (which was issued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earlier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) is still waiting to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read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the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old value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from this instruction's destination register. 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(This resolves </a:t>
                      </a:r>
                      <a:r>
                        <a:rPr lang="en-US" sz="1400" b="1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WAR / Write-After-Read</a:t>
                      </a:r>
                      <a:r>
                        <a:rPr lang="en-US" sz="1400" i="1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hazards, preventing an old instruction from reading a new value prematurely.)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1.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Notify all waiting instructions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: Tell any other instructions that were waiting for </a:t>
                      </a:r>
                      <a:r>
                        <a:rPr lang="en-US" sz="1400" i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this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result that their operand is now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Ready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 (set their flags to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Yes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). 2.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Free the destination register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: Clear its status so other instructions can write to it. 3.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Free the Functional Unit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: Mark the FU as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No longer Busy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47993" marR="47993" marT="31995" marB="319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242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12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CFB4-65D4-AB81-A8F0-D5DE8EEBD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D3562-072A-BC0A-898C-7A2B2C929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978213"/>
              </p:ext>
            </p:extLst>
          </p:nvPr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6FE544-C95F-17C0-0B36-763449261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19298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0D1299-84E0-85F1-AC3F-8CAB8FE89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21018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10FE31-6024-C7C8-51BA-5C772E223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59498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0D0C57-9E40-852B-E8F2-1A2C5F20A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457712"/>
              </p:ext>
            </p:extLst>
          </p:nvPr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60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4BD04-92DC-FE10-49AF-8353C1C31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782E8-C405-6CBE-2CC2-AEFB027E4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2 - Cycle 1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7D0DA1-C7B2-DB13-76EE-A720EEB24C0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A32929-30A0-81B8-7974-8141F002D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857989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6C33C0-AC02-7078-8522-13CA5059A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664556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7E77A2-78A0-9D01-F85C-EED9F1668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24192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6BFE8F-BB90-84A4-E8E6-A8C282E4D212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31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6AB90-D0A7-9FCA-5B2C-45F5E3F8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607A-7103-D739-B907-D16402DC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2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9A04CF-8D8A-1C51-C684-E18F7E07559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0D32BD-96FE-7AF6-2DAD-57558A9E6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986398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25AE50-34F5-7468-E3D8-5BE93A298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371897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751C885-D768-7C76-FDAC-92210BC2A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491153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9387EA-DAA2-CF84-FADA-B63BCB787E01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8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8BB28-4D95-14E1-5BF5-32BEE32A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9A86-D5B2-6F99-C303-028C69A22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3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9F2E0E1-77F6-5DD8-CF60-81107B47B85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E9A14D-D00A-7322-82BE-F97691642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871491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1D2488-5404-AED3-72BC-35CA85FC3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178102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5C447D-261F-2B30-491A-2AF627E98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16204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1720A1-E307-B25D-353B-B90F4A682A2C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7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031F2-3F9C-AC4E-707B-76754147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5408-BF2E-BAFF-6713-48FDC7F07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4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7DD272-A1A4-CE2C-71D3-B13F4B79F95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CF9FDB-D54C-9437-EE3D-B52ECEE11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076431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73A4D5-25B7-BFF0-781A-64AA770D3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4419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6BB6E5-4946-7A6D-E112-176E42E1E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35765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D8107E-0005-E845-4429-78A3EC2F993C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413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8809-2E23-75DD-1E66-3DC4FC42D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C0D2-867E-43E2-3D88-37DEDBF52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5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A6F0CC-B11B-C826-29E4-F42BE41E91B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257A69-375E-8DE2-103A-3BCC082C6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232023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75CB13-2147-2D18-FAC6-73A45CF03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646096"/>
              </p:ext>
            </p:extLst>
          </p:nvPr>
        </p:nvGraphicFramePr>
        <p:xfrm>
          <a:off x="838200" y="3508333"/>
          <a:ext cx="10213258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38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EBD6E9-3DAA-91C7-A7E1-105B1120B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492517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E39E1C-D935-5BF0-E030-BFE1BD53611A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70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63FF2-9FDB-3B43-CEE5-B74776BC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4329-B656-F319-73F2-88FD95ED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6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03250E-D4EE-0BE0-CEA7-444E0AF2368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419EEC-CCC4-D62F-60B8-7868B70B1331}"/>
              </a:ext>
            </a:extLst>
          </p:cNvPr>
          <p:cNvGraphicFramePr>
            <a:graphicFrameLocks noGrp="1"/>
          </p:cNvGraphicFramePr>
          <p:nvPr/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51B363-EEBE-6DF4-90BD-B92D23308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682573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7F0EE5-CB1E-6583-3A27-B33CFC32E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816180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3CC327-2910-85E2-734C-13D2245405F7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02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A8D23-650B-D63C-352F-6F71BBE2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A0FAC-C4AF-16DC-B15E-E8A940588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42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737D3F-7ACF-F907-7544-D2A182B118B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98D90A-3F48-752F-3CF6-94FF16949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4911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BAD3640-2702-6E19-2959-7B3722FD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128782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A4FC1A-D181-887D-628B-00F08D3F8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642797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F7DAB3-C465-940E-E0B9-73326ABC9C66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884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8281-DB08-185A-1A29-CCA04093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D659D-0728-BF04-1745-5F1671409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43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982620-29F6-E421-B2B1-C12A399EF70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D882FB3-39DB-C0BB-A934-BE00DE623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37869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F1DA70-AE21-AF2C-F24B-E44958C5F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842263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44BC10-B636-ED12-FF1A-8782C25CF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965807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C0ACA5-F713-65D7-879C-767B9CC4EE74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6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D16D-C2F8-38C4-4816-F20E382C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885C8-F895-8308-15FB-4E602E83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44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BA56D8-4617-915F-5D73-889C0D05573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0F17CA-4CED-1C80-745B-3182F540E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75684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6956783-0952-7D5D-77A0-337C7CEC564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41D076B-3C77-0797-F186-55037EF98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702304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095372-1872-5338-120E-A4110EF34617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333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A535-979A-EABF-4929-B9F44A89C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92F5-799A-BE53-4D0C-BF50D4144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46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64DB7E-3226-1A1D-D67F-4D14B81CE9C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759E7D-550F-983A-11A5-BE9DC809F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222153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50BED3A-0FF0-F27F-A007-55715917FF2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14CFF6-1B38-C27F-829C-12F41ECDB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473645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0CC6B7-8D58-8485-8AD8-1CAC5A800818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894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FFB40-A901-1F80-9A90-CC96F7E27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EA56-961D-1F65-35A1-91A913ED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47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52C30D-CD8C-3A44-A9D2-888A6E78728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D184B0-D587-B533-167E-A86D74EEC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250212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B743370-8527-1ADD-EFC0-F72927E21BE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Divide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51D839-3CD1-5A03-7A3B-0BB250DAD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33277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676B8F-3992-5BB1-716F-A6E8F35AC8C4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218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06859-665A-8193-EE5E-4BBD252B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678A-FC34-CB3F-6129-F091A5484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48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7C06A3-2FBA-938D-C3B6-6D7ADF28FBB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5417D9-EEBD-FA43-7FEB-6233A8EBA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214543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8D94CD-3AE2-89E3-48B5-EBD294FA4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229867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D1EE23-39BD-D6C5-D168-A0DA9747F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573435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2A21F8-E74F-A752-9FC2-24BE90B0C11D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151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7029-C61C-FCB4-3B55-0E6165491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2A01-4733-C89A-355E-E1B22E2B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49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46974B-FB2C-A644-34D6-4E307613AFB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A0F4E7-FC19-17ED-E37B-A64AFFCB1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187079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1FB48B-55F1-2AF0-7E6D-B625B15D1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087381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9124C84-7D7A-68C3-E22F-37D72D043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647205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407CF1-19A3-7E68-EBD3-7C8A6338AE4E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581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3FECB-29B4-C456-F089-03A3773D2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9D77E-9226-5595-19C5-7E150814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50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BAD538-D4A5-97E5-DD18-83A6CC40D5A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B88D26-2DB4-4615-AF4B-9A0BF41F1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382401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D7D35FD-FEA4-AF03-872D-6AE8160CF6B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D8976A6-80FE-5D1A-3925-C60606579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331304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E1C13C-B538-5837-FC97-CFC6A2FDDA8B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6599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D4CFD-2DCA-7AD8-86B6-719A9A855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51C9-91DB-ECB1-932F-AFE100BF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51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185930-CC8F-A46C-9080-6BE4F603852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045473-53D5-C771-3860-9D1D8ED20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817752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77DB0C-9B25-8332-F197-22897B4AF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925641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D0C249-4DEF-F51E-A899-1591C491F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616199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E175B4-FCDE-C81B-DAB8-0693A8984562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532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A6DBC-2590-E75E-F7F3-86E27E6E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D37D-4C75-17A4-77AB-0B0F57D04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52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A163A9-0976-5086-44A9-B518E5C0FBF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C64C98-70C8-4DED-2204-97E044E40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148005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A095E3-A551-728B-5FCA-0D7F1F684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724417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399CB82-9765-E074-25E9-6EEE239F1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225965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88E635-BEC1-398D-EFF0-15F052BF14C8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095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DC969-CFA3-D4D5-8A27-B470DB3E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F9A5-10AD-2344-5AF2-18D254B9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53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A02C06-DC1B-6F56-C6EE-C10D34F836C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21F4BD-7387-6842-DE37-987573973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436636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26BD36-2B9D-9FEE-4013-7195951AB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412481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AA18EA-089C-6BA1-B1B4-389346CB9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054142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5057D4-5539-7391-0F7F-FFE512037EC7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93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C70A3-D6AD-7080-03D8-0EFC28B85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8FF7-0803-2B83-C967-BCCDEA503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54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B11162-D12E-3901-BD15-F5F9653565C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333A42-3D84-648B-AA90-2D02A3807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12658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6C19069-CD45-551B-9C7E-870F2F212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835476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D23810-B96A-9921-68BB-162C3E6EC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211453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FF75D8-0ED1-83F6-30CB-A68B25850543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909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A1B46-7D55-4ADD-04D7-309F2B114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7F5C-2CE0-A7B9-EEE1-5BC48DAC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55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D4F438-BD80-F456-39A4-BC44193D39C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6D9322-1AC4-C9B9-DF97-A68825D0B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031933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3EA339-D82D-4FE2-78B7-8D1361BF0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651374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E784CF5-91B7-048C-776D-E6C65921E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291339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A7A427-CFE5-A8C2-7C9F-C210B2ABCC70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362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E8034-CDE3-980F-E635-CD1F1D78B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8F40-E897-DEA5-0175-A861FC4B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56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DAB711-6640-890C-4117-6A12417BFA2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85F4F1-C59D-F4AC-B98F-4971718E2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16267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E41B5E-CABB-F19B-F75E-78CE79E56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124487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1025F4-23A6-F14F-9EB4-F9F4E35E0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334196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F88847-49E3-1880-865A-88C0CAADDE0F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090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3C2B8-CEC2-B6E4-691B-C832E3F8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6D785-A532-D1F2-AE81-2AFB8142F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57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67A6AC-B753-1F49-42B0-DA10518207E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26DB21-4050-14A5-6944-711BB5E3A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413475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47A949-09C5-511B-E13C-BBC4D40C5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07979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21515EF-D221-4487-7B94-8E54F6840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029393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3F83F3-05FA-B6B2-5473-E8342BD35241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258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132B6-0DA0-2DCE-6075-323B48FA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BC427-4B38-D63D-86EF-2D1792D48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58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B859F8-88A6-457F-EAE4-E15C5B43B6B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9D0F40-EE02-C01C-CE35-E159E5C7C3B9}"/>
              </a:ext>
            </a:extLst>
          </p:cNvPr>
          <p:cNvGraphicFramePr>
            <a:graphicFrameLocks noGrp="1"/>
          </p:cNvGraphicFramePr>
          <p:nvPr/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D6670B8-5A72-6B3D-156C-607B4E5D6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271531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04EB14-FE80-C96D-0405-F4F8BE112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109579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58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CD6667-8AE8-4556-B323-AE275D317E87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299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3B263-F99B-598C-4B3B-0B25D127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385D6-907D-BF59-E027-56D98323D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60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E0C9E3-80A6-99A0-0C6E-DFA8FFCA632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D2BD78-B528-4A78-6E4A-F6AE480F0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866245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8BBE88-F75B-7F7D-8F8C-47B76F7A1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091383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8A99E0-A0E1-72A9-B145-BE38CC582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225582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023690-1827-4638-E95D-682507BE4A00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037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1BCE4-E95B-2228-E1EA-4B4901B63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78AE-7AA3-C3E8-4E84-6EC50D8B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61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103063-28C0-F09D-AF13-FA3B52E1F4E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DCE64D-3A87-342E-E038-65CCA0852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787991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970B1F2-70D7-E9C5-7A21-A1B982756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646954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F9884CE-AF52-1A5C-9A42-557CEAB0D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76839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F6AD34-B382-1159-F030-9A920ADB3457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104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DE392-CE52-2152-951F-70594980B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F492-DD8D-224D-DFE6-1A279A927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62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B3ABD1-91B3-2B48-80D7-13C1D80B654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4F6083-272B-0235-E9CC-26632C1ED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698587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1BADB0-D279-120F-574D-4F16F2419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02568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E09ACE-B73F-D47D-1511-830D12328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9795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FDDC13-C8A7-F87B-4704-3FC981A88D2D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449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2F9B-F66F-58BC-7D6F-DA1BDCDF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FB3E-0BD6-378B-9E80-64A4BF470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64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1B1AFF-8313-8456-CFD4-6E6FCD2DB5A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8F5323-82A2-4A83-DBE4-01F305382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154094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BDFDE19-74D0-B5A5-1101-7242018B37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8043F0-B15C-A43F-678D-4B9965F15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54301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3E8CE9-DE79-C8A4-3116-67F4BE61F61F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567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4A017-EDC1-823A-DC3C-CDEAFF6A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71A33-2D3C-CB40-E7C3-4808C26B7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65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FC22D0-53DD-E4D3-45FD-6C2F31A4F85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0EB35B-4518-6AB7-2243-6D92C41B5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557486"/>
              </p:ext>
            </p:extLst>
          </p:nvPr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864944-6DDF-DEA3-C979-541B0B3FD5F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Mult 1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Yes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1AADD7-6938-53AC-A27A-CCD8BD1BC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5433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FA970F-F41E-6D12-8084-2DE943E893E4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25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8A4F-1F84-F69C-A447-A1507A32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70B7-E3C6-2EE1-87CA-E6DFE61A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583011"/>
          </a:xfrm>
        </p:spPr>
        <p:txBody>
          <a:bodyPr>
            <a:normAutofit/>
          </a:bodyPr>
          <a:lstStyle/>
          <a:p>
            <a:r>
              <a:rPr lang="en-US" sz="3200" dirty="0"/>
              <a:t>Scoreboard Example 2 – Cycle 66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B77FFC-EE22-6A05-1DD3-08CDACECCA9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3010"/>
          <a:ext cx="276040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101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690101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289813">
                <a:tc gridSpan="4">
                  <a:txBody>
                    <a:bodyPr/>
                    <a:lstStyle/>
                    <a:p>
                      <a:r>
                        <a:rPr lang="en-US" sz="1400" b="1" dirty="0"/>
                        <a:t>Instruction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289813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Instruction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k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12212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DIVD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LD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0+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F0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SUBD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F8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FF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MULT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F6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F2</a:t>
                      </a:r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ADDD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F10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F12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F14</a:t>
                      </a:r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289813">
                <a:tc>
                  <a:txBody>
                    <a:bodyPr/>
                    <a:lstStyle/>
                    <a:p>
                      <a:r>
                        <a:rPr lang="en-US" sz="1400" dirty="0"/>
                        <a:t>LD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8+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56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A1A1C4-F36B-BAEB-97AC-89FEF6C1BCF3}"/>
              </a:ext>
            </a:extLst>
          </p:cNvPr>
          <p:cNvGraphicFramePr>
            <a:graphicFrameLocks noGrp="1"/>
          </p:cNvGraphicFramePr>
          <p:nvPr/>
        </p:nvGraphicFramePr>
        <p:xfrm>
          <a:off x="3773126" y="583009"/>
          <a:ext cx="4181172" cy="2750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293">
                  <a:extLst>
                    <a:ext uri="{9D8B030D-6E8A-4147-A177-3AD203B41FA5}">
                      <a16:colId xmlns:a16="http://schemas.microsoft.com/office/drawing/2014/main" val="3053395187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07275812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3266736975"/>
                    </a:ext>
                  </a:extLst>
                </a:gridCol>
                <a:gridCol w="1045293">
                  <a:extLst>
                    <a:ext uri="{9D8B030D-6E8A-4147-A177-3AD203B41FA5}">
                      <a16:colId xmlns:a16="http://schemas.microsoft.com/office/drawing/2014/main" val="1003642479"/>
                    </a:ext>
                  </a:extLst>
                </a:gridCol>
              </a:tblGrid>
              <a:tr h="617284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Issue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Read Operand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Execution Completion</a:t>
                      </a:r>
                      <a:endParaRPr lang="en-IN" sz="1400" b="1" i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Write Result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9723330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33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01826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2911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86597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092377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65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63964"/>
                  </a:ext>
                </a:extLst>
              </a:tr>
              <a:tr h="303702"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126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D70083-07FC-66CF-B786-8971674A0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354816"/>
              </p:ext>
            </p:extLst>
          </p:nvPr>
        </p:nvGraphicFramePr>
        <p:xfrm>
          <a:off x="838200" y="3508333"/>
          <a:ext cx="10209042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4262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Functional Unit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Busy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Op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dest</a:t>
                      </a:r>
                      <a:r>
                        <a:rPr lang="en-US" sz="1400" b="1" i="1" dirty="0"/>
                        <a:t> Fi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S1 Fj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S2 </a:t>
                      </a:r>
                      <a:r>
                        <a:rPr lang="en-US" sz="1400" b="1" i="1" dirty="0" err="1"/>
                        <a:t>Fk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FU for </a:t>
                      </a:r>
                      <a:r>
                        <a:rPr lang="en-US" sz="1400" b="1" i="1" dirty="0" err="1"/>
                        <a:t>Qk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Fj? </a:t>
                      </a:r>
                      <a:r>
                        <a:rPr lang="en-US" sz="1400" b="1" i="1" dirty="0" err="1"/>
                        <a:t>Rj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 err="1"/>
                        <a:t>Fk</a:t>
                      </a:r>
                      <a:r>
                        <a:rPr lang="en-US" sz="1400" b="1" i="1" dirty="0"/>
                        <a:t>? </a:t>
                      </a:r>
                      <a:r>
                        <a:rPr lang="en-US" sz="1400" b="1" i="1" dirty="0" err="1"/>
                        <a:t>Rk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Time</a:t>
                      </a:r>
                      <a:endParaRPr lang="en-IN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1" dirty="0"/>
                        <a:t>Name</a:t>
                      </a:r>
                      <a:endParaRPr lang="en-IN" sz="1400" b="1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93707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90183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94796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284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6E02B7F-B908-DB38-9980-8F2B531ED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016298"/>
              </p:ext>
            </p:extLst>
          </p:nvPr>
        </p:nvGraphicFramePr>
        <p:xfrm>
          <a:off x="838200" y="5791200"/>
          <a:ext cx="102132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478">
                  <a:extLst>
                    <a:ext uri="{9D8B030D-6E8A-4147-A177-3AD203B41FA5}">
                      <a16:colId xmlns:a16="http://schemas.microsoft.com/office/drawing/2014/main" val="4158107111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697877284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004076415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112697703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33919749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890224846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310226040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368315582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1558069267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4146797719"/>
                    </a:ext>
                  </a:extLst>
                </a:gridCol>
                <a:gridCol w="928478">
                  <a:extLst>
                    <a:ext uri="{9D8B030D-6E8A-4147-A177-3AD203B41FA5}">
                      <a16:colId xmlns:a16="http://schemas.microsoft.com/office/drawing/2014/main" val="2134816647"/>
                    </a:ext>
                  </a:extLst>
                </a:gridCol>
              </a:tblGrid>
              <a:tr h="257959">
                <a:tc gridSpan="2">
                  <a:txBody>
                    <a:bodyPr/>
                    <a:lstStyle/>
                    <a:p>
                      <a:r>
                        <a:rPr lang="en-US" sz="1400" b="1" dirty="0"/>
                        <a:t>Register Result Status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F4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F6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F8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F10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F12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…..</a:t>
                      </a:r>
                      <a:endParaRPr lang="en-IN" sz="1400" b="1" i="1" dirty="0"/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US" sz="1400" b="1" i="1" dirty="0"/>
                        <a:t>F30</a:t>
                      </a:r>
                      <a:endParaRPr lang="en-IN" sz="1400" b="1" i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69718161"/>
                  </a:ext>
                </a:extLst>
              </a:tr>
              <a:tr h="257959">
                <a:tc gridSpan="2">
                  <a:txBody>
                    <a:bodyPr/>
                    <a:lstStyle/>
                    <a:p>
                      <a:r>
                        <a:rPr lang="en-US" sz="1400" b="1" i="1" dirty="0"/>
                        <a:t>Clock</a:t>
                      </a:r>
                      <a:endParaRPr lang="en-IN" sz="1400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i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52359"/>
                  </a:ext>
                </a:extLst>
              </a:tr>
              <a:tr h="257959">
                <a:tc>
                  <a:txBody>
                    <a:bodyPr/>
                    <a:lstStyle/>
                    <a:p>
                      <a:r>
                        <a:rPr lang="en-US" sz="1400" dirty="0"/>
                        <a:t>66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0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48A3BB-A821-180D-C257-301FD3978239}"/>
              </a:ext>
            </a:extLst>
          </p:cNvPr>
          <p:cNvGraphicFramePr>
            <a:graphicFrameLocks noGrp="1"/>
          </p:cNvGraphicFramePr>
          <p:nvPr/>
        </p:nvGraphicFramePr>
        <p:xfrm>
          <a:off x="8128820" y="583010"/>
          <a:ext cx="292263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319">
                  <a:extLst>
                    <a:ext uri="{9D8B030D-6E8A-4147-A177-3AD203B41FA5}">
                      <a16:colId xmlns:a16="http://schemas.microsoft.com/office/drawing/2014/main" val="1933293833"/>
                    </a:ext>
                  </a:extLst>
                </a:gridCol>
                <a:gridCol w="1461319">
                  <a:extLst>
                    <a:ext uri="{9D8B030D-6E8A-4147-A177-3AD203B41FA5}">
                      <a16:colId xmlns:a16="http://schemas.microsoft.com/office/drawing/2014/main" val="72644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Integer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cycle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9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Adder Unit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3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Multiplier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FP Divider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 cycles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3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404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4687</Words>
  <Application>Microsoft Office PowerPoint</Application>
  <PresentationFormat>Widescreen</PresentationFormat>
  <Paragraphs>3167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Three Parts of the Scoreboard</vt:lpstr>
      <vt:lpstr>Detailed Scoreboard Pipeline Control</vt:lpstr>
      <vt:lpstr>Detailed Scoreboard Pipeline Control</vt:lpstr>
      <vt:lpstr>Scoreboard Example 2</vt:lpstr>
      <vt:lpstr>Scoreboard Example 2 - Cycle 1</vt:lpstr>
      <vt:lpstr>Scoreboard Example 2 – Cycle 2</vt:lpstr>
      <vt:lpstr>Scoreboard Example 2 – Cycle 3</vt:lpstr>
      <vt:lpstr>Scoreboard Example 2 – Cycle 4</vt:lpstr>
      <vt:lpstr>Scoreboard Example 2 – Cycle 5</vt:lpstr>
      <vt:lpstr>Scoreboard Example 2 – Cycle 6</vt:lpstr>
      <vt:lpstr>Scoreboard Example 2 – Cycle 42</vt:lpstr>
      <vt:lpstr>Scoreboard Example 2 – Cycle 43</vt:lpstr>
      <vt:lpstr>Scoreboard Example 2 – Cycle 44</vt:lpstr>
      <vt:lpstr>Scoreboard Example 2 – Cycle 46</vt:lpstr>
      <vt:lpstr>Scoreboard Example 2 – Cycle 47</vt:lpstr>
      <vt:lpstr>Scoreboard Example 2 – Cycle 48</vt:lpstr>
      <vt:lpstr>Scoreboard Example 2 – Cycle 49</vt:lpstr>
      <vt:lpstr>Scoreboard Example 2 – Cycle 50</vt:lpstr>
      <vt:lpstr>Scoreboard Example 2 – Cycle 51</vt:lpstr>
      <vt:lpstr>Scoreboard Example 2 – Cycle 52</vt:lpstr>
      <vt:lpstr>Scoreboard Example 2 – Cycle 53</vt:lpstr>
      <vt:lpstr>Scoreboard Example 2 – Cycle 54</vt:lpstr>
      <vt:lpstr>Scoreboard Example 2 – Cycle 55</vt:lpstr>
      <vt:lpstr>Scoreboard Example 2 – Cycle 56</vt:lpstr>
      <vt:lpstr>Scoreboard Example 2 – Cycle 57</vt:lpstr>
      <vt:lpstr>Scoreboard Example 2 – Cycle 58</vt:lpstr>
      <vt:lpstr>Scoreboard Example 2 – Cycle 60</vt:lpstr>
      <vt:lpstr>Scoreboard Example 2 – Cycle 61</vt:lpstr>
      <vt:lpstr>Scoreboard Example 2 – Cycle 62</vt:lpstr>
      <vt:lpstr>Scoreboard Example 2 – Cycle 64</vt:lpstr>
      <vt:lpstr>Scoreboard Example 2 – Cycle 65</vt:lpstr>
      <vt:lpstr>Scoreboard Example 2 – Cycle 66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RAJ</dc:creator>
  <cp:lastModifiedBy>Jyotirman Behera</cp:lastModifiedBy>
  <cp:revision>9</cp:revision>
  <dcterms:created xsi:type="dcterms:W3CDTF">2025-10-22T15:35:06Z</dcterms:created>
  <dcterms:modified xsi:type="dcterms:W3CDTF">2025-11-29T05:43:00Z</dcterms:modified>
</cp:coreProperties>
</file>
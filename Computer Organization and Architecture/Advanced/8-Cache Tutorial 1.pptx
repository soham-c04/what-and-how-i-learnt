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318" r:id="rId2"/>
    <p:sldId id="257" r:id="rId3"/>
    <p:sldId id="259" r:id="rId4"/>
    <p:sldId id="260" r:id="rId5"/>
    <p:sldId id="261" r:id="rId6"/>
    <p:sldId id="262" r:id="rId7"/>
    <p:sldId id="263" r:id="rId8"/>
    <p:sldId id="264" r:id="rId9"/>
    <p:sldId id="265" r:id="rId10"/>
    <p:sldId id="266" r:id="rId11"/>
    <p:sldId id="267" r:id="rId12"/>
    <p:sldId id="268" r:id="rId13"/>
    <p:sldId id="270" r:id="rId14"/>
    <p:sldId id="316"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5" r:id="rId29"/>
    <p:sldId id="284"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10" r:id="rId54"/>
    <p:sldId id="309" r:id="rId55"/>
    <p:sldId id="312" r:id="rId56"/>
    <p:sldId id="313" r:id="rId57"/>
    <p:sldId id="314" r:id="rId58"/>
    <p:sldId id="31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E21C5-62E3-49EB-B93D-68C30CA328DF}" type="datetimeFigureOut">
              <a:rPr lang="en-IN" smtClean="0"/>
              <a:t>22-11-2025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80A5E3-30D1-4B53-BB5C-9309E19846FB}" type="slidenum">
              <a:rPr lang="en-IN" smtClean="0"/>
              <a:t>‹#›</a:t>
            </a:fld>
            <a:endParaRPr lang="en-IN"/>
          </a:p>
        </p:txBody>
      </p:sp>
    </p:spTree>
    <p:extLst>
      <p:ext uri="{BB962C8B-B14F-4D97-AF65-F5344CB8AC3E}">
        <p14:creationId xmlns:p14="http://schemas.microsoft.com/office/powerpoint/2010/main" val="2494645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80A5E3-30D1-4B53-BB5C-9309E19846FB}" type="slidenum">
              <a:rPr lang="en-IN" smtClean="0"/>
              <a:t>8</a:t>
            </a:fld>
            <a:endParaRPr lang="en-IN"/>
          </a:p>
        </p:txBody>
      </p:sp>
    </p:spTree>
    <p:extLst>
      <p:ext uri="{BB962C8B-B14F-4D97-AF65-F5344CB8AC3E}">
        <p14:creationId xmlns:p14="http://schemas.microsoft.com/office/powerpoint/2010/main" val="404832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A1DE8-DF40-A6F1-71FA-1EC0C498A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6D62D-3457-090F-03CB-CECFF1D1A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F11BCE-130D-E080-824B-3F40BD12D83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9460739-45F2-6371-7255-C0092346EF04}"/>
              </a:ext>
            </a:extLst>
          </p:cNvPr>
          <p:cNvSpPr>
            <a:spLocks noGrp="1"/>
          </p:cNvSpPr>
          <p:nvPr>
            <p:ph type="sldNum" sz="quarter" idx="5"/>
          </p:nvPr>
        </p:nvSpPr>
        <p:spPr/>
        <p:txBody>
          <a:bodyPr/>
          <a:lstStyle/>
          <a:p>
            <a:fld id="{A880A5E3-30D1-4B53-BB5C-9309E19846FB}" type="slidenum">
              <a:rPr lang="en-IN" smtClean="0"/>
              <a:t>9</a:t>
            </a:fld>
            <a:endParaRPr lang="en-IN"/>
          </a:p>
        </p:txBody>
      </p:sp>
    </p:spTree>
    <p:extLst>
      <p:ext uri="{BB962C8B-B14F-4D97-AF65-F5344CB8AC3E}">
        <p14:creationId xmlns:p14="http://schemas.microsoft.com/office/powerpoint/2010/main" val="3211893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DF98D-01DF-A4D8-F20A-39B90C78D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A2B82-BFB9-094C-3EB5-81FC14A4F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8878C-3333-370E-FF00-AEF02B192C4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0BAA7E-B53F-F51F-17E2-D87E0DA5E5AB}"/>
              </a:ext>
            </a:extLst>
          </p:cNvPr>
          <p:cNvSpPr>
            <a:spLocks noGrp="1"/>
          </p:cNvSpPr>
          <p:nvPr>
            <p:ph type="sldNum" sz="quarter" idx="5"/>
          </p:nvPr>
        </p:nvSpPr>
        <p:spPr/>
        <p:txBody>
          <a:bodyPr/>
          <a:lstStyle/>
          <a:p>
            <a:fld id="{A880A5E3-30D1-4B53-BB5C-9309E19846FB}" type="slidenum">
              <a:rPr lang="en-IN" smtClean="0"/>
              <a:t>10</a:t>
            </a:fld>
            <a:endParaRPr lang="en-IN"/>
          </a:p>
        </p:txBody>
      </p:sp>
    </p:spTree>
    <p:extLst>
      <p:ext uri="{BB962C8B-B14F-4D97-AF65-F5344CB8AC3E}">
        <p14:creationId xmlns:p14="http://schemas.microsoft.com/office/powerpoint/2010/main" val="1438173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3AED9-FDA4-2B3C-0083-CCE5AE5D7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6DEFD-D86C-A466-B6CE-B309E08AC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84B44D-4587-2391-13E8-F750A6B1B1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A8F0B6-1827-A3B9-AEA1-20E7D1667023}"/>
              </a:ext>
            </a:extLst>
          </p:cNvPr>
          <p:cNvSpPr>
            <a:spLocks noGrp="1"/>
          </p:cNvSpPr>
          <p:nvPr>
            <p:ph type="sldNum" sz="quarter" idx="5"/>
          </p:nvPr>
        </p:nvSpPr>
        <p:spPr/>
        <p:txBody>
          <a:bodyPr/>
          <a:lstStyle/>
          <a:p>
            <a:fld id="{A880A5E3-30D1-4B53-BB5C-9309E19846FB}" type="slidenum">
              <a:rPr lang="en-IN" smtClean="0"/>
              <a:t>11</a:t>
            </a:fld>
            <a:endParaRPr lang="en-IN"/>
          </a:p>
        </p:txBody>
      </p:sp>
    </p:spTree>
    <p:extLst>
      <p:ext uri="{BB962C8B-B14F-4D97-AF65-F5344CB8AC3E}">
        <p14:creationId xmlns:p14="http://schemas.microsoft.com/office/powerpoint/2010/main" val="338341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B6A5C-1C97-ABBB-37AE-BB5F65444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A5C32-5441-D0AC-6C01-BF7851520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3D9E7-02FD-E01C-DFE3-181BD9C949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57E824-A7E4-5E09-EBE0-455116C2DEB4}"/>
              </a:ext>
            </a:extLst>
          </p:cNvPr>
          <p:cNvSpPr>
            <a:spLocks noGrp="1"/>
          </p:cNvSpPr>
          <p:nvPr>
            <p:ph type="sldNum" sz="quarter" idx="5"/>
          </p:nvPr>
        </p:nvSpPr>
        <p:spPr/>
        <p:txBody>
          <a:bodyPr/>
          <a:lstStyle/>
          <a:p>
            <a:fld id="{A880A5E3-30D1-4B53-BB5C-9309E19846FB}" type="slidenum">
              <a:rPr lang="en-IN" smtClean="0"/>
              <a:t>12</a:t>
            </a:fld>
            <a:endParaRPr lang="en-IN"/>
          </a:p>
        </p:txBody>
      </p:sp>
    </p:spTree>
    <p:extLst>
      <p:ext uri="{BB962C8B-B14F-4D97-AF65-F5344CB8AC3E}">
        <p14:creationId xmlns:p14="http://schemas.microsoft.com/office/powerpoint/2010/main" val="2698426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1ECA3-0338-440B-D0B9-5D1DD1E08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8D3A9-75FE-3D0F-1406-1F364FB13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D80BEE-2B11-921A-CA9D-DD502308DC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71F2C0-1C27-54ED-B319-496AD97126C2}"/>
              </a:ext>
            </a:extLst>
          </p:cNvPr>
          <p:cNvSpPr>
            <a:spLocks noGrp="1"/>
          </p:cNvSpPr>
          <p:nvPr>
            <p:ph type="sldNum" sz="quarter" idx="5"/>
          </p:nvPr>
        </p:nvSpPr>
        <p:spPr/>
        <p:txBody>
          <a:bodyPr/>
          <a:lstStyle/>
          <a:p>
            <a:fld id="{A880A5E3-30D1-4B53-BB5C-9309E19846FB}" type="slidenum">
              <a:rPr lang="en-IN" smtClean="0"/>
              <a:t>13</a:t>
            </a:fld>
            <a:endParaRPr lang="en-IN"/>
          </a:p>
        </p:txBody>
      </p:sp>
    </p:spTree>
    <p:extLst>
      <p:ext uri="{BB962C8B-B14F-4D97-AF65-F5344CB8AC3E}">
        <p14:creationId xmlns:p14="http://schemas.microsoft.com/office/powerpoint/2010/main" val="2034611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CCFD5-8B99-275D-45EE-C3FE3767C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7B831-8499-8765-DFA5-C22B48B1B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09E8B4-1924-406B-670F-32F1F60616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8E6BE5-1FFA-6933-782D-0EBB8DE7F943}"/>
              </a:ext>
            </a:extLst>
          </p:cNvPr>
          <p:cNvSpPr>
            <a:spLocks noGrp="1"/>
          </p:cNvSpPr>
          <p:nvPr>
            <p:ph type="sldNum" sz="quarter" idx="5"/>
          </p:nvPr>
        </p:nvSpPr>
        <p:spPr/>
        <p:txBody>
          <a:bodyPr/>
          <a:lstStyle/>
          <a:p>
            <a:fld id="{A880A5E3-30D1-4B53-BB5C-9309E19846FB}" type="slidenum">
              <a:rPr lang="en-IN" smtClean="0"/>
              <a:t>14</a:t>
            </a:fld>
            <a:endParaRPr lang="en-IN"/>
          </a:p>
        </p:txBody>
      </p:sp>
    </p:spTree>
    <p:extLst>
      <p:ext uri="{BB962C8B-B14F-4D97-AF65-F5344CB8AC3E}">
        <p14:creationId xmlns:p14="http://schemas.microsoft.com/office/powerpoint/2010/main" val="3275589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D18B0-09A4-393A-90A2-2FEC792E0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CE3FE-F1B7-2444-C0E6-C397B6E7A5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06958-C39B-538F-7125-9949D7ABF5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B499BD-BC09-32DE-06A6-7CB2FD9C9136}"/>
              </a:ext>
            </a:extLst>
          </p:cNvPr>
          <p:cNvSpPr>
            <a:spLocks noGrp="1"/>
          </p:cNvSpPr>
          <p:nvPr>
            <p:ph type="sldNum" sz="quarter" idx="5"/>
          </p:nvPr>
        </p:nvSpPr>
        <p:spPr/>
        <p:txBody>
          <a:bodyPr/>
          <a:lstStyle/>
          <a:p>
            <a:fld id="{A880A5E3-30D1-4B53-BB5C-9309E19846FB}" type="slidenum">
              <a:rPr lang="en-IN" smtClean="0"/>
              <a:t>15</a:t>
            </a:fld>
            <a:endParaRPr lang="en-IN"/>
          </a:p>
        </p:txBody>
      </p:sp>
    </p:spTree>
    <p:extLst>
      <p:ext uri="{BB962C8B-B14F-4D97-AF65-F5344CB8AC3E}">
        <p14:creationId xmlns:p14="http://schemas.microsoft.com/office/powerpoint/2010/main" val="4042168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9D30-66A2-1023-F3E1-FBE6892E4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2BADD-850E-A2CF-7D09-EEB0A2E3B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5AAD2-8915-73EF-F7FF-89ABB48EEC0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1191DB-EE6F-54EF-8206-63950C2215D7}"/>
              </a:ext>
            </a:extLst>
          </p:cNvPr>
          <p:cNvSpPr>
            <a:spLocks noGrp="1"/>
          </p:cNvSpPr>
          <p:nvPr>
            <p:ph type="sldNum" sz="quarter" idx="5"/>
          </p:nvPr>
        </p:nvSpPr>
        <p:spPr/>
        <p:txBody>
          <a:bodyPr/>
          <a:lstStyle/>
          <a:p>
            <a:fld id="{A880A5E3-30D1-4B53-BB5C-9309E19846FB}" type="slidenum">
              <a:rPr lang="en-IN" smtClean="0"/>
              <a:t>16</a:t>
            </a:fld>
            <a:endParaRPr lang="en-IN"/>
          </a:p>
        </p:txBody>
      </p:sp>
    </p:spTree>
    <p:extLst>
      <p:ext uri="{BB962C8B-B14F-4D97-AF65-F5344CB8AC3E}">
        <p14:creationId xmlns:p14="http://schemas.microsoft.com/office/powerpoint/2010/main" val="2710229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CD328-6901-664A-A1C9-52C3D1030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A1117-C3B8-8AF3-EF23-E4CC7FC57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5CD15-31CE-E32A-F66C-31461D6B24C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A33680-0209-470C-B742-4BF4E0219517}"/>
              </a:ext>
            </a:extLst>
          </p:cNvPr>
          <p:cNvSpPr>
            <a:spLocks noGrp="1"/>
          </p:cNvSpPr>
          <p:nvPr>
            <p:ph type="sldNum" sz="quarter" idx="5"/>
          </p:nvPr>
        </p:nvSpPr>
        <p:spPr/>
        <p:txBody>
          <a:bodyPr/>
          <a:lstStyle/>
          <a:p>
            <a:fld id="{A880A5E3-30D1-4B53-BB5C-9309E19846FB}" type="slidenum">
              <a:rPr lang="en-IN" smtClean="0"/>
              <a:t>17</a:t>
            </a:fld>
            <a:endParaRPr lang="en-IN"/>
          </a:p>
        </p:txBody>
      </p:sp>
    </p:spTree>
    <p:extLst>
      <p:ext uri="{BB962C8B-B14F-4D97-AF65-F5344CB8AC3E}">
        <p14:creationId xmlns:p14="http://schemas.microsoft.com/office/powerpoint/2010/main" val="1663841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5568F-0709-0EBB-E5A5-D1542EA6D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038B-21D9-2A1C-5CD1-61D629FD9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B3B39-E41E-F700-3C4E-4A7FFB7EAA1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ABA2C4-D214-1AA2-362E-B37BF86056F3}"/>
              </a:ext>
            </a:extLst>
          </p:cNvPr>
          <p:cNvSpPr>
            <a:spLocks noGrp="1"/>
          </p:cNvSpPr>
          <p:nvPr>
            <p:ph type="sldNum" sz="quarter" idx="5"/>
          </p:nvPr>
        </p:nvSpPr>
        <p:spPr/>
        <p:txBody>
          <a:bodyPr/>
          <a:lstStyle/>
          <a:p>
            <a:fld id="{A880A5E3-30D1-4B53-BB5C-9309E19846FB}" type="slidenum">
              <a:rPr lang="en-IN" smtClean="0"/>
              <a:t>18</a:t>
            </a:fld>
            <a:endParaRPr lang="en-IN"/>
          </a:p>
        </p:txBody>
      </p:sp>
    </p:spTree>
    <p:extLst>
      <p:ext uri="{BB962C8B-B14F-4D97-AF65-F5344CB8AC3E}">
        <p14:creationId xmlns:p14="http://schemas.microsoft.com/office/powerpoint/2010/main" val="2457962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4526A-1D4F-E8DA-10A5-AB701499E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BEA1F-78BE-A11A-B6EB-92A61FBBF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51D8A-CDBF-709B-2FE6-970FCD3812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61D342-D248-91E3-78F4-34D590729CBE}"/>
              </a:ext>
            </a:extLst>
          </p:cNvPr>
          <p:cNvSpPr>
            <a:spLocks noGrp="1"/>
          </p:cNvSpPr>
          <p:nvPr>
            <p:ph type="sldNum" sz="quarter" idx="5"/>
          </p:nvPr>
        </p:nvSpPr>
        <p:spPr/>
        <p:txBody>
          <a:bodyPr/>
          <a:lstStyle/>
          <a:p>
            <a:fld id="{A880A5E3-30D1-4B53-BB5C-9309E19846FB}" type="slidenum">
              <a:rPr lang="en-IN" smtClean="0"/>
              <a:t>19</a:t>
            </a:fld>
            <a:endParaRPr lang="en-IN"/>
          </a:p>
        </p:txBody>
      </p:sp>
    </p:spTree>
    <p:extLst>
      <p:ext uri="{BB962C8B-B14F-4D97-AF65-F5344CB8AC3E}">
        <p14:creationId xmlns:p14="http://schemas.microsoft.com/office/powerpoint/2010/main" val="3245071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93652-B1F0-1429-5A7A-91662B49A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A18CC-593C-33DE-D914-C002BD703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40086-6F31-3729-96D1-91A3A65B01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4F1EB4-D8DC-3957-03F6-9BE64608BD5C}"/>
              </a:ext>
            </a:extLst>
          </p:cNvPr>
          <p:cNvSpPr>
            <a:spLocks noGrp="1"/>
          </p:cNvSpPr>
          <p:nvPr>
            <p:ph type="sldNum" sz="quarter" idx="5"/>
          </p:nvPr>
        </p:nvSpPr>
        <p:spPr/>
        <p:txBody>
          <a:bodyPr/>
          <a:lstStyle/>
          <a:p>
            <a:fld id="{A880A5E3-30D1-4B53-BB5C-9309E19846FB}" type="slidenum">
              <a:rPr lang="en-IN" smtClean="0"/>
              <a:t>20</a:t>
            </a:fld>
            <a:endParaRPr lang="en-IN"/>
          </a:p>
        </p:txBody>
      </p:sp>
    </p:spTree>
    <p:extLst>
      <p:ext uri="{BB962C8B-B14F-4D97-AF65-F5344CB8AC3E}">
        <p14:creationId xmlns:p14="http://schemas.microsoft.com/office/powerpoint/2010/main" val="3138287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F48D0-A33D-742F-CDCE-171B7B6BE3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C9141-6823-95B2-C7FA-865E37301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018DD-E242-BC9E-5700-65C82F0C99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5DB30B-1F24-B9DE-AB4E-592E89C22D4F}"/>
              </a:ext>
            </a:extLst>
          </p:cNvPr>
          <p:cNvSpPr>
            <a:spLocks noGrp="1"/>
          </p:cNvSpPr>
          <p:nvPr>
            <p:ph type="sldNum" sz="quarter" idx="5"/>
          </p:nvPr>
        </p:nvSpPr>
        <p:spPr/>
        <p:txBody>
          <a:bodyPr/>
          <a:lstStyle/>
          <a:p>
            <a:fld id="{A880A5E3-30D1-4B53-BB5C-9309E19846FB}" type="slidenum">
              <a:rPr lang="en-IN" smtClean="0"/>
              <a:t>21</a:t>
            </a:fld>
            <a:endParaRPr lang="en-IN"/>
          </a:p>
        </p:txBody>
      </p:sp>
    </p:spTree>
    <p:extLst>
      <p:ext uri="{BB962C8B-B14F-4D97-AF65-F5344CB8AC3E}">
        <p14:creationId xmlns:p14="http://schemas.microsoft.com/office/powerpoint/2010/main" val="1997509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9E817-7C5D-8D63-60F7-13AEE168E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9F763-67DE-ED18-BB28-A03458F44C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DAA1F-95BD-842B-6476-09DF34B28EA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EF3AC05-482A-12A0-F0C3-9B9BCF472345}"/>
              </a:ext>
            </a:extLst>
          </p:cNvPr>
          <p:cNvSpPr>
            <a:spLocks noGrp="1"/>
          </p:cNvSpPr>
          <p:nvPr>
            <p:ph type="sldNum" sz="quarter" idx="5"/>
          </p:nvPr>
        </p:nvSpPr>
        <p:spPr/>
        <p:txBody>
          <a:bodyPr/>
          <a:lstStyle/>
          <a:p>
            <a:fld id="{A880A5E3-30D1-4B53-BB5C-9309E19846FB}" type="slidenum">
              <a:rPr lang="en-IN" smtClean="0"/>
              <a:t>22</a:t>
            </a:fld>
            <a:endParaRPr lang="en-IN"/>
          </a:p>
        </p:txBody>
      </p:sp>
    </p:spTree>
    <p:extLst>
      <p:ext uri="{BB962C8B-B14F-4D97-AF65-F5344CB8AC3E}">
        <p14:creationId xmlns:p14="http://schemas.microsoft.com/office/powerpoint/2010/main" val="720062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22C1B-C718-399E-E893-4AE3E0A6C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EF405-FFD6-DD35-5373-5990AC1980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CEE48-BDED-A911-FD31-67251A5FF2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1D62E5E-F981-3B7C-943B-2E9C69E95C8B}"/>
              </a:ext>
            </a:extLst>
          </p:cNvPr>
          <p:cNvSpPr>
            <a:spLocks noGrp="1"/>
          </p:cNvSpPr>
          <p:nvPr>
            <p:ph type="sldNum" sz="quarter" idx="5"/>
          </p:nvPr>
        </p:nvSpPr>
        <p:spPr/>
        <p:txBody>
          <a:bodyPr/>
          <a:lstStyle/>
          <a:p>
            <a:fld id="{A880A5E3-30D1-4B53-BB5C-9309E19846FB}" type="slidenum">
              <a:rPr lang="en-IN" smtClean="0"/>
              <a:t>23</a:t>
            </a:fld>
            <a:endParaRPr lang="en-IN"/>
          </a:p>
        </p:txBody>
      </p:sp>
    </p:spTree>
    <p:extLst>
      <p:ext uri="{BB962C8B-B14F-4D97-AF65-F5344CB8AC3E}">
        <p14:creationId xmlns:p14="http://schemas.microsoft.com/office/powerpoint/2010/main" val="2183739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82DBC-D6A6-01C3-53A2-432417F9E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5ACEB-BD54-9345-D526-0F210C2D1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8EC34-B037-1AF8-3D53-2D538E126F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5C8DA4-D9B2-18E2-F012-96B729FF13CD}"/>
              </a:ext>
            </a:extLst>
          </p:cNvPr>
          <p:cNvSpPr>
            <a:spLocks noGrp="1"/>
          </p:cNvSpPr>
          <p:nvPr>
            <p:ph type="sldNum" sz="quarter" idx="5"/>
          </p:nvPr>
        </p:nvSpPr>
        <p:spPr/>
        <p:txBody>
          <a:bodyPr/>
          <a:lstStyle/>
          <a:p>
            <a:fld id="{A880A5E3-30D1-4B53-BB5C-9309E19846FB}" type="slidenum">
              <a:rPr lang="en-IN" smtClean="0"/>
              <a:t>24</a:t>
            </a:fld>
            <a:endParaRPr lang="en-IN"/>
          </a:p>
        </p:txBody>
      </p:sp>
    </p:spTree>
    <p:extLst>
      <p:ext uri="{BB962C8B-B14F-4D97-AF65-F5344CB8AC3E}">
        <p14:creationId xmlns:p14="http://schemas.microsoft.com/office/powerpoint/2010/main" val="3371196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D31F3-7621-2585-C431-FC1AC1920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97AEA-4F77-F2F8-ADC4-1190CB39B5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793A5-B338-A15B-7DD5-5A01EA2117A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2423BFF-0B9F-B308-B070-8015362F1D95}"/>
              </a:ext>
            </a:extLst>
          </p:cNvPr>
          <p:cNvSpPr>
            <a:spLocks noGrp="1"/>
          </p:cNvSpPr>
          <p:nvPr>
            <p:ph type="sldNum" sz="quarter" idx="5"/>
          </p:nvPr>
        </p:nvSpPr>
        <p:spPr/>
        <p:txBody>
          <a:bodyPr/>
          <a:lstStyle/>
          <a:p>
            <a:fld id="{A880A5E3-30D1-4B53-BB5C-9309E19846FB}" type="slidenum">
              <a:rPr lang="en-IN" smtClean="0"/>
              <a:t>25</a:t>
            </a:fld>
            <a:endParaRPr lang="en-IN"/>
          </a:p>
        </p:txBody>
      </p:sp>
    </p:spTree>
    <p:extLst>
      <p:ext uri="{BB962C8B-B14F-4D97-AF65-F5344CB8AC3E}">
        <p14:creationId xmlns:p14="http://schemas.microsoft.com/office/powerpoint/2010/main" val="2052942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1EC7C-7412-5AD7-5530-2554C5BA0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4C92B-AF40-FFE6-16C3-6748A0ADD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14BC04-2618-D53E-7F11-34A9F2B5EB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8DD31E-1D64-68B8-7C5D-0218940D8A3B}"/>
              </a:ext>
            </a:extLst>
          </p:cNvPr>
          <p:cNvSpPr>
            <a:spLocks noGrp="1"/>
          </p:cNvSpPr>
          <p:nvPr>
            <p:ph type="sldNum" sz="quarter" idx="5"/>
          </p:nvPr>
        </p:nvSpPr>
        <p:spPr/>
        <p:txBody>
          <a:bodyPr/>
          <a:lstStyle/>
          <a:p>
            <a:fld id="{A880A5E3-30D1-4B53-BB5C-9309E19846FB}" type="slidenum">
              <a:rPr lang="en-IN" smtClean="0"/>
              <a:t>26</a:t>
            </a:fld>
            <a:endParaRPr lang="en-IN"/>
          </a:p>
        </p:txBody>
      </p:sp>
    </p:spTree>
    <p:extLst>
      <p:ext uri="{BB962C8B-B14F-4D97-AF65-F5344CB8AC3E}">
        <p14:creationId xmlns:p14="http://schemas.microsoft.com/office/powerpoint/2010/main" val="852596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91DC-5830-932F-9F80-F6FDB51EA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54D70-2663-4A43-6CD1-40B962C876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9F4A2-BF66-852B-2A8D-3087B2BF05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F14148-92F0-F3D4-8B9E-889E74637C1B}"/>
              </a:ext>
            </a:extLst>
          </p:cNvPr>
          <p:cNvSpPr>
            <a:spLocks noGrp="1"/>
          </p:cNvSpPr>
          <p:nvPr>
            <p:ph type="sldNum" sz="quarter" idx="5"/>
          </p:nvPr>
        </p:nvSpPr>
        <p:spPr/>
        <p:txBody>
          <a:bodyPr/>
          <a:lstStyle/>
          <a:p>
            <a:fld id="{A880A5E3-30D1-4B53-BB5C-9309E19846FB}" type="slidenum">
              <a:rPr lang="en-IN" smtClean="0"/>
              <a:t>27</a:t>
            </a:fld>
            <a:endParaRPr lang="en-IN"/>
          </a:p>
        </p:txBody>
      </p:sp>
    </p:spTree>
    <p:extLst>
      <p:ext uri="{BB962C8B-B14F-4D97-AF65-F5344CB8AC3E}">
        <p14:creationId xmlns:p14="http://schemas.microsoft.com/office/powerpoint/2010/main" val="3227631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362A3-9FC2-F678-9D20-AF7E7CA3B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511BE-02FC-4AB5-D9B0-6EBD9C63DB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C1CF4-3007-20D8-633B-65C0D3D2F69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0F78AA8-A874-1485-3541-6A438490F81E}"/>
              </a:ext>
            </a:extLst>
          </p:cNvPr>
          <p:cNvSpPr>
            <a:spLocks noGrp="1"/>
          </p:cNvSpPr>
          <p:nvPr>
            <p:ph type="sldNum" sz="quarter" idx="5"/>
          </p:nvPr>
        </p:nvSpPr>
        <p:spPr/>
        <p:txBody>
          <a:bodyPr/>
          <a:lstStyle/>
          <a:p>
            <a:fld id="{A880A5E3-30D1-4B53-BB5C-9309E19846FB}" type="slidenum">
              <a:rPr lang="en-IN" smtClean="0"/>
              <a:t>28</a:t>
            </a:fld>
            <a:endParaRPr lang="en-IN"/>
          </a:p>
        </p:txBody>
      </p:sp>
    </p:spTree>
    <p:extLst>
      <p:ext uri="{BB962C8B-B14F-4D97-AF65-F5344CB8AC3E}">
        <p14:creationId xmlns:p14="http://schemas.microsoft.com/office/powerpoint/2010/main" val="1368286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74DDB-E43C-850C-B843-C9586FE6F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EF36A-4DF2-607A-D0A2-D499B9E2C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77843-46F7-BB31-AD91-B11020AE199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C4ED3AE-798B-D2C9-07A6-C86C1339FCCC}"/>
              </a:ext>
            </a:extLst>
          </p:cNvPr>
          <p:cNvSpPr>
            <a:spLocks noGrp="1"/>
          </p:cNvSpPr>
          <p:nvPr>
            <p:ph type="sldNum" sz="quarter" idx="5"/>
          </p:nvPr>
        </p:nvSpPr>
        <p:spPr/>
        <p:txBody>
          <a:bodyPr/>
          <a:lstStyle/>
          <a:p>
            <a:fld id="{A880A5E3-30D1-4B53-BB5C-9309E19846FB}" type="slidenum">
              <a:rPr lang="en-IN" smtClean="0"/>
              <a:t>29</a:t>
            </a:fld>
            <a:endParaRPr lang="en-IN"/>
          </a:p>
        </p:txBody>
      </p:sp>
    </p:spTree>
    <p:extLst>
      <p:ext uri="{BB962C8B-B14F-4D97-AF65-F5344CB8AC3E}">
        <p14:creationId xmlns:p14="http://schemas.microsoft.com/office/powerpoint/2010/main" val="3625855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9D370-E9FE-8980-3B41-B558E5A20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61F13-777C-90C6-DFFA-2D4EAD359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B039D-EE9F-1D38-AE8F-C913AD03A08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9D896F3-3D97-A829-4364-238E443274CD}"/>
              </a:ext>
            </a:extLst>
          </p:cNvPr>
          <p:cNvSpPr>
            <a:spLocks noGrp="1"/>
          </p:cNvSpPr>
          <p:nvPr>
            <p:ph type="sldNum" sz="quarter" idx="5"/>
          </p:nvPr>
        </p:nvSpPr>
        <p:spPr/>
        <p:txBody>
          <a:bodyPr/>
          <a:lstStyle/>
          <a:p>
            <a:fld id="{A880A5E3-30D1-4B53-BB5C-9309E19846FB}" type="slidenum">
              <a:rPr lang="en-IN" smtClean="0"/>
              <a:t>30</a:t>
            </a:fld>
            <a:endParaRPr lang="en-IN"/>
          </a:p>
        </p:txBody>
      </p:sp>
    </p:spTree>
    <p:extLst>
      <p:ext uri="{BB962C8B-B14F-4D97-AF65-F5344CB8AC3E}">
        <p14:creationId xmlns:p14="http://schemas.microsoft.com/office/powerpoint/2010/main" val="4229412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791F8-6D3D-5CFE-B8EE-99A8599F5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4157B-594C-B8CC-AE56-CD138CA1F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C2D43-984E-B2E5-BA67-BCB33F6531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9290635-E6BE-7133-116B-D0C8BC8AAC93}"/>
              </a:ext>
            </a:extLst>
          </p:cNvPr>
          <p:cNvSpPr>
            <a:spLocks noGrp="1"/>
          </p:cNvSpPr>
          <p:nvPr>
            <p:ph type="sldNum" sz="quarter" idx="5"/>
          </p:nvPr>
        </p:nvSpPr>
        <p:spPr/>
        <p:txBody>
          <a:bodyPr/>
          <a:lstStyle/>
          <a:p>
            <a:fld id="{A880A5E3-30D1-4B53-BB5C-9309E19846FB}" type="slidenum">
              <a:rPr lang="en-IN" smtClean="0"/>
              <a:t>31</a:t>
            </a:fld>
            <a:endParaRPr lang="en-IN"/>
          </a:p>
        </p:txBody>
      </p:sp>
    </p:spTree>
    <p:extLst>
      <p:ext uri="{BB962C8B-B14F-4D97-AF65-F5344CB8AC3E}">
        <p14:creationId xmlns:p14="http://schemas.microsoft.com/office/powerpoint/2010/main" val="36065123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D7177-497C-8081-7654-AB72E0D66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FB92D-56A5-C519-5AC4-EEDADD7DCB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FF248-83F6-A4C5-7168-8C0A9B95FE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6D3B0C0-F6BE-7B77-628D-997E42D7AC1C}"/>
              </a:ext>
            </a:extLst>
          </p:cNvPr>
          <p:cNvSpPr>
            <a:spLocks noGrp="1"/>
          </p:cNvSpPr>
          <p:nvPr>
            <p:ph type="sldNum" sz="quarter" idx="5"/>
          </p:nvPr>
        </p:nvSpPr>
        <p:spPr/>
        <p:txBody>
          <a:bodyPr/>
          <a:lstStyle/>
          <a:p>
            <a:fld id="{A880A5E3-30D1-4B53-BB5C-9309E19846FB}" type="slidenum">
              <a:rPr lang="en-IN" smtClean="0"/>
              <a:t>32</a:t>
            </a:fld>
            <a:endParaRPr lang="en-IN"/>
          </a:p>
        </p:txBody>
      </p:sp>
    </p:spTree>
    <p:extLst>
      <p:ext uri="{BB962C8B-B14F-4D97-AF65-F5344CB8AC3E}">
        <p14:creationId xmlns:p14="http://schemas.microsoft.com/office/powerpoint/2010/main" val="37862057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AC376-AE01-AF4E-F629-CBDCF432F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97A3B-0B13-ED76-29F4-E9051942C2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2FAE2-1DBC-5563-2A4B-FCE578CDBF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950B4D7-B4C4-D19C-18A7-C1A9551D81AA}"/>
              </a:ext>
            </a:extLst>
          </p:cNvPr>
          <p:cNvSpPr>
            <a:spLocks noGrp="1"/>
          </p:cNvSpPr>
          <p:nvPr>
            <p:ph type="sldNum" sz="quarter" idx="5"/>
          </p:nvPr>
        </p:nvSpPr>
        <p:spPr/>
        <p:txBody>
          <a:bodyPr/>
          <a:lstStyle/>
          <a:p>
            <a:fld id="{A880A5E3-30D1-4B53-BB5C-9309E19846FB}" type="slidenum">
              <a:rPr lang="en-IN" smtClean="0"/>
              <a:t>33</a:t>
            </a:fld>
            <a:endParaRPr lang="en-IN"/>
          </a:p>
        </p:txBody>
      </p:sp>
    </p:spTree>
    <p:extLst>
      <p:ext uri="{BB962C8B-B14F-4D97-AF65-F5344CB8AC3E}">
        <p14:creationId xmlns:p14="http://schemas.microsoft.com/office/powerpoint/2010/main" val="4107075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213EA-09D1-C9FE-B9BC-899ADA5D1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75098-4C88-A260-61FE-B060BACF96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A038B2-9727-76F8-4359-89148B59F1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21FFA2-5B07-B27A-078C-BDC4F332EF99}"/>
              </a:ext>
            </a:extLst>
          </p:cNvPr>
          <p:cNvSpPr>
            <a:spLocks noGrp="1"/>
          </p:cNvSpPr>
          <p:nvPr>
            <p:ph type="sldNum" sz="quarter" idx="5"/>
          </p:nvPr>
        </p:nvSpPr>
        <p:spPr/>
        <p:txBody>
          <a:bodyPr/>
          <a:lstStyle/>
          <a:p>
            <a:fld id="{A880A5E3-30D1-4B53-BB5C-9309E19846FB}" type="slidenum">
              <a:rPr lang="en-IN" smtClean="0"/>
              <a:t>34</a:t>
            </a:fld>
            <a:endParaRPr lang="en-IN"/>
          </a:p>
        </p:txBody>
      </p:sp>
    </p:spTree>
    <p:extLst>
      <p:ext uri="{BB962C8B-B14F-4D97-AF65-F5344CB8AC3E}">
        <p14:creationId xmlns:p14="http://schemas.microsoft.com/office/powerpoint/2010/main" val="4031202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AE1A5-78E1-6005-A5CE-3D7B5166E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2213E-D2C8-5450-43C1-6F9E1DFA9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DB4A4-A33F-0E05-D4C9-89881669DF9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3F1AA6-5E70-DA91-1600-DB96C26C1BD8}"/>
              </a:ext>
            </a:extLst>
          </p:cNvPr>
          <p:cNvSpPr>
            <a:spLocks noGrp="1"/>
          </p:cNvSpPr>
          <p:nvPr>
            <p:ph type="sldNum" sz="quarter" idx="5"/>
          </p:nvPr>
        </p:nvSpPr>
        <p:spPr/>
        <p:txBody>
          <a:bodyPr/>
          <a:lstStyle/>
          <a:p>
            <a:fld id="{A880A5E3-30D1-4B53-BB5C-9309E19846FB}" type="slidenum">
              <a:rPr lang="en-IN" smtClean="0"/>
              <a:t>35</a:t>
            </a:fld>
            <a:endParaRPr lang="en-IN"/>
          </a:p>
        </p:txBody>
      </p:sp>
    </p:spTree>
    <p:extLst>
      <p:ext uri="{BB962C8B-B14F-4D97-AF65-F5344CB8AC3E}">
        <p14:creationId xmlns:p14="http://schemas.microsoft.com/office/powerpoint/2010/main" val="2397218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DF49E-71D3-948C-2A45-09AC0225A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AEA6C-236F-7558-7DED-8B5E3803F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336DA-AFAC-3671-E4B5-DC73AA45E1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860D92-FCEC-F502-C864-4C9BAAED33E3}"/>
              </a:ext>
            </a:extLst>
          </p:cNvPr>
          <p:cNvSpPr>
            <a:spLocks noGrp="1"/>
          </p:cNvSpPr>
          <p:nvPr>
            <p:ph type="sldNum" sz="quarter" idx="5"/>
          </p:nvPr>
        </p:nvSpPr>
        <p:spPr/>
        <p:txBody>
          <a:bodyPr/>
          <a:lstStyle/>
          <a:p>
            <a:fld id="{A880A5E3-30D1-4B53-BB5C-9309E19846FB}" type="slidenum">
              <a:rPr lang="en-IN" smtClean="0"/>
              <a:t>36</a:t>
            </a:fld>
            <a:endParaRPr lang="en-IN"/>
          </a:p>
        </p:txBody>
      </p:sp>
    </p:spTree>
    <p:extLst>
      <p:ext uri="{BB962C8B-B14F-4D97-AF65-F5344CB8AC3E}">
        <p14:creationId xmlns:p14="http://schemas.microsoft.com/office/powerpoint/2010/main" val="165270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3AB75-5493-7ED1-53B3-1E8EF35F7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E53E8-67D6-99F7-4C42-458859F35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F11A3-215D-2061-A1A4-2C1766A4C60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971C339-2A2C-4D54-E467-B037F3E970A1}"/>
              </a:ext>
            </a:extLst>
          </p:cNvPr>
          <p:cNvSpPr>
            <a:spLocks noGrp="1"/>
          </p:cNvSpPr>
          <p:nvPr>
            <p:ph type="sldNum" sz="quarter" idx="5"/>
          </p:nvPr>
        </p:nvSpPr>
        <p:spPr/>
        <p:txBody>
          <a:bodyPr/>
          <a:lstStyle/>
          <a:p>
            <a:fld id="{A880A5E3-30D1-4B53-BB5C-9309E19846FB}" type="slidenum">
              <a:rPr lang="en-IN" smtClean="0"/>
              <a:t>37</a:t>
            </a:fld>
            <a:endParaRPr lang="en-IN"/>
          </a:p>
        </p:txBody>
      </p:sp>
    </p:spTree>
    <p:extLst>
      <p:ext uri="{BB962C8B-B14F-4D97-AF65-F5344CB8AC3E}">
        <p14:creationId xmlns:p14="http://schemas.microsoft.com/office/powerpoint/2010/main" val="25069558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B59AF-BFC6-A784-2945-8F82F8421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59190-89A9-B934-A44E-68874E965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749F7-C0C9-79D9-F93E-B72898F72F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F8465DB-8A0A-508A-9AA0-54B5B2711114}"/>
              </a:ext>
            </a:extLst>
          </p:cNvPr>
          <p:cNvSpPr>
            <a:spLocks noGrp="1"/>
          </p:cNvSpPr>
          <p:nvPr>
            <p:ph type="sldNum" sz="quarter" idx="5"/>
          </p:nvPr>
        </p:nvSpPr>
        <p:spPr/>
        <p:txBody>
          <a:bodyPr/>
          <a:lstStyle/>
          <a:p>
            <a:fld id="{A880A5E3-30D1-4B53-BB5C-9309E19846FB}" type="slidenum">
              <a:rPr lang="en-IN" smtClean="0"/>
              <a:t>38</a:t>
            </a:fld>
            <a:endParaRPr lang="en-IN"/>
          </a:p>
        </p:txBody>
      </p:sp>
    </p:spTree>
    <p:extLst>
      <p:ext uri="{BB962C8B-B14F-4D97-AF65-F5344CB8AC3E}">
        <p14:creationId xmlns:p14="http://schemas.microsoft.com/office/powerpoint/2010/main" val="5164021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F6AA3-A6C8-8529-B163-2446A071E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31C14-A984-93A7-D55D-BE863CB04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2D17D-8E67-A421-511D-8B6D3193939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5F079E-F4F0-755F-7AE0-57C2316C807B}"/>
              </a:ext>
            </a:extLst>
          </p:cNvPr>
          <p:cNvSpPr>
            <a:spLocks noGrp="1"/>
          </p:cNvSpPr>
          <p:nvPr>
            <p:ph type="sldNum" sz="quarter" idx="5"/>
          </p:nvPr>
        </p:nvSpPr>
        <p:spPr/>
        <p:txBody>
          <a:bodyPr/>
          <a:lstStyle/>
          <a:p>
            <a:fld id="{A880A5E3-30D1-4B53-BB5C-9309E19846FB}" type="slidenum">
              <a:rPr lang="en-IN" smtClean="0"/>
              <a:t>39</a:t>
            </a:fld>
            <a:endParaRPr lang="en-IN"/>
          </a:p>
        </p:txBody>
      </p:sp>
    </p:spTree>
    <p:extLst>
      <p:ext uri="{BB962C8B-B14F-4D97-AF65-F5344CB8AC3E}">
        <p14:creationId xmlns:p14="http://schemas.microsoft.com/office/powerpoint/2010/main" val="1678195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B7BB0-6946-F76C-1521-D97FACCA9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2869C-07D2-5AA5-AFBA-51AF15A44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AD4A41-F261-0BB0-E361-32EAEAC515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23B94A-FAC0-66F1-91E0-395876575F32}"/>
              </a:ext>
            </a:extLst>
          </p:cNvPr>
          <p:cNvSpPr>
            <a:spLocks noGrp="1"/>
          </p:cNvSpPr>
          <p:nvPr>
            <p:ph type="sldNum" sz="quarter" idx="5"/>
          </p:nvPr>
        </p:nvSpPr>
        <p:spPr/>
        <p:txBody>
          <a:bodyPr/>
          <a:lstStyle/>
          <a:p>
            <a:fld id="{A880A5E3-30D1-4B53-BB5C-9309E19846FB}" type="slidenum">
              <a:rPr lang="en-IN" smtClean="0"/>
              <a:t>40</a:t>
            </a:fld>
            <a:endParaRPr lang="en-IN"/>
          </a:p>
        </p:txBody>
      </p:sp>
    </p:spTree>
    <p:extLst>
      <p:ext uri="{BB962C8B-B14F-4D97-AF65-F5344CB8AC3E}">
        <p14:creationId xmlns:p14="http://schemas.microsoft.com/office/powerpoint/2010/main" val="699910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C3F9F-A6F7-8948-32B6-458947F92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E0DC1-63CB-D019-D9DB-19E331A27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9AE46D-39DE-7016-0096-F7C1D78EE1D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DBDFB9-0D36-4C07-3402-6BF00D3F8B0D}"/>
              </a:ext>
            </a:extLst>
          </p:cNvPr>
          <p:cNvSpPr>
            <a:spLocks noGrp="1"/>
          </p:cNvSpPr>
          <p:nvPr>
            <p:ph type="sldNum" sz="quarter" idx="5"/>
          </p:nvPr>
        </p:nvSpPr>
        <p:spPr/>
        <p:txBody>
          <a:bodyPr/>
          <a:lstStyle/>
          <a:p>
            <a:fld id="{A880A5E3-30D1-4B53-BB5C-9309E19846FB}" type="slidenum">
              <a:rPr lang="en-IN" smtClean="0"/>
              <a:t>41</a:t>
            </a:fld>
            <a:endParaRPr lang="en-IN"/>
          </a:p>
        </p:txBody>
      </p:sp>
    </p:spTree>
    <p:extLst>
      <p:ext uri="{BB962C8B-B14F-4D97-AF65-F5344CB8AC3E}">
        <p14:creationId xmlns:p14="http://schemas.microsoft.com/office/powerpoint/2010/main" val="40867149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DD50A-B9D9-DE3D-F7AC-D8A7E761A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766DB-8BC1-4493-C3F5-ACD09D951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7A4D5-B8A1-3FFD-5C2B-F19CE11615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7F0BAB5-0DBA-709D-CF6B-91E86E9F3FF6}"/>
              </a:ext>
            </a:extLst>
          </p:cNvPr>
          <p:cNvSpPr>
            <a:spLocks noGrp="1"/>
          </p:cNvSpPr>
          <p:nvPr>
            <p:ph type="sldNum" sz="quarter" idx="5"/>
          </p:nvPr>
        </p:nvSpPr>
        <p:spPr/>
        <p:txBody>
          <a:bodyPr/>
          <a:lstStyle/>
          <a:p>
            <a:fld id="{A880A5E3-30D1-4B53-BB5C-9309E19846FB}" type="slidenum">
              <a:rPr lang="en-IN" smtClean="0"/>
              <a:t>42</a:t>
            </a:fld>
            <a:endParaRPr lang="en-IN"/>
          </a:p>
        </p:txBody>
      </p:sp>
    </p:spTree>
    <p:extLst>
      <p:ext uri="{BB962C8B-B14F-4D97-AF65-F5344CB8AC3E}">
        <p14:creationId xmlns:p14="http://schemas.microsoft.com/office/powerpoint/2010/main" val="13055960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780A7-F117-7F31-C936-8CE9B2757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CA98C-6ABE-6C9B-FBCC-3B9A54CCED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66D1F-0163-44D3-E868-5382D9D569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2745D92-DBA6-547D-07A2-DF7C9C1C70E9}"/>
              </a:ext>
            </a:extLst>
          </p:cNvPr>
          <p:cNvSpPr>
            <a:spLocks noGrp="1"/>
          </p:cNvSpPr>
          <p:nvPr>
            <p:ph type="sldNum" sz="quarter" idx="5"/>
          </p:nvPr>
        </p:nvSpPr>
        <p:spPr/>
        <p:txBody>
          <a:bodyPr/>
          <a:lstStyle/>
          <a:p>
            <a:fld id="{A880A5E3-30D1-4B53-BB5C-9309E19846FB}" type="slidenum">
              <a:rPr lang="en-IN" smtClean="0"/>
              <a:t>43</a:t>
            </a:fld>
            <a:endParaRPr lang="en-IN"/>
          </a:p>
        </p:txBody>
      </p:sp>
    </p:spTree>
    <p:extLst>
      <p:ext uri="{BB962C8B-B14F-4D97-AF65-F5344CB8AC3E}">
        <p14:creationId xmlns:p14="http://schemas.microsoft.com/office/powerpoint/2010/main" val="24897561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6BDE-57F6-058C-1151-3544C4B2D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DEC0B-20D1-50EB-21D8-7FAD6CB62C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9F4638-20D8-7EA9-5085-90D69D3AD5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1A71FA-FDC9-0743-942B-91CCC4C3E1A4}"/>
              </a:ext>
            </a:extLst>
          </p:cNvPr>
          <p:cNvSpPr>
            <a:spLocks noGrp="1"/>
          </p:cNvSpPr>
          <p:nvPr>
            <p:ph type="sldNum" sz="quarter" idx="5"/>
          </p:nvPr>
        </p:nvSpPr>
        <p:spPr/>
        <p:txBody>
          <a:bodyPr/>
          <a:lstStyle/>
          <a:p>
            <a:fld id="{A880A5E3-30D1-4B53-BB5C-9309E19846FB}" type="slidenum">
              <a:rPr lang="en-IN" smtClean="0"/>
              <a:t>44</a:t>
            </a:fld>
            <a:endParaRPr lang="en-IN"/>
          </a:p>
        </p:txBody>
      </p:sp>
    </p:spTree>
    <p:extLst>
      <p:ext uri="{BB962C8B-B14F-4D97-AF65-F5344CB8AC3E}">
        <p14:creationId xmlns:p14="http://schemas.microsoft.com/office/powerpoint/2010/main" val="3663805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5A247-8548-54CE-7477-AD7B1D84E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B958B-0DF1-F8BC-A178-610A3081F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BBA70-FD30-60B0-B6F2-EE00EE2D8C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50676A-0152-7F7C-4616-E47332846A51}"/>
              </a:ext>
            </a:extLst>
          </p:cNvPr>
          <p:cNvSpPr>
            <a:spLocks noGrp="1"/>
          </p:cNvSpPr>
          <p:nvPr>
            <p:ph type="sldNum" sz="quarter" idx="5"/>
          </p:nvPr>
        </p:nvSpPr>
        <p:spPr/>
        <p:txBody>
          <a:bodyPr/>
          <a:lstStyle/>
          <a:p>
            <a:fld id="{A880A5E3-30D1-4B53-BB5C-9309E19846FB}" type="slidenum">
              <a:rPr lang="en-IN" smtClean="0"/>
              <a:t>45</a:t>
            </a:fld>
            <a:endParaRPr lang="en-IN"/>
          </a:p>
        </p:txBody>
      </p:sp>
    </p:spTree>
    <p:extLst>
      <p:ext uri="{BB962C8B-B14F-4D97-AF65-F5344CB8AC3E}">
        <p14:creationId xmlns:p14="http://schemas.microsoft.com/office/powerpoint/2010/main" val="20468465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80046-40DD-1A0F-F81F-71B87CED8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8BCE5-C5EE-8E1C-4F8F-ECE76835E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8210E-E891-AD43-E72E-1A52429834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E3E9D6A-2460-719D-CF7E-EA2F348E1BD8}"/>
              </a:ext>
            </a:extLst>
          </p:cNvPr>
          <p:cNvSpPr>
            <a:spLocks noGrp="1"/>
          </p:cNvSpPr>
          <p:nvPr>
            <p:ph type="sldNum" sz="quarter" idx="5"/>
          </p:nvPr>
        </p:nvSpPr>
        <p:spPr/>
        <p:txBody>
          <a:bodyPr/>
          <a:lstStyle/>
          <a:p>
            <a:fld id="{A880A5E3-30D1-4B53-BB5C-9309E19846FB}" type="slidenum">
              <a:rPr lang="en-IN" smtClean="0"/>
              <a:t>46</a:t>
            </a:fld>
            <a:endParaRPr lang="en-IN"/>
          </a:p>
        </p:txBody>
      </p:sp>
    </p:spTree>
    <p:extLst>
      <p:ext uri="{BB962C8B-B14F-4D97-AF65-F5344CB8AC3E}">
        <p14:creationId xmlns:p14="http://schemas.microsoft.com/office/powerpoint/2010/main" val="39949846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C851E-4F5D-862E-7CF6-7EF1C7867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F74BC-041F-96A9-4889-902A884FF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8568B-443A-3035-7825-8774D9668B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BA1571-399C-DC2F-34BE-D3E7C3B10A9C}"/>
              </a:ext>
            </a:extLst>
          </p:cNvPr>
          <p:cNvSpPr>
            <a:spLocks noGrp="1"/>
          </p:cNvSpPr>
          <p:nvPr>
            <p:ph type="sldNum" sz="quarter" idx="5"/>
          </p:nvPr>
        </p:nvSpPr>
        <p:spPr/>
        <p:txBody>
          <a:bodyPr/>
          <a:lstStyle/>
          <a:p>
            <a:fld id="{A880A5E3-30D1-4B53-BB5C-9309E19846FB}" type="slidenum">
              <a:rPr lang="en-IN" smtClean="0"/>
              <a:t>47</a:t>
            </a:fld>
            <a:endParaRPr lang="en-IN"/>
          </a:p>
        </p:txBody>
      </p:sp>
    </p:spTree>
    <p:extLst>
      <p:ext uri="{BB962C8B-B14F-4D97-AF65-F5344CB8AC3E}">
        <p14:creationId xmlns:p14="http://schemas.microsoft.com/office/powerpoint/2010/main" val="17041233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1648C-C09B-514E-EBEC-47681DF17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E8AC9-B54C-236A-6886-D7B700F95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8FFC6-0F16-78F0-97D7-D629B0F532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9CD24E-9AAB-099B-AEC4-3E1799BE0ABB}"/>
              </a:ext>
            </a:extLst>
          </p:cNvPr>
          <p:cNvSpPr>
            <a:spLocks noGrp="1"/>
          </p:cNvSpPr>
          <p:nvPr>
            <p:ph type="sldNum" sz="quarter" idx="5"/>
          </p:nvPr>
        </p:nvSpPr>
        <p:spPr/>
        <p:txBody>
          <a:bodyPr/>
          <a:lstStyle/>
          <a:p>
            <a:fld id="{A880A5E3-30D1-4B53-BB5C-9309E19846FB}" type="slidenum">
              <a:rPr lang="en-IN" smtClean="0"/>
              <a:t>48</a:t>
            </a:fld>
            <a:endParaRPr lang="en-IN"/>
          </a:p>
        </p:txBody>
      </p:sp>
    </p:spTree>
    <p:extLst>
      <p:ext uri="{BB962C8B-B14F-4D97-AF65-F5344CB8AC3E}">
        <p14:creationId xmlns:p14="http://schemas.microsoft.com/office/powerpoint/2010/main" val="13979604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EAE37-BB5B-8765-EB5E-0B2A15CC8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F5524-43B7-E763-0BC7-5A8AE756E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E0EBE-F080-18FD-848E-4E0A667B0C2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48332D-4BAE-EB2E-96E5-1D8B2A6DD222}"/>
              </a:ext>
            </a:extLst>
          </p:cNvPr>
          <p:cNvSpPr>
            <a:spLocks noGrp="1"/>
          </p:cNvSpPr>
          <p:nvPr>
            <p:ph type="sldNum" sz="quarter" idx="5"/>
          </p:nvPr>
        </p:nvSpPr>
        <p:spPr/>
        <p:txBody>
          <a:bodyPr/>
          <a:lstStyle/>
          <a:p>
            <a:fld id="{A880A5E3-30D1-4B53-BB5C-9309E19846FB}" type="slidenum">
              <a:rPr lang="en-IN" smtClean="0"/>
              <a:t>49</a:t>
            </a:fld>
            <a:endParaRPr lang="en-IN"/>
          </a:p>
        </p:txBody>
      </p:sp>
    </p:spTree>
    <p:extLst>
      <p:ext uri="{BB962C8B-B14F-4D97-AF65-F5344CB8AC3E}">
        <p14:creationId xmlns:p14="http://schemas.microsoft.com/office/powerpoint/2010/main" val="10906513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5131A-E18C-2273-FE97-1CB9EE980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602A0-6B56-A1A6-6F27-2223A71DF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78500-09A9-7679-FF52-7757E32C1F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E98A0CC-D643-5FE0-460E-50E15A31D394}"/>
              </a:ext>
            </a:extLst>
          </p:cNvPr>
          <p:cNvSpPr>
            <a:spLocks noGrp="1"/>
          </p:cNvSpPr>
          <p:nvPr>
            <p:ph type="sldNum" sz="quarter" idx="5"/>
          </p:nvPr>
        </p:nvSpPr>
        <p:spPr/>
        <p:txBody>
          <a:bodyPr/>
          <a:lstStyle/>
          <a:p>
            <a:fld id="{A880A5E3-30D1-4B53-BB5C-9309E19846FB}" type="slidenum">
              <a:rPr lang="en-IN" smtClean="0"/>
              <a:t>50</a:t>
            </a:fld>
            <a:endParaRPr lang="en-IN"/>
          </a:p>
        </p:txBody>
      </p:sp>
    </p:spTree>
    <p:extLst>
      <p:ext uri="{BB962C8B-B14F-4D97-AF65-F5344CB8AC3E}">
        <p14:creationId xmlns:p14="http://schemas.microsoft.com/office/powerpoint/2010/main" val="8104292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0E1D2-A8AE-6315-8DCC-9A0DB61C2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96200-D46C-72C4-303F-CDABB274C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22E11-47E3-A242-CDCD-F520943A9E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7B3DF38-9093-151D-1F58-175DA94F44E1}"/>
              </a:ext>
            </a:extLst>
          </p:cNvPr>
          <p:cNvSpPr>
            <a:spLocks noGrp="1"/>
          </p:cNvSpPr>
          <p:nvPr>
            <p:ph type="sldNum" sz="quarter" idx="5"/>
          </p:nvPr>
        </p:nvSpPr>
        <p:spPr/>
        <p:txBody>
          <a:bodyPr/>
          <a:lstStyle/>
          <a:p>
            <a:fld id="{A880A5E3-30D1-4B53-BB5C-9309E19846FB}" type="slidenum">
              <a:rPr lang="en-IN" smtClean="0"/>
              <a:t>51</a:t>
            </a:fld>
            <a:endParaRPr lang="en-IN"/>
          </a:p>
        </p:txBody>
      </p:sp>
    </p:spTree>
    <p:extLst>
      <p:ext uri="{BB962C8B-B14F-4D97-AF65-F5344CB8AC3E}">
        <p14:creationId xmlns:p14="http://schemas.microsoft.com/office/powerpoint/2010/main" val="27442097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30E8C-DDC8-43FE-640C-34603322E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2824D-1873-6BCF-3080-27FA03F59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AB9D3-834F-470C-FC99-76E46A92DC0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31B6CA-086E-6728-B6DD-4B71E03D5DAB}"/>
              </a:ext>
            </a:extLst>
          </p:cNvPr>
          <p:cNvSpPr>
            <a:spLocks noGrp="1"/>
          </p:cNvSpPr>
          <p:nvPr>
            <p:ph type="sldNum" sz="quarter" idx="5"/>
          </p:nvPr>
        </p:nvSpPr>
        <p:spPr/>
        <p:txBody>
          <a:bodyPr/>
          <a:lstStyle/>
          <a:p>
            <a:fld id="{A880A5E3-30D1-4B53-BB5C-9309E19846FB}" type="slidenum">
              <a:rPr lang="en-IN" smtClean="0"/>
              <a:t>52</a:t>
            </a:fld>
            <a:endParaRPr lang="en-IN"/>
          </a:p>
        </p:txBody>
      </p:sp>
    </p:spTree>
    <p:extLst>
      <p:ext uri="{BB962C8B-B14F-4D97-AF65-F5344CB8AC3E}">
        <p14:creationId xmlns:p14="http://schemas.microsoft.com/office/powerpoint/2010/main" val="512596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8483B-EB2F-A814-BA56-F8B38A16D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135FB-F5A2-7A55-E92E-862EB7D5B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BE57A-530D-168F-FBF6-38E26CAB02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D8A395-6A05-70B2-3DAF-586503701911}"/>
              </a:ext>
            </a:extLst>
          </p:cNvPr>
          <p:cNvSpPr>
            <a:spLocks noGrp="1"/>
          </p:cNvSpPr>
          <p:nvPr>
            <p:ph type="sldNum" sz="quarter" idx="5"/>
          </p:nvPr>
        </p:nvSpPr>
        <p:spPr/>
        <p:txBody>
          <a:bodyPr/>
          <a:lstStyle/>
          <a:p>
            <a:fld id="{A880A5E3-30D1-4B53-BB5C-9309E19846FB}" type="slidenum">
              <a:rPr lang="en-IN" smtClean="0"/>
              <a:t>53</a:t>
            </a:fld>
            <a:endParaRPr lang="en-IN"/>
          </a:p>
        </p:txBody>
      </p:sp>
    </p:spTree>
    <p:extLst>
      <p:ext uri="{BB962C8B-B14F-4D97-AF65-F5344CB8AC3E}">
        <p14:creationId xmlns:p14="http://schemas.microsoft.com/office/powerpoint/2010/main" val="3908474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177ED-7739-DB74-2625-331E13265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25C5E-BA6C-60DB-4E14-C905B7D93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52EC4F-714A-DDA8-5B62-DFD88DA1092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438131-13CB-BA78-AC95-B3FE395860DD}"/>
              </a:ext>
            </a:extLst>
          </p:cNvPr>
          <p:cNvSpPr>
            <a:spLocks noGrp="1"/>
          </p:cNvSpPr>
          <p:nvPr>
            <p:ph type="sldNum" sz="quarter" idx="5"/>
          </p:nvPr>
        </p:nvSpPr>
        <p:spPr/>
        <p:txBody>
          <a:bodyPr/>
          <a:lstStyle/>
          <a:p>
            <a:fld id="{A880A5E3-30D1-4B53-BB5C-9309E19846FB}" type="slidenum">
              <a:rPr lang="en-IN" smtClean="0"/>
              <a:t>54</a:t>
            </a:fld>
            <a:endParaRPr lang="en-IN"/>
          </a:p>
        </p:txBody>
      </p:sp>
    </p:spTree>
    <p:extLst>
      <p:ext uri="{BB962C8B-B14F-4D97-AF65-F5344CB8AC3E}">
        <p14:creationId xmlns:p14="http://schemas.microsoft.com/office/powerpoint/2010/main" val="1077794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CB355-CB50-9FF9-12F6-78CD2E45F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8CBA0-D50C-618D-22DE-E4AB2A4C7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F1912-BEBC-65E4-CE8F-6792E57E24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03BA6D-B543-4857-104B-2BFC1D8166AB}"/>
              </a:ext>
            </a:extLst>
          </p:cNvPr>
          <p:cNvSpPr>
            <a:spLocks noGrp="1"/>
          </p:cNvSpPr>
          <p:nvPr>
            <p:ph type="sldNum" sz="quarter" idx="5"/>
          </p:nvPr>
        </p:nvSpPr>
        <p:spPr/>
        <p:txBody>
          <a:bodyPr/>
          <a:lstStyle/>
          <a:p>
            <a:fld id="{A880A5E3-30D1-4B53-BB5C-9309E19846FB}" type="slidenum">
              <a:rPr lang="en-IN" smtClean="0"/>
              <a:t>55</a:t>
            </a:fld>
            <a:endParaRPr lang="en-IN"/>
          </a:p>
        </p:txBody>
      </p:sp>
    </p:spTree>
    <p:extLst>
      <p:ext uri="{BB962C8B-B14F-4D97-AF65-F5344CB8AC3E}">
        <p14:creationId xmlns:p14="http://schemas.microsoft.com/office/powerpoint/2010/main" val="8575309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202D-6E7D-4779-6FBF-37848017F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77B92-8791-C3EC-CB29-6EA5D4445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89F67-FB01-C2A3-04AB-45A3D43F10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AF75CB-D38B-CD8F-D4B6-DB3B44602067}"/>
              </a:ext>
            </a:extLst>
          </p:cNvPr>
          <p:cNvSpPr>
            <a:spLocks noGrp="1"/>
          </p:cNvSpPr>
          <p:nvPr>
            <p:ph type="sldNum" sz="quarter" idx="5"/>
          </p:nvPr>
        </p:nvSpPr>
        <p:spPr/>
        <p:txBody>
          <a:bodyPr/>
          <a:lstStyle/>
          <a:p>
            <a:fld id="{A880A5E3-30D1-4B53-BB5C-9309E19846FB}" type="slidenum">
              <a:rPr lang="en-IN" smtClean="0"/>
              <a:t>56</a:t>
            </a:fld>
            <a:endParaRPr lang="en-IN"/>
          </a:p>
        </p:txBody>
      </p:sp>
    </p:spTree>
    <p:extLst>
      <p:ext uri="{BB962C8B-B14F-4D97-AF65-F5344CB8AC3E}">
        <p14:creationId xmlns:p14="http://schemas.microsoft.com/office/powerpoint/2010/main" val="37072376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A6BF5-4DAE-4358-A755-5BE2454FB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7D22D-C5E0-F94A-734F-518D3B0CB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76F83-E2BD-1CBC-DF71-B13B9E76F3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E75C57-A607-2A46-1F33-664B43DBEBCB}"/>
              </a:ext>
            </a:extLst>
          </p:cNvPr>
          <p:cNvSpPr>
            <a:spLocks noGrp="1"/>
          </p:cNvSpPr>
          <p:nvPr>
            <p:ph type="sldNum" sz="quarter" idx="5"/>
          </p:nvPr>
        </p:nvSpPr>
        <p:spPr/>
        <p:txBody>
          <a:bodyPr/>
          <a:lstStyle/>
          <a:p>
            <a:fld id="{A880A5E3-30D1-4B53-BB5C-9309E19846FB}" type="slidenum">
              <a:rPr lang="en-IN" smtClean="0"/>
              <a:t>57</a:t>
            </a:fld>
            <a:endParaRPr lang="en-IN"/>
          </a:p>
        </p:txBody>
      </p:sp>
    </p:spTree>
    <p:extLst>
      <p:ext uri="{BB962C8B-B14F-4D97-AF65-F5344CB8AC3E}">
        <p14:creationId xmlns:p14="http://schemas.microsoft.com/office/powerpoint/2010/main" val="13765954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FF5CB-8C65-1B44-978A-909C3DE7D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02A4D-6179-36F1-FC28-93812DA6F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0A7B0-AB44-C39D-C38A-667572EDC6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AEE4F0-589A-8508-66DE-1566B2E69E32}"/>
              </a:ext>
            </a:extLst>
          </p:cNvPr>
          <p:cNvSpPr>
            <a:spLocks noGrp="1"/>
          </p:cNvSpPr>
          <p:nvPr>
            <p:ph type="sldNum" sz="quarter" idx="5"/>
          </p:nvPr>
        </p:nvSpPr>
        <p:spPr/>
        <p:txBody>
          <a:bodyPr/>
          <a:lstStyle/>
          <a:p>
            <a:fld id="{A880A5E3-30D1-4B53-BB5C-9309E19846FB}" type="slidenum">
              <a:rPr lang="en-IN" smtClean="0"/>
              <a:t>58</a:t>
            </a:fld>
            <a:endParaRPr lang="en-IN"/>
          </a:p>
        </p:txBody>
      </p:sp>
    </p:spTree>
    <p:extLst>
      <p:ext uri="{BB962C8B-B14F-4D97-AF65-F5344CB8AC3E}">
        <p14:creationId xmlns:p14="http://schemas.microsoft.com/office/powerpoint/2010/main" val="2120778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B60F5-158C-5D22-3C6D-409F7CA6D7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F8282F0-5BA3-D68C-A8ED-1D94078EF7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200330-3AC3-8046-C80C-59ED947CD325}"/>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5" name="Footer Placeholder 4">
            <a:extLst>
              <a:ext uri="{FF2B5EF4-FFF2-40B4-BE49-F238E27FC236}">
                <a16:creationId xmlns:a16="http://schemas.microsoft.com/office/drawing/2014/main" id="{35F7D3D2-19D9-9078-AD95-BA301E2567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5BFA80-A8C4-991E-8043-F4ED6FB41DDB}"/>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2035428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F8A99-48BE-643C-ABF0-265346AF69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3160EA-C685-FC4A-9F4F-32E7CF83E6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58F21F-26E6-8231-464F-F2419548A783}"/>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5" name="Footer Placeholder 4">
            <a:extLst>
              <a:ext uri="{FF2B5EF4-FFF2-40B4-BE49-F238E27FC236}">
                <a16:creationId xmlns:a16="http://schemas.microsoft.com/office/drawing/2014/main" id="{411B42AA-7C08-FD74-13DD-7906DAAE85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592C5E-BD28-A95A-4E82-BCA3129DD622}"/>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2853451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0722C-759D-191D-4882-5599F0BE8F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01E6D8-0CFA-1EDF-9966-92C5166949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6D17FA-8C64-DDC0-09A7-B933533CD356}"/>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5" name="Footer Placeholder 4">
            <a:extLst>
              <a:ext uri="{FF2B5EF4-FFF2-40B4-BE49-F238E27FC236}">
                <a16:creationId xmlns:a16="http://schemas.microsoft.com/office/drawing/2014/main" id="{AF1B48E7-6F96-3914-50D7-CB35040E78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49DE2B-5CEA-F5BE-D657-AA8E7F7B78F7}"/>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2691884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74918-9826-4E79-5A8A-76936B7096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949D38-BBA7-F6B6-0B4B-A1A55E6B30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DAB79E-C494-B2F6-B852-E2A227EEAD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EBF9A9F-81F0-D9A8-1285-649BCCA73AB3}"/>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6" name="Footer Placeholder 5">
            <a:extLst>
              <a:ext uri="{FF2B5EF4-FFF2-40B4-BE49-F238E27FC236}">
                <a16:creationId xmlns:a16="http://schemas.microsoft.com/office/drawing/2014/main" id="{2314D0A2-32E2-D9A9-CFB0-BA39D01C3E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4C752C-5DFB-0D1E-C246-14C04A602103}"/>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836570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E6C1-35D8-DBF3-92BB-93183F92B0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F6CA86-E0D3-0B65-7B0E-157DFFE5E0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C739AA-793B-7FB5-5118-B3005C018C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990637-677F-C0C7-AAE5-D5BCB01C0C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7DC822-47B1-AB62-F906-AFC86D953E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39A0D4-0851-B769-6811-443EB1BD40D4}"/>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8" name="Footer Placeholder 7">
            <a:extLst>
              <a:ext uri="{FF2B5EF4-FFF2-40B4-BE49-F238E27FC236}">
                <a16:creationId xmlns:a16="http://schemas.microsoft.com/office/drawing/2014/main" id="{87818180-C94F-6EEA-BB75-21724C9592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8CBCAB-FFA5-442F-F3D7-499B5C0BC22D}"/>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3210245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63CDC-73A9-224D-A390-5670C67F9F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301A2D-B032-B1EF-AF80-6AB4DA8AA9E4}"/>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4" name="Footer Placeholder 3">
            <a:extLst>
              <a:ext uri="{FF2B5EF4-FFF2-40B4-BE49-F238E27FC236}">
                <a16:creationId xmlns:a16="http://schemas.microsoft.com/office/drawing/2014/main" id="{BBDDC9CC-6FD8-26C6-BD28-0639B2C686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532664-0A29-5876-1B50-A5EF8270818B}"/>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2903516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BEA08-C435-52FF-1D31-B8816F0C4CE8}"/>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3" name="Footer Placeholder 2">
            <a:extLst>
              <a:ext uri="{FF2B5EF4-FFF2-40B4-BE49-F238E27FC236}">
                <a16:creationId xmlns:a16="http://schemas.microsoft.com/office/drawing/2014/main" id="{FF1A960E-E7FC-60D6-6B30-BA40CB6FAE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EDF5D6-99F3-9260-BBDC-52DFBB4B7CFF}"/>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3347838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7D949-4CAA-0D72-23A5-FC5BD4BC66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1099D6-32A6-6830-4308-1CB908DAA6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5A55C0-7351-72E2-8D73-B3A9EC9D0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F2E5D9-E3BA-1D9F-C649-9A9947D33FDE}"/>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6" name="Footer Placeholder 5">
            <a:extLst>
              <a:ext uri="{FF2B5EF4-FFF2-40B4-BE49-F238E27FC236}">
                <a16:creationId xmlns:a16="http://schemas.microsoft.com/office/drawing/2014/main" id="{75BD6BF5-69A5-E184-5F78-1178C3E7FE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43B749-9A97-5655-EAE2-CFE78036D62A}"/>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75289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808CA-48EC-CE48-0248-1F0BE20156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830A33-C9C0-0C53-36DE-9FF61A284C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F96F15-FD6D-8295-E448-D3036940B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D56261-94FC-E589-A6E2-941F8AF681A2}"/>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6" name="Footer Placeholder 5">
            <a:extLst>
              <a:ext uri="{FF2B5EF4-FFF2-40B4-BE49-F238E27FC236}">
                <a16:creationId xmlns:a16="http://schemas.microsoft.com/office/drawing/2014/main" id="{067559EE-747D-694C-26CC-AECABCCF6B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934BB9-A109-800F-1AC2-CC77C5262D38}"/>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910164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75B3-93B6-52BB-A43F-B37FC7CB69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FC881A-3EFF-EC10-1EF1-8E4D4E8571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0D1013-FFDD-5534-1E6D-50F244C03139}"/>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5" name="Footer Placeholder 4">
            <a:extLst>
              <a:ext uri="{FF2B5EF4-FFF2-40B4-BE49-F238E27FC236}">
                <a16:creationId xmlns:a16="http://schemas.microsoft.com/office/drawing/2014/main" id="{18BA5B32-21C2-F57A-0A99-45A33F077C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AA170E-0D8F-C282-FDD6-3AB465EC3FC0}"/>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3278539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D18A51-F8E1-6C96-5470-4EA6258D75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C3DB6C-6865-5D6E-52B6-65E8092C92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FC58BB-0137-C326-6437-C1C41849432E}"/>
              </a:ext>
            </a:extLst>
          </p:cNvPr>
          <p:cNvSpPr>
            <a:spLocks noGrp="1"/>
          </p:cNvSpPr>
          <p:nvPr>
            <p:ph type="dt" sz="half" idx="10"/>
          </p:nvPr>
        </p:nvSpPr>
        <p:spPr/>
        <p:txBody>
          <a:bodyPr/>
          <a:lstStyle/>
          <a:p>
            <a:fld id="{416569BD-7B99-4246-AB51-75EA128257DA}" type="datetimeFigureOut">
              <a:rPr lang="en-IN" smtClean="0"/>
              <a:t>22-11-2025</a:t>
            </a:fld>
            <a:endParaRPr lang="en-IN"/>
          </a:p>
        </p:txBody>
      </p:sp>
      <p:sp>
        <p:nvSpPr>
          <p:cNvPr id="5" name="Footer Placeholder 4">
            <a:extLst>
              <a:ext uri="{FF2B5EF4-FFF2-40B4-BE49-F238E27FC236}">
                <a16:creationId xmlns:a16="http://schemas.microsoft.com/office/drawing/2014/main" id="{E9233841-8602-DBA4-D84E-D83807C4DC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FCD53-E470-BB11-D157-17C3331E1C04}"/>
              </a:ext>
            </a:extLst>
          </p:cNvPr>
          <p:cNvSpPr>
            <a:spLocks noGrp="1"/>
          </p:cNvSpPr>
          <p:nvPr>
            <p:ph type="sldNum" sz="quarter" idx="12"/>
          </p:nvPr>
        </p:nvSpPr>
        <p:spPr/>
        <p:txBody>
          <a:bodyPr/>
          <a:lstStyle/>
          <a:p>
            <a:fld id="{1845AC55-3225-4CAA-B9EC-1E73EA267FA0}" type="slidenum">
              <a:rPr lang="en-IN" smtClean="0"/>
              <a:t>‹#›</a:t>
            </a:fld>
            <a:endParaRPr lang="en-IN"/>
          </a:p>
        </p:txBody>
      </p:sp>
    </p:spTree>
    <p:extLst>
      <p:ext uri="{BB962C8B-B14F-4D97-AF65-F5344CB8AC3E}">
        <p14:creationId xmlns:p14="http://schemas.microsoft.com/office/powerpoint/2010/main" val="1181036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649693-8047-D822-52D0-3DE8B30C92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FCF648-9A9D-849B-3D2B-BAED3022A6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B06243-C2DC-86BB-9F3B-271D2ABD0F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569BD-7B99-4246-AB51-75EA128257DA}" type="datetimeFigureOut">
              <a:rPr lang="en-IN" smtClean="0"/>
              <a:t>22-11-2025</a:t>
            </a:fld>
            <a:endParaRPr lang="en-IN"/>
          </a:p>
        </p:txBody>
      </p:sp>
      <p:sp>
        <p:nvSpPr>
          <p:cNvPr id="5" name="Footer Placeholder 4">
            <a:extLst>
              <a:ext uri="{FF2B5EF4-FFF2-40B4-BE49-F238E27FC236}">
                <a16:creationId xmlns:a16="http://schemas.microsoft.com/office/drawing/2014/main" id="{5A639296-0077-8636-479A-A15E9EC836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1F4094-C8F7-E5EA-AB01-51507B3C73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45AC55-3225-4CAA-B9EC-1E73EA267FA0}" type="slidenum">
              <a:rPr lang="en-IN" smtClean="0"/>
              <a:t>‹#›</a:t>
            </a:fld>
            <a:endParaRPr lang="en-IN"/>
          </a:p>
        </p:txBody>
      </p:sp>
    </p:spTree>
    <p:extLst>
      <p:ext uri="{BB962C8B-B14F-4D97-AF65-F5344CB8AC3E}">
        <p14:creationId xmlns:p14="http://schemas.microsoft.com/office/powerpoint/2010/main" val="1680960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2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3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4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4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4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4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4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7.xml"/><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51B39-C45E-2F97-49D1-88242F8AA63C}"/>
              </a:ext>
            </a:extLst>
          </p:cNvPr>
          <p:cNvSpPr>
            <a:spLocks noGrp="1"/>
          </p:cNvSpPr>
          <p:nvPr>
            <p:ph type="ctrTitle"/>
          </p:nvPr>
        </p:nvSpPr>
        <p:spPr/>
        <p:txBody>
          <a:bodyPr/>
          <a:lstStyle/>
          <a:p>
            <a:r>
              <a:rPr lang="en-US" dirty="0"/>
              <a:t>Cache Tutorial 1</a:t>
            </a:r>
            <a:endParaRPr lang="en-IN" dirty="0"/>
          </a:p>
        </p:txBody>
      </p:sp>
    </p:spTree>
    <p:extLst>
      <p:ext uri="{BB962C8B-B14F-4D97-AF65-F5344CB8AC3E}">
        <p14:creationId xmlns:p14="http://schemas.microsoft.com/office/powerpoint/2010/main" val="77468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CF0ED-6710-B643-21B4-02425312EF3D}"/>
              </a:ext>
            </a:extLst>
          </p:cNvPr>
          <p:cNvSpPr>
            <a:spLocks noGrp="1"/>
          </p:cNvSpPr>
          <p:nvPr>
            <p:ph type="title"/>
          </p:nvPr>
        </p:nvSpPr>
        <p:spPr>
          <a:xfrm>
            <a:off x="838200" y="365126"/>
            <a:ext cx="10515600" cy="637764"/>
          </a:xfrm>
        </p:spPr>
        <p:txBody>
          <a:bodyPr>
            <a:normAutofit/>
          </a:bodyPr>
          <a:lstStyle/>
          <a:p>
            <a:r>
              <a:rPr lang="en-US" sz="3600" dirty="0"/>
              <a:t>Cache Block Concepts</a:t>
            </a:r>
            <a:endParaRPr lang="en-IN" sz="3600" dirty="0"/>
          </a:p>
        </p:txBody>
      </p:sp>
      <p:sp>
        <p:nvSpPr>
          <p:cNvPr id="3" name="Content Placeholder 2">
            <a:extLst>
              <a:ext uri="{FF2B5EF4-FFF2-40B4-BE49-F238E27FC236}">
                <a16:creationId xmlns:a16="http://schemas.microsoft.com/office/drawing/2014/main" id="{712616D0-CF1F-BDE8-4A72-9ECC436440E8}"/>
              </a:ext>
            </a:extLst>
          </p:cNvPr>
          <p:cNvSpPr>
            <a:spLocks noGrp="1"/>
          </p:cNvSpPr>
          <p:nvPr>
            <p:ph idx="1"/>
          </p:nvPr>
        </p:nvSpPr>
        <p:spPr>
          <a:xfrm>
            <a:off x="838200" y="1002890"/>
            <a:ext cx="10515600" cy="4351338"/>
          </a:xfrm>
        </p:spPr>
        <p:txBody>
          <a:bodyPr>
            <a:normAutofit/>
          </a:bodyPr>
          <a:lstStyle/>
          <a:p>
            <a:pPr marL="0" indent="0">
              <a:buNone/>
            </a:pPr>
            <a:r>
              <a:rPr lang="en-US" sz="2000" b="1" dirty="0"/>
              <a:t>1)</a:t>
            </a:r>
            <a:r>
              <a:rPr lang="en-US" sz="2000" dirty="0"/>
              <a:t> For a 32KB direct mapped cache with 64 byte cache block, give the address of the starting byte of the first word in the block that contains the address 0X 7245E824.</a:t>
            </a:r>
            <a:endParaRPr lang="en-IN" sz="2000" dirty="0"/>
          </a:p>
        </p:txBody>
      </p:sp>
    </p:spTree>
    <p:extLst>
      <p:ext uri="{BB962C8B-B14F-4D97-AF65-F5344CB8AC3E}">
        <p14:creationId xmlns:p14="http://schemas.microsoft.com/office/powerpoint/2010/main" val="1859264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F2B6-7DF7-EC61-FD6A-E3F2BDB05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9B414-1D49-3083-9EDC-922C83228EED}"/>
              </a:ext>
            </a:extLst>
          </p:cNvPr>
          <p:cNvSpPr>
            <a:spLocks noGrp="1"/>
          </p:cNvSpPr>
          <p:nvPr>
            <p:ph type="title"/>
          </p:nvPr>
        </p:nvSpPr>
        <p:spPr>
          <a:xfrm>
            <a:off x="838200" y="365126"/>
            <a:ext cx="10515600" cy="637764"/>
          </a:xfrm>
        </p:spPr>
        <p:txBody>
          <a:bodyPr>
            <a:normAutofit/>
          </a:bodyPr>
          <a:lstStyle/>
          <a:p>
            <a:r>
              <a:rPr lang="en-US" sz="3600" dirty="0"/>
              <a:t>Cache Block Concepts</a:t>
            </a:r>
            <a:endParaRPr lang="en-IN" sz="3600" dirty="0"/>
          </a:p>
        </p:txBody>
      </p:sp>
      <p:sp>
        <p:nvSpPr>
          <p:cNvPr id="3" name="Content Placeholder 2">
            <a:extLst>
              <a:ext uri="{FF2B5EF4-FFF2-40B4-BE49-F238E27FC236}">
                <a16:creationId xmlns:a16="http://schemas.microsoft.com/office/drawing/2014/main" id="{118A2667-E8B6-2CBF-2213-C6AACFFB6BB1}"/>
              </a:ext>
            </a:extLst>
          </p:cNvPr>
          <p:cNvSpPr>
            <a:spLocks noGrp="1"/>
          </p:cNvSpPr>
          <p:nvPr>
            <p:ph idx="1"/>
          </p:nvPr>
        </p:nvSpPr>
        <p:spPr>
          <a:xfrm>
            <a:off x="838200" y="1002890"/>
            <a:ext cx="10515600" cy="4351338"/>
          </a:xfrm>
        </p:spPr>
        <p:txBody>
          <a:bodyPr>
            <a:normAutofit/>
          </a:bodyPr>
          <a:lstStyle/>
          <a:p>
            <a:pPr marL="0" indent="0">
              <a:buNone/>
            </a:pPr>
            <a:r>
              <a:rPr lang="en-US" sz="2000" dirty="0"/>
              <a:t>1) For a 32KB direct mapped cache with 64 byte cache block, give the address of the starting byte of the first word in the block that contains the address 0X 7245E824.</a:t>
            </a:r>
            <a:endParaRPr lang="en-IN" sz="2000" dirty="0"/>
          </a:p>
        </p:txBody>
      </p:sp>
      <p:pic>
        <p:nvPicPr>
          <p:cNvPr id="2050" name="Picture 2">
            <a:extLst>
              <a:ext uri="{FF2B5EF4-FFF2-40B4-BE49-F238E27FC236}">
                <a16:creationId xmlns:a16="http://schemas.microsoft.com/office/drawing/2014/main" id="{D86232D2-43EA-69AC-BDB2-DF3C81D8D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6174" y="1699630"/>
            <a:ext cx="4727626" cy="4109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20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9F933-AB47-E354-9B1E-DE796F12B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31EF0-4ABC-CE61-B7D1-4753CEA9FDA3}"/>
              </a:ext>
            </a:extLst>
          </p:cNvPr>
          <p:cNvSpPr>
            <a:spLocks noGrp="1"/>
          </p:cNvSpPr>
          <p:nvPr>
            <p:ph type="title"/>
          </p:nvPr>
        </p:nvSpPr>
        <p:spPr>
          <a:xfrm>
            <a:off x="838200" y="365126"/>
            <a:ext cx="10515600" cy="637764"/>
          </a:xfrm>
        </p:spPr>
        <p:txBody>
          <a:bodyPr>
            <a:normAutofit/>
          </a:bodyPr>
          <a:lstStyle/>
          <a:p>
            <a:r>
              <a:rPr lang="en-US" sz="3600" dirty="0"/>
              <a:t>Cache Block Concepts</a:t>
            </a:r>
            <a:endParaRPr lang="en-IN" sz="3600" dirty="0"/>
          </a:p>
        </p:txBody>
      </p:sp>
      <p:sp>
        <p:nvSpPr>
          <p:cNvPr id="3" name="Content Placeholder 2">
            <a:extLst>
              <a:ext uri="{FF2B5EF4-FFF2-40B4-BE49-F238E27FC236}">
                <a16:creationId xmlns:a16="http://schemas.microsoft.com/office/drawing/2014/main" id="{5F2473CD-E8BD-668E-4F32-CF3614752A99}"/>
              </a:ext>
            </a:extLst>
          </p:cNvPr>
          <p:cNvSpPr>
            <a:spLocks noGrp="1"/>
          </p:cNvSpPr>
          <p:nvPr>
            <p:ph idx="1"/>
          </p:nvPr>
        </p:nvSpPr>
        <p:spPr>
          <a:xfrm>
            <a:off x="838200" y="1002890"/>
            <a:ext cx="10515600" cy="4351338"/>
          </a:xfrm>
        </p:spPr>
        <p:txBody>
          <a:bodyPr>
            <a:normAutofit/>
          </a:bodyPr>
          <a:lstStyle/>
          <a:p>
            <a:pPr marL="0" indent="0">
              <a:buNone/>
            </a:pPr>
            <a:r>
              <a:rPr lang="en-US" sz="2000" dirty="0"/>
              <a:t>1) For a 32KB direct mapped cache with 64 byte cache block, give the address of the starting byte of the first word in the block that contains the address 0X 7245E824.</a:t>
            </a:r>
            <a:endParaRPr lang="en-IN" sz="2000" dirty="0"/>
          </a:p>
          <a:p>
            <a:pPr marL="0" indent="0">
              <a:buNone/>
            </a:pPr>
            <a:endParaRPr lang="en-US" sz="2000" dirty="0"/>
          </a:p>
          <a:p>
            <a:pPr>
              <a:buFont typeface="Wingdings" panose="05000000000000000000" pitchFamily="2" charset="2"/>
              <a:buChar char="Ø"/>
            </a:pPr>
            <a:r>
              <a:rPr lang="en-US" sz="2000" dirty="0"/>
              <a:t>Words in a cache block differ only in few least significant bits</a:t>
            </a:r>
          </a:p>
          <a:p>
            <a:pPr>
              <a:buFont typeface="Wingdings" panose="05000000000000000000" pitchFamily="2" charset="2"/>
              <a:buChar char="Ø"/>
            </a:pPr>
            <a:r>
              <a:rPr lang="en-US" sz="2000" dirty="0"/>
              <a:t>The remaining bits that is most significant bits stays</a:t>
            </a:r>
            <a:br>
              <a:rPr lang="en-US" sz="2000" dirty="0"/>
            </a:br>
            <a:r>
              <a:rPr lang="en-US" sz="2000" dirty="0"/>
              <a:t>same.</a:t>
            </a:r>
          </a:p>
        </p:txBody>
      </p:sp>
      <p:pic>
        <p:nvPicPr>
          <p:cNvPr id="2050" name="Picture 2">
            <a:extLst>
              <a:ext uri="{FF2B5EF4-FFF2-40B4-BE49-F238E27FC236}">
                <a16:creationId xmlns:a16="http://schemas.microsoft.com/office/drawing/2014/main" id="{2B297D45-1AA0-83D9-5773-81AF9A6E7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6174" y="2383816"/>
            <a:ext cx="4727626" cy="4109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775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888FE-01CE-0042-7C1A-9458B2BAC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B2497-C41B-7FCF-2D6B-1032193D7958}"/>
              </a:ext>
            </a:extLst>
          </p:cNvPr>
          <p:cNvSpPr>
            <a:spLocks noGrp="1"/>
          </p:cNvSpPr>
          <p:nvPr>
            <p:ph type="title"/>
          </p:nvPr>
        </p:nvSpPr>
        <p:spPr>
          <a:xfrm>
            <a:off x="838200" y="365126"/>
            <a:ext cx="10515600" cy="637764"/>
          </a:xfrm>
        </p:spPr>
        <p:txBody>
          <a:bodyPr>
            <a:normAutofit/>
          </a:bodyPr>
          <a:lstStyle/>
          <a:p>
            <a:r>
              <a:rPr lang="en-US" sz="3600" dirty="0"/>
              <a:t>Cache Block Concepts</a:t>
            </a:r>
            <a:endParaRPr lang="en-IN" sz="3600" dirty="0"/>
          </a:p>
        </p:txBody>
      </p:sp>
      <p:sp>
        <p:nvSpPr>
          <p:cNvPr id="3" name="Content Placeholder 2">
            <a:extLst>
              <a:ext uri="{FF2B5EF4-FFF2-40B4-BE49-F238E27FC236}">
                <a16:creationId xmlns:a16="http://schemas.microsoft.com/office/drawing/2014/main" id="{57A33B64-A804-AF5A-DED4-DEB0AB9A64B4}"/>
              </a:ext>
            </a:extLst>
          </p:cNvPr>
          <p:cNvSpPr>
            <a:spLocks noGrp="1"/>
          </p:cNvSpPr>
          <p:nvPr>
            <p:ph idx="1"/>
          </p:nvPr>
        </p:nvSpPr>
        <p:spPr>
          <a:xfrm>
            <a:off x="838200" y="1002890"/>
            <a:ext cx="10515600" cy="4351338"/>
          </a:xfrm>
        </p:spPr>
        <p:txBody>
          <a:bodyPr>
            <a:normAutofit/>
          </a:bodyPr>
          <a:lstStyle/>
          <a:p>
            <a:pPr marL="0" indent="0">
              <a:buNone/>
            </a:pPr>
            <a:r>
              <a:rPr lang="en-US" sz="2000" dirty="0"/>
              <a:t>1) For a 32KB direct mapped cache with 64 byte cache block, give the address of the starting byte of the first word in the block that contains the address 0X 7245E824.</a:t>
            </a:r>
            <a:endParaRPr lang="en-IN" sz="2000" dirty="0"/>
          </a:p>
          <a:p>
            <a:pPr marL="0" indent="0">
              <a:buNone/>
            </a:pPr>
            <a:endParaRPr lang="en-US" sz="2000" dirty="0"/>
          </a:p>
          <a:p>
            <a:pPr>
              <a:buFont typeface="Wingdings" panose="05000000000000000000" pitchFamily="2" charset="2"/>
              <a:buChar char="Ø"/>
            </a:pPr>
            <a:r>
              <a:rPr lang="en-US" sz="2000" dirty="0"/>
              <a:t>32KB direct mapped cache with 64 byte cache block address 0X 7245E824.</a:t>
            </a:r>
          </a:p>
          <a:p>
            <a:pPr>
              <a:buFont typeface="Wingdings" panose="05000000000000000000" pitchFamily="2" charset="2"/>
              <a:buChar char="Ø"/>
            </a:pPr>
            <a:r>
              <a:rPr lang="en-US" sz="2000" dirty="0"/>
              <a:t># sets = Cache Size/(Block Size x A) = 2¹⁵/(2⁶ x 1) = 2⁹ = 512 sets </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Address: 0x 7245E824 --------0010 0100 offset (6 bits)</a:t>
            </a:r>
          </a:p>
          <a:p>
            <a:pPr>
              <a:buFont typeface="Wingdings" panose="05000000000000000000" pitchFamily="2" charset="2"/>
              <a:buChar char="Ø"/>
            </a:pPr>
            <a:r>
              <a:rPr lang="en-US" sz="2000" dirty="0"/>
              <a:t>Block address range from ______ 0000 0000     to  _____ 0011 1111</a:t>
            </a:r>
            <a:br>
              <a:rPr lang="en-US" sz="2000" dirty="0"/>
            </a:br>
            <a:r>
              <a:rPr lang="en-US" sz="2000" dirty="0"/>
              <a:t>			  0x 7245E800 	         to 0x 7245E83F.</a:t>
            </a:r>
          </a:p>
          <a:p>
            <a:pPr>
              <a:buFont typeface="Wingdings" panose="05000000000000000000" pitchFamily="2" charset="2"/>
              <a:buChar char="Ø"/>
            </a:pPr>
            <a:r>
              <a:rPr lang="en-US" sz="2000" dirty="0"/>
              <a:t>Hence starting address is </a:t>
            </a:r>
            <a:r>
              <a:rPr lang="en-US" sz="2000" b="1" dirty="0"/>
              <a:t>0x 7245E800</a:t>
            </a:r>
          </a:p>
        </p:txBody>
      </p:sp>
      <p:graphicFrame>
        <p:nvGraphicFramePr>
          <p:cNvPr id="4" name="Table 3">
            <a:extLst>
              <a:ext uri="{FF2B5EF4-FFF2-40B4-BE49-F238E27FC236}">
                <a16:creationId xmlns:a16="http://schemas.microsoft.com/office/drawing/2014/main" id="{88E2E658-73B9-C21D-1A5C-0051A4AA5579}"/>
              </a:ext>
            </a:extLst>
          </p:cNvPr>
          <p:cNvGraphicFramePr>
            <a:graphicFrameLocks noGrp="1"/>
          </p:cNvGraphicFramePr>
          <p:nvPr>
            <p:extLst>
              <p:ext uri="{D42A27DB-BD31-4B8C-83A1-F6EECF244321}">
                <p14:modId xmlns:p14="http://schemas.microsoft.com/office/powerpoint/2010/main" val="2142876236"/>
              </p:ext>
            </p:extLst>
          </p:nvPr>
        </p:nvGraphicFramePr>
        <p:xfrm>
          <a:off x="950449" y="3058160"/>
          <a:ext cx="8127999" cy="37084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751018185"/>
                    </a:ext>
                  </a:extLst>
                </a:gridCol>
                <a:gridCol w="2709333">
                  <a:extLst>
                    <a:ext uri="{9D8B030D-6E8A-4147-A177-3AD203B41FA5}">
                      <a16:colId xmlns:a16="http://schemas.microsoft.com/office/drawing/2014/main" val="2183917343"/>
                    </a:ext>
                  </a:extLst>
                </a:gridCol>
                <a:gridCol w="2709333">
                  <a:extLst>
                    <a:ext uri="{9D8B030D-6E8A-4147-A177-3AD203B41FA5}">
                      <a16:colId xmlns:a16="http://schemas.microsoft.com/office/drawing/2014/main" val="3113840790"/>
                    </a:ext>
                  </a:extLst>
                </a:gridCol>
              </a:tblGrid>
              <a:tr h="370840">
                <a:tc>
                  <a:txBody>
                    <a:bodyPr/>
                    <a:lstStyle/>
                    <a:p>
                      <a:r>
                        <a:rPr lang="en-US" dirty="0"/>
                        <a:t>Tag ?</a:t>
                      </a:r>
                      <a:endParaRPr lang="en-IN" dirty="0"/>
                    </a:p>
                  </a:txBody>
                  <a:tcPr/>
                </a:tc>
                <a:tc>
                  <a:txBody>
                    <a:bodyPr/>
                    <a:lstStyle/>
                    <a:p>
                      <a:r>
                        <a:rPr lang="en-US" dirty="0"/>
                        <a:t>Index = 9</a:t>
                      </a:r>
                      <a:endParaRPr lang="en-IN" dirty="0"/>
                    </a:p>
                  </a:txBody>
                  <a:tcPr/>
                </a:tc>
                <a:tc>
                  <a:txBody>
                    <a:bodyPr/>
                    <a:lstStyle/>
                    <a:p>
                      <a:r>
                        <a:rPr lang="en-US" dirty="0"/>
                        <a:t>Offset = 6</a:t>
                      </a:r>
                      <a:endParaRPr lang="en-IN" dirty="0"/>
                    </a:p>
                  </a:txBody>
                  <a:tcPr/>
                </a:tc>
                <a:extLst>
                  <a:ext uri="{0D108BD9-81ED-4DB2-BD59-A6C34878D82A}">
                    <a16:rowId xmlns:a16="http://schemas.microsoft.com/office/drawing/2014/main" val="1090826236"/>
                  </a:ext>
                </a:extLst>
              </a:tr>
            </a:tbl>
          </a:graphicData>
        </a:graphic>
      </p:graphicFrame>
    </p:spTree>
    <p:extLst>
      <p:ext uri="{BB962C8B-B14F-4D97-AF65-F5344CB8AC3E}">
        <p14:creationId xmlns:p14="http://schemas.microsoft.com/office/powerpoint/2010/main" val="346390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863D6-EDB9-7DFE-C18C-E68CA62D0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28E25-1CD0-809D-46C5-AF3D5127B489}"/>
              </a:ext>
            </a:extLst>
          </p:cNvPr>
          <p:cNvSpPr>
            <a:spLocks noGrp="1"/>
          </p:cNvSpPr>
          <p:nvPr>
            <p:ph type="title"/>
          </p:nvPr>
        </p:nvSpPr>
        <p:spPr>
          <a:xfrm>
            <a:off x="838200" y="365126"/>
            <a:ext cx="10515600" cy="637764"/>
          </a:xfrm>
        </p:spPr>
        <p:txBody>
          <a:bodyPr>
            <a:normAutofit fontScale="90000"/>
          </a:bodyPr>
          <a:lstStyle/>
          <a:p>
            <a:r>
              <a:rPr lang="en-IN" dirty="0"/>
              <a:t>Index and Offset Calculations</a:t>
            </a:r>
          </a:p>
        </p:txBody>
      </p:sp>
      <p:sp>
        <p:nvSpPr>
          <p:cNvPr id="3" name="Content Placeholder 2">
            <a:extLst>
              <a:ext uri="{FF2B5EF4-FFF2-40B4-BE49-F238E27FC236}">
                <a16:creationId xmlns:a16="http://schemas.microsoft.com/office/drawing/2014/main" id="{42E34D11-FF15-00DA-F85B-CD20917DF2FA}"/>
              </a:ext>
            </a:extLst>
          </p:cNvPr>
          <p:cNvSpPr>
            <a:spLocks noGrp="1"/>
          </p:cNvSpPr>
          <p:nvPr>
            <p:ph idx="1"/>
          </p:nvPr>
        </p:nvSpPr>
        <p:spPr>
          <a:xfrm>
            <a:off x="838200" y="1002890"/>
            <a:ext cx="10515600" cy="4351338"/>
          </a:xfrm>
        </p:spPr>
        <p:txBody>
          <a:bodyPr>
            <a:normAutofit/>
          </a:bodyPr>
          <a:lstStyle/>
          <a:p>
            <a:pPr marL="0" indent="0">
              <a:buNone/>
            </a:pPr>
            <a:r>
              <a:rPr lang="en-US" sz="2000" dirty="0"/>
              <a:t>2) A cache has 512 KB capacity, 4B word, 64B block size and 8-way set associative. The system is using 32 bit address. Given the following addresses, which set of cache will be searched and specify which word of the selected cache block will be forwarded if it is a hit in cache?</a:t>
            </a:r>
          </a:p>
          <a:p>
            <a:pPr marL="0" indent="0">
              <a:buNone/>
            </a:pPr>
            <a:r>
              <a:rPr lang="en-US" sz="2000" dirty="0"/>
              <a:t>(a) 0X ABC89984 (b) 0X 485669AC</a:t>
            </a:r>
          </a:p>
        </p:txBody>
      </p:sp>
    </p:spTree>
    <p:extLst>
      <p:ext uri="{BB962C8B-B14F-4D97-AF65-F5344CB8AC3E}">
        <p14:creationId xmlns:p14="http://schemas.microsoft.com/office/powerpoint/2010/main" val="359562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ADF3F-6A8C-526D-DD86-8D0F526A0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69761-D577-0E60-E25B-8B49E87F51E0}"/>
              </a:ext>
            </a:extLst>
          </p:cNvPr>
          <p:cNvSpPr>
            <a:spLocks noGrp="1"/>
          </p:cNvSpPr>
          <p:nvPr>
            <p:ph type="title"/>
          </p:nvPr>
        </p:nvSpPr>
        <p:spPr>
          <a:xfrm>
            <a:off x="838200" y="365126"/>
            <a:ext cx="10515600" cy="637764"/>
          </a:xfrm>
        </p:spPr>
        <p:txBody>
          <a:bodyPr>
            <a:normAutofit fontScale="90000"/>
          </a:bodyPr>
          <a:lstStyle/>
          <a:p>
            <a:r>
              <a:rPr lang="en-IN" dirty="0"/>
              <a:t>Index and Offset Calculations</a:t>
            </a:r>
          </a:p>
        </p:txBody>
      </p:sp>
      <p:sp>
        <p:nvSpPr>
          <p:cNvPr id="3" name="Content Placeholder 2">
            <a:extLst>
              <a:ext uri="{FF2B5EF4-FFF2-40B4-BE49-F238E27FC236}">
                <a16:creationId xmlns:a16="http://schemas.microsoft.com/office/drawing/2014/main" id="{F0AA76C4-1580-7139-5C16-41052DF2DDDC}"/>
              </a:ext>
            </a:extLst>
          </p:cNvPr>
          <p:cNvSpPr>
            <a:spLocks noGrp="1"/>
          </p:cNvSpPr>
          <p:nvPr>
            <p:ph idx="1"/>
          </p:nvPr>
        </p:nvSpPr>
        <p:spPr>
          <a:xfrm>
            <a:off x="838200" y="1002890"/>
            <a:ext cx="10515600" cy="5771536"/>
          </a:xfrm>
        </p:spPr>
        <p:txBody>
          <a:bodyPr>
            <a:normAutofit/>
          </a:bodyPr>
          <a:lstStyle/>
          <a:p>
            <a:pPr marL="0" indent="0">
              <a:buNone/>
            </a:pPr>
            <a:r>
              <a:rPr lang="en-US" sz="2000" dirty="0"/>
              <a:t>2) A cache has 512 KB capacity, 4B word, 64B block size and 8-way set associative. The system is using 32 bit address. Given the following addresses, which set of cache will be searched and specify which word of the selected cache block will be forwarded if it is a hit in cache?</a:t>
            </a:r>
          </a:p>
          <a:p>
            <a:pPr marL="0" indent="0">
              <a:buNone/>
            </a:pPr>
            <a:r>
              <a:rPr lang="en-US" sz="2000" dirty="0"/>
              <a:t>(a) 0X ABC89984 (b) 0X 485669AC</a:t>
            </a:r>
          </a:p>
          <a:p>
            <a:pPr marL="0" indent="0">
              <a:buNone/>
            </a:pPr>
            <a:endParaRPr lang="en-US" sz="2000" dirty="0"/>
          </a:p>
          <a:p>
            <a:pPr marL="0" indent="0">
              <a:buNone/>
            </a:pPr>
            <a:r>
              <a:rPr lang="en-US" sz="2000" dirty="0"/>
              <a:t># sets = Cache Size/(Block Size x A) = 2¹⁹/(2⁶x2³) = 2¹⁰ = 1024 sets</a:t>
            </a:r>
          </a:p>
          <a:p>
            <a:pPr marL="0" indent="0">
              <a:buNone/>
            </a:pPr>
            <a:r>
              <a:rPr lang="en-US" sz="2000" dirty="0"/>
              <a:t>1 word = 4B, Hence 64 byte block has 16 words</a:t>
            </a:r>
          </a:p>
          <a:p>
            <a:pPr marL="0" indent="0">
              <a:buNone/>
            </a:pPr>
            <a:endParaRPr lang="en-US" sz="2000" dirty="0"/>
          </a:p>
          <a:p>
            <a:pPr marL="0" indent="0">
              <a:buNone/>
            </a:pPr>
            <a:endParaRPr lang="en-US" sz="2000" dirty="0"/>
          </a:p>
          <a:p>
            <a:pPr marL="0" indent="0">
              <a:buNone/>
            </a:pPr>
            <a:r>
              <a:rPr lang="en-US" sz="2000" i="1" dirty="0">
                <a:solidFill>
                  <a:srgbClr val="FF0000"/>
                </a:solidFill>
              </a:rPr>
              <a:t>Note: Offset = 6 means…1 block = 16 words, 1 word = 4 bytes. To address each byte in a word, we need 2 LSBs. And to address each word in a block we need the rest 4 MSBs.</a:t>
            </a:r>
          </a:p>
          <a:p>
            <a:pPr marL="0" indent="0">
              <a:buNone/>
            </a:pPr>
            <a:r>
              <a:rPr lang="en-US" sz="2000" dirty="0"/>
              <a:t>0x ABC8</a:t>
            </a:r>
            <a:r>
              <a:rPr lang="en-US" sz="2000" dirty="0">
                <a:solidFill>
                  <a:srgbClr val="FF0000"/>
                </a:solidFill>
              </a:rPr>
              <a:t>9984</a:t>
            </a:r>
            <a:r>
              <a:rPr lang="en-US" sz="2000" dirty="0"/>
              <a:t> = </a:t>
            </a:r>
            <a:r>
              <a:rPr lang="en-US" sz="2000" dirty="0">
                <a:solidFill>
                  <a:schemeClr val="accent1"/>
                </a:solidFill>
              </a:rPr>
              <a:t>1001 1001 10</a:t>
            </a:r>
            <a:r>
              <a:rPr lang="en-US" sz="2000" dirty="0">
                <a:solidFill>
                  <a:srgbClr val="FF0000"/>
                </a:solidFill>
              </a:rPr>
              <a:t>00 01</a:t>
            </a:r>
            <a:r>
              <a:rPr lang="en-US" sz="2000" dirty="0">
                <a:solidFill>
                  <a:schemeClr val="accent6"/>
                </a:solidFill>
              </a:rPr>
              <a:t>00</a:t>
            </a:r>
            <a:r>
              <a:rPr lang="en-US" sz="2000" dirty="0"/>
              <a:t> </a:t>
            </a:r>
            <a:r>
              <a:rPr lang="en-US" sz="2000" dirty="0">
                <a:solidFill>
                  <a:schemeClr val="accent1"/>
                </a:solidFill>
              </a:rPr>
              <a:t>Set 614</a:t>
            </a:r>
            <a:r>
              <a:rPr lang="en-US" sz="2000" dirty="0"/>
              <a:t>, word 1</a:t>
            </a:r>
          </a:p>
          <a:p>
            <a:pPr marL="0" indent="0">
              <a:buNone/>
            </a:pPr>
            <a:r>
              <a:rPr lang="en-US" sz="2000" dirty="0"/>
              <a:t>0x 4856</a:t>
            </a:r>
            <a:r>
              <a:rPr lang="en-US" sz="2000" dirty="0">
                <a:solidFill>
                  <a:srgbClr val="FF0000"/>
                </a:solidFill>
              </a:rPr>
              <a:t>69AC</a:t>
            </a:r>
            <a:r>
              <a:rPr lang="en-US" sz="2000" dirty="0"/>
              <a:t> = </a:t>
            </a:r>
            <a:r>
              <a:rPr lang="en-US" sz="2000" dirty="0">
                <a:solidFill>
                  <a:schemeClr val="accent1"/>
                </a:solidFill>
              </a:rPr>
              <a:t>0110 1001 10</a:t>
            </a:r>
            <a:r>
              <a:rPr lang="en-US" sz="2000" dirty="0">
                <a:solidFill>
                  <a:srgbClr val="FF0000"/>
                </a:solidFill>
              </a:rPr>
              <a:t>10 11</a:t>
            </a:r>
            <a:r>
              <a:rPr lang="en-US" sz="2000" dirty="0">
                <a:solidFill>
                  <a:schemeClr val="accent6"/>
                </a:solidFill>
              </a:rPr>
              <a:t>00</a:t>
            </a:r>
            <a:r>
              <a:rPr lang="en-US" sz="2000" dirty="0"/>
              <a:t> </a:t>
            </a:r>
            <a:r>
              <a:rPr lang="en-US" sz="2000" dirty="0">
                <a:solidFill>
                  <a:schemeClr val="accent1"/>
                </a:solidFill>
              </a:rPr>
              <a:t>Set 422</a:t>
            </a:r>
            <a:r>
              <a:rPr lang="en-US" sz="2000" dirty="0"/>
              <a:t>, word 11</a:t>
            </a:r>
          </a:p>
          <a:p>
            <a:pPr marL="0" indent="0">
              <a:buNone/>
            </a:pPr>
            <a:r>
              <a:rPr lang="en-US" sz="2000" dirty="0"/>
              <a:t>In Set 614, we match tag bits in all the 8 cache lines (8-way associative), whichever tag matches we transfer that word from the block.</a:t>
            </a:r>
          </a:p>
        </p:txBody>
      </p:sp>
      <p:graphicFrame>
        <p:nvGraphicFramePr>
          <p:cNvPr id="6" name="Table 5">
            <a:extLst>
              <a:ext uri="{FF2B5EF4-FFF2-40B4-BE49-F238E27FC236}">
                <a16:creationId xmlns:a16="http://schemas.microsoft.com/office/drawing/2014/main" id="{585DF218-B02B-9BE8-2AD3-5732A74076A2}"/>
              </a:ext>
            </a:extLst>
          </p:cNvPr>
          <p:cNvGraphicFramePr>
            <a:graphicFrameLocks noGrp="1"/>
          </p:cNvGraphicFramePr>
          <p:nvPr>
            <p:extLst>
              <p:ext uri="{D42A27DB-BD31-4B8C-83A1-F6EECF244321}">
                <p14:modId xmlns:p14="http://schemas.microsoft.com/office/powerpoint/2010/main" val="1196773067"/>
              </p:ext>
            </p:extLst>
          </p:nvPr>
        </p:nvGraphicFramePr>
        <p:xfrm>
          <a:off x="838200" y="3747882"/>
          <a:ext cx="8127999" cy="37084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751018185"/>
                    </a:ext>
                  </a:extLst>
                </a:gridCol>
                <a:gridCol w="2709333">
                  <a:extLst>
                    <a:ext uri="{9D8B030D-6E8A-4147-A177-3AD203B41FA5}">
                      <a16:colId xmlns:a16="http://schemas.microsoft.com/office/drawing/2014/main" val="2183917343"/>
                    </a:ext>
                  </a:extLst>
                </a:gridCol>
                <a:gridCol w="2709333">
                  <a:extLst>
                    <a:ext uri="{9D8B030D-6E8A-4147-A177-3AD203B41FA5}">
                      <a16:colId xmlns:a16="http://schemas.microsoft.com/office/drawing/2014/main" val="3113840790"/>
                    </a:ext>
                  </a:extLst>
                </a:gridCol>
              </a:tblGrid>
              <a:tr h="370840">
                <a:tc>
                  <a:txBody>
                    <a:bodyPr/>
                    <a:lstStyle/>
                    <a:p>
                      <a:r>
                        <a:rPr lang="en-US" dirty="0"/>
                        <a:t>Tag = 16</a:t>
                      </a:r>
                      <a:endParaRPr lang="en-IN" dirty="0"/>
                    </a:p>
                  </a:txBody>
                  <a:tcPr/>
                </a:tc>
                <a:tc>
                  <a:txBody>
                    <a:bodyPr/>
                    <a:lstStyle/>
                    <a:p>
                      <a:r>
                        <a:rPr lang="en-US" dirty="0"/>
                        <a:t>Index = 10</a:t>
                      </a:r>
                      <a:endParaRPr lang="en-IN" dirty="0"/>
                    </a:p>
                  </a:txBody>
                  <a:tcPr/>
                </a:tc>
                <a:tc>
                  <a:txBody>
                    <a:bodyPr/>
                    <a:lstStyle/>
                    <a:p>
                      <a:r>
                        <a:rPr lang="en-US" dirty="0"/>
                        <a:t>Offset = 6 (4 + 2)</a:t>
                      </a:r>
                      <a:endParaRPr lang="en-IN" dirty="0"/>
                    </a:p>
                  </a:txBody>
                  <a:tcPr/>
                </a:tc>
                <a:extLst>
                  <a:ext uri="{0D108BD9-81ED-4DB2-BD59-A6C34878D82A}">
                    <a16:rowId xmlns:a16="http://schemas.microsoft.com/office/drawing/2014/main" val="1090826236"/>
                  </a:ext>
                </a:extLst>
              </a:tr>
            </a:tbl>
          </a:graphicData>
        </a:graphic>
      </p:graphicFrame>
    </p:spTree>
    <p:extLst>
      <p:ext uri="{BB962C8B-B14F-4D97-AF65-F5344CB8AC3E}">
        <p14:creationId xmlns:p14="http://schemas.microsoft.com/office/powerpoint/2010/main" val="968592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1B44F-8F49-7A16-ACDE-0A5047B5A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98735-E136-7636-6AD6-A3BA25C0CE31}"/>
              </a:ext>
            </a:extLst>
          </p:cNvPr>
          <p:cNvSpPr>
            <a:spLocks noGrp="1"/>
          </p:cNvSpPr>
          <p:nvPr>
            <p:ph type="title"/>
          </p:nvPr>
        </p:nvSpPr>
        <p:spPr>
          <a:xfrm>
            <a:off x="838200" y="365126"/>
            <a:ext cx="10515600" cy="637764"/>
          </a:xfrm>
        </p:spPr>
        <p:txBody>
          <a:bodyPr>
            <a:normAutofit fontScale="90000"/>
          </a:bodyPr>
          <a:lstStyle/>
          <a:p>
            <a:r>
              <a:rPr lang="en-US" dirty="0"/>
              <a:t>Tag and Data array Access</a:t>
            </a:r>
            <a:endParaRPr lang="en-IN" dirty="0"/>
          </a:p>
        </p:txBody>
      </p:sp>
      <p:sp>
        <p:nvSpPr>
          <p:cNvPr id="3" name="Content Placeholder 2">
            <a:extLst>
              <a:ext uri="{FF2B5EF4-FFF2-40B4-BE49-F238E27FC236}">
                <a16:creationId xmlns:a16="http://schemas.microsoft.com/office/drawing/2014/main" id="{F0427692-537D-3FB1-479B-B44FD4159A54}"/>
              </a:ext>
            </a:extLst>
          </p:cNvPr>
          <p:cNvSpPr>
            <a:spLocks noGrp="1"/>
          </p:cNvSpPr>
          <p:nvPr>
            <p:ph idx="1"/>
          </p:nvPr>
        </p:nvSpPr>
        <p:spPr>
          <a:xfrm>
            <a:off x="838200" y="1002890"/>
            <a:ext cx="10515600" cy="5771536"/>
          </a:xfrm>
        </p:spPr>
        <p:txBody>
          <a:bodyPr>
            <a:normAutofit/>
          </a:bodyPr>
          <a:lstStyle/>
          <a:p>
            <a:pPr marL="0" indent="0">
              <a:buNone/>
            </a:pPr>
            <a:r>
              <a:rPr lang="en-US" sz="2000" dirty="0"/>
              <a:t>3) It takes 3 ns to access a tag array value and 4.2 ns to access a data array, 1.3 ns to perform hit/ miss comparison and 1ns to return the selected data to processor.</a:t>
            </a:r>
          </a:p>
          <a:p>
            <a:pPr marL="457200" indent="-457200">
              <a:buAutoNum type="alphaLcParenBoth"/>
            </a:pPr>
            <a:r>
              <a:rPr lang="en-US" sz="2000" dirty="0"/>
              <a:t>What is the cache hit latency of the system?</a:t>
            </a:r>
          </a:p>
          <a:p>
            <a:pPr marL="457200" indent="-457200">
              <a:buAutoNum type="alphaLcParenBoth"/>
            </a:pPr>
            <a:r>
              <a:rPr lang="en-US" sz="2000" dirty="0"/>
              <a:t>What is the cache hit latency of the system if hit/ miss comparison will take 0.6 ns?</a:t>
            </a:r>
          </a:p>
          <a:p>
            <a:pPr marL="457200" indent="-457200">
              <a:buAutoNum type="alphaLcParenBoth"/>
            </a:pPr>
            <a:r>
              <a:rPr lang="en-US" sz="2000" dirty="0"/>
              <a:t>What would be the hit latency if both tag and data array access take 3.5 ns and hit/ miss comparison take 1 ns?</a:t>
            </a:r>
          </a:p>
          <a:p>
            <a:pPr marL="0" indent="0">
              <a:buNone/>
            </a:pPr>
            <a:endParaRPr lang="en-US" sz="2000" dirty="0"/>
          </a:p>
        </p:txBody>
      </p:sp>
    </p:spTree>
    <p:extLst>
      <p:ext uri="{BB962C8B-B14F-4D97-AF65-F5344CB8AC3E}">
        <p14:creationId xmlns:p14="http://schemas.microsoft.com/office/powerpoint/2010/main" val="995983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58AA1-BBF9-EC8E-F948-F961DF54A0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A1B56-E041-5252-FDC1-3F3C02C5CCA0}"/>
              </a:ext>
            </a:extLst>
          </p:cNvPr>
          <p:cNvSpPr>
            <a:spLocks noGrp="1"/>
          </p:cNvSpPr>
          <p:nvPr>
            <p:ph type="title"/>
          </p:nvPr>
        </p:nvSpPr>
        <p:spPr>
          <a:xfrm>
            <a:off x="838200" y="365126"/>
            <a:ext cx="10515600" cy="637764"/>
          </a:xfrm>
        </p:spPr>
        <p:txBody>
          <a:bodyPr>
            <a:normAutofit fontScale="90000"/>
          </a:bodyPr>
          <a:lstStyle/>
          <a:p>
            <a:r>
              <a:rPr lang="en-US" dirty="0"/>
              <a:t>Tag and Data array Access</a:t>
            </a:r>
            <a:endParaRPr lang="en-IN" dirty="0"/>
          </a:p>
        </p:txBody>
      </p:sp>
      <p:sp>
        <p:nvSpPr>
          <p:cNvPr id="3" name="Content Placeholder 2">
            <a:extLst>
              <a:ext uri="{FF2B5EF4-FFF2-40B4-BE49-F238E27FC236}">
                <a16:creationId xmlns:a16="http://schemas.microsoft.com/office/drawing/2014/main" id="{93319042-57D9-4F47-ED65-F5E348CE219E}"/>
              </a:ext>
            </a:extLst>
          </p:cNvPr>
          <p:cNvSpPr>
            <a:spLocks noGrp="1"/>
          </p:cNvSpPr>
          <p:nvPr>
            <p:ph idx="1"/>
          </p:nvPr>
        </p:nvSpPr>
        <p:spPr>
          <a:xfrm>
            <a:off x="838200" y="1002890"/>
            <a:ext cx="10515600" cy="5771536"/>
          </a:xfrm>
        </p:spPr>
        <p:txBody>
          <a:bodyPr>
            <a:normAutofit/>
          </a:bodyPr>
          <a:lstStyle/>
          <a:p>
            <a:pPr marL="0" indent="0">
              <a:buNone/>
            </a:pPr>
            <a:r>
              <a:rPr lang="en-US" sz="2000" dirty="0"/>
              <a:t>3) It takes 3 ns to access a tag array value and 4.2 ns to access a data array, 1.3 ns to perform hit/ miss comparison and 1ns to return the selected data to processor.</a:t>
            </a:r>
          </a:p>
          <a:p>
            <a:pPr marL="457200" indent="-457200">
              <a:buAutoNum type="alphaLcParenBoth"/>
            </a:pPr>
            <a:r>
              <a:rPr lang="en-US" sz="2000" dirty="0"/>
              <a:t>What is the cache hit latency of the system?</a:t>
            </a:r>
          </a:p>
          <a:p>
            <a:pPr marL="457200" indent="-457200">
              <a:buAutoNum type="alphaLcParenBoth"/>
            </a:pPr>
            <a:r>
              <a:rPr lang="en-US" sz="2000" dirty="0"/>
              <a:t>What is the cache hit latency of the system if hit/ miss comparison will take 0.6 ns?</a:t>
            </a:r>
          </a:p>
          <a:p>
            <a:pPr marL="457200" indent="-457200">
              <a:buAutoNum type="alphaLcParenBoth"/>
            </a:pPr>
            <a:r>
              <a:rPr lang="en-US" sz="2000" dirty="0"/>
              <a:t>What would be the hit latency if both tag and data array access take 3.5 ns and hit/ miss comparison take 1 ns?</a:t>
            </a:r>
          </a:p>
          <a:p>
            <a:pPr marL="0" indent="0">
              <a:buNone/>
            </a:pPr>
            <a:endParaRPr lang="en-US" sz="2000" dirty="0"/>
          </a:p>
          <a:p>
            <a:pPr marL="0" indent="0">
              <a:buNone/>
            </a:pPr>
            <a:endParaRPr lang="en-US" sz="2000" dirty="0"/>
          </a:p>
        </p:txBody>
      </p:sp>
      <p:pic>
        <p:nvPicPr>
          <p:cNvPr id="4098" name="Picture 2">
            <a:extLst>
              <a:ext uri="{FF2B5EF4-FFF2-40B4-BE49-F238E27FC236}">
                <a16:creationId xmlns:a16="http://schemas.microsoft.com/office/drawing/2014/main" id="{0233FF3A-6E1F-CA4C-D270-A8408B97FD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3429000"/>
            <a:ext cx="5279612" cy="2587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3793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9C97-DD71-EDFA-29F3-30A56D4BF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89BB7-634C-258E-3968-40CBC703F6AE}"/>
              </a:ext>
            </a:extLst>
          </p:cNvPr>
          <p:cNvSpPr>
            <a:spLocks noGrp="1"/>
          </p:cNvSpPr>
          <p:nvPr>
            <p:ph type="title"/>
          </p:nvPr>
        </p:nvSpPr>
        <p:spPr>
          <a:xfrm>
            <a:off x="838200" y="365126"/>
            <a:ext cx="10515600" cy="637764"/>
          </a:xfrm>
        </p:spPr>
        <p:txBody>
          <a:bodyPr>
            <a:normAutofit fontScale="90000"/>
          </a:bodyPr>
          <a:lstStyle/>
          <a:p>
            <a:r>
              <a:rPr lang="en-US" dirty="0"/>
              <a:t>Tag and Data array Access</a:t>
            </a:r>
            <a:endParaRPr lang="en-IN" dirty="0"/>
          </a:p>
        </p:txBody>
      </p:sp>
      <p:sp>
        <p:nvSpPr>
          <p:cNvPr id="3" name="Content Placeholder 2">
            <a:extLst>
              <a:ext uri="{FF2B5EF4-FFF2-40B4-BE49-F238E27FC236}">
                <a16:creationId xmlns:a16="http://schemas.microsoft.com/office/drawing/2014/main" id="{D6F824FE-1DAC-B06E-1A20-454448B1D6D7}"/>
              </a:ext>
            </a:extLst>
          </p:cNvPr>
          <p:cNvSpPr>
            <a:spLocks noGrp="1"/>
          </p:cNvSpPr>
          <p:nvPr>
            <p:ph idx="1"/>
          </p:nvPr>
        </p:nvSpPr>
        <p:spPr>
          <a:xfrm>
            <a:off x="838200" y="1002890"/>
            <a:ext cx="10515600" cy="5771536"/>
          </a:xfrm>
        </p:spPr>
        <p:txBody>
          <a:bodyPr>
            <a:normAutofit/>
          </a:bodyPr>
          <a:lstStyle/>
          <a:p>
            <a:pPr marL="0" indent="0">
              <a:buNone/>
            </a:pPr>
            <a:r>
              <a:rPr lang="en-US" sz="2000" dirty="0"/>
              <a:t>3) It takes 3 ns to access a tag array value and 4.2 ns to access a data array, 1.3 ns to perform hit/ miss comparison and 1ns to return the selected data to processor.</a:t>
            </a:r>
          </a:p>
          <a:p>
            <a:pPr marL="457200" indent="-457200">
              <a:buAutoNum type="alphaLcParenBoth"/>
            </a:pPr>
            <a:r>
              <a:rPr lang="en-US" sz="2000" dirty="0"/>
              <a:t>What is the cache hit latency of the system?</a:t>
            </a:r>
          </a:p>
          <a:p>
            <a:pPr marL="457200" indent="-457200">
              <a:buAutoNum type="alphaLcParenBoth"/>
            </a:pPr>
            <a:r>
              <a:rPr lang="en-US" sz="2000" dirty="0"/>
              <a:t>What is the cache hit latency of the system if hit/ miss comparison will take 0.6 ns?</a:t>
            </a:r>
          </a:p>
          <a:p>
            <a:pPr marL="457200" indent="-457200">
              <a:buAutoNum type="alphaLcParenBoth"/>
            </a:pPr>
            <a:r>
              <a:rPr lang="en-US" sz="2000" dirty="0"/>
              <a:t>What would be the hit latency if both tag and data array access take 3.5 ns and hit/ miss comparison take 1 ns?</a:t>
            </a:r>
          </a:p>
          <a:p>
            <a:pPr marL="0" indent="0">
              <a:buNone/>
            </a:pPr>
            <a:endParaRPr lang="en-US" sz="2000" dirty="0"/>
          </a:p>
          <a:p>
            <a:pPr marL="457200" indent="-457200">
              <a:buAutoNum type="alphaLcParenR"/>
            </a:pPr>
            <a:r>
              <a:rPr lang="fr-FR" sz="2000" dirty="0"/>
              <a:t>Max (3+1.3, 4.2) + 1 =5.3ns</a:t>
            </a:r>
            <a:endParaRPr lang="en-US" sz="2000" dirty="0"/>
          </a:p>
        </p:txBody>
      </p:sp>
      <p:pic>
        <p:nvPicPr>
          <p:cNvPr id="4098" name="Picture 2">
            <a:extLst>
              <a:ext uri="{FF2B5EF4-FFF2-40B4-BE49-F238E27FC236}">
                <a16:creationId xmlns:a16="http://schemas.microsoft.com/office/drawing/2014/main" id="{9B1B06E4-6053-4734-A8C1-D33CB1809C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3429000"/>
            <a:ext cx="5279612" cy="2587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780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2F2AA-E9DC-6B86-CB80-8CC1933D5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C8A37-2C58-AADD-17C9-E7695D3F13CE}"/>
              </a:ext>
            </a:extLst>
          </p:cNvPr>
          <p:cNvSpPr>
            <a:spLocks noGrp="1"/>
          </p:cNvSpPr>
          <p:nvPr>
            <p:ph type="title"/>
          </p:nvPr>
        </p:nvSpPr>
        <p:spPr>
          <a:xfrm>
            <a:off x="838200" y="365126"/>
            <a:ext cx="10515600" cy="637764"/>
          </a:xfrm>
        </p:spPr>
        <p:txBody>
          <a:bodyPr>
            <a:normAutofit fontScale="90000"/>
          </a:bodyPr>
          <a:lstStyle/>
          <a:p>
            <a:r>
              <a:rPr lang="en-US" dirty="0"/>
              <a:t>Tag and Data array Access</a:t>
            </a:r>
            <a:endParaRPr lang="en-IN" dirty="0"/>
          </a:p>
        </p:txBody>
      </p:sp>
      <p:sp>
        <p:nvSpPr>
          <p:cNvPr id="3" name="Content Placeholder 2">
            <a:extLst>
              <a:ext uri="{FF2B5EF4-FFF2-40B4-BE49-F238E27FC236}">
                <a16:creationId xmlns:a16="http://schemas.microsoft.com/office/drawing/2014/main" id="{1BADE6CB-7B27-720F-BB7D-3CBF3ECEF820}"/>
              </a:ext>
            </a:extLst>
          </p:cNvPr>
          <p:cNvSpPr>
            <a:spLocks noGrp="1"/>
          </p:cNvSpPr>
          <p:nvPr>
            <p:ph idx="1"/>
          </p:nvPr>
        </p:nvSpPr>
        <p:spPr>
          <a:xfrm>
            <a:off x="838200" y="1002890"/>
            <a:ext cx="10515600" cy="5771536"/>
          </a:xfrm>
        </p:spPr>
        <p:txBody>
          <a:bodyPr>
            <a:normAutofit/>
          </a:bodyPr>
          <a:lstStyle/>
          <a:p>
            <a:pPr marL="0" indent="0">
              <a:buNone/>
            </a:pPr>
            <a:r>
              <a:rPr lang="en-US" sz="2000" dirty="0"/>
              <a:t>3) It takes 3 ns to access a tag array value and 4.2 ns to access a data array, 1.3 ns to perform hit/ miss comparison and 1ns to return the selected data to processor.</a:t>
            </a:r>
          </a:p>
          <a:p>
            <a:pPr marL="457200" indent="-457200">
              <a:buAutoNum type="alphaLcParenBoth"/>
            </a:pPr>
            <a:r>
              <a:rPr lang="en-US" sz="2000" dirty="0"/>
              <a:t>What is the cache hit latency of the system?</a:t>
            </a:r>
          </a:p>
          <a:p>
            <a:pPr marL="457200" indent="-457200">
              <a:buAutoNum type="alphaLcParenBoth"/>
            </a:pPr>
            <a:r>
              <a:rPr lang="en-US" sz="2000" dirty="0"/>
              <a:t>What is the cache hit latency of the system if hit/ miss comparison will take 0.6 ns?</a:t>
            </a:r>
          </a:p>
          <a:p>
            <a:pPr marL="457200" indent="-457200">
              <a:buAutoNum type="alphaLcParenBoth"/>
            </a:pPr>
            <a:r>
              <a:rPr lang="en-US" sz="2000" dirty="0"/>
              <a:t>What would be the hit latency if both tag and data array access take 3.5 ns and hit/ miss comparison take 1 ns?</a:t>
            </a:r>
          </a:p>
          <a:p>
            <a:pPr marL="0" indent="0">
              <a:buNone/>
            </a:pPr>
            <a:endParaRPr lang="en-US" sz="2000" dirty="0"/>
          </a:p>
          <a:p>
            <a:pPr marL="457200" indent="-457200">
              <a:buAutoNum type="alphaLcParenR"/>
            </a:pPr>
            <a:r>
              <a:rPr lang="fr-FR" sz="2000" dirty="0"/>
              <a:t>Max (3+1.3, 4.2) + 1 =5.3ns</a:t>
            </a:r>
          </a:p>
          <a:p>
            <a:pPr marL="457200" indent="-457200">
              <a:buAutoNum type="alphaLcParenR"/>
            </a:pPr>
            <a:r>
              <a:rPr lang="fr-FR" sz="2000" dirty="0"/>
              <a:t>Max (3+0.6, 4.2) + 1 =5.2ns</a:t>
            </a:r>
            <a:endParaRPr lang="en-US" sz="2000" dirty="0"/>
          </a:p>
        </p:txBody>
      </p:sp>
      <p:pic>
        <p:nvPicPr>
          <p:cNvPr id="4098" name="Picture 2">
            <a:extLst>
              <a:ext uri="{FF2B5EF4-FFF2-40B4-BE49-F238E27FC236}">
                <a16:creationId xmlns:a16="http://schemas.microsoft.com/office/drawing/2014/main" id="{89668C1C-7352-D692-4204-F77E94E560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3429000"/>
            <a:ext cx="5279612" cy="2587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7112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A0593-2363-73A5-E26C-82FF7C726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4A56B-41FB-CBCF-5073-D419FEBE4D7B}"/>
              </a:ext>
            </a:extLst>
          </p:cNvPr>
          <p:cNvSpPr>
            <a:spLocks noGrp="1"/>
          </p:cNvSpPr>
          <p:nvPr>
            <p:ph type="title"/>
          </p:nvPr>
        </p:nvSpPr>
        <p:spPr>
          <a:xfrm>
            <a:off x="838200" y="365126"/>
            <a:ext cx="10515600" cy="637764"/>
          </a:xfrm>
        </p:spPr>
        <p:txBody>
          <a:bodyPr>
            <a:normAutofit fontScale="90000"/>
          </a:bodyPr>
          <a:lstStyle/>
          <a:p>
            <a:r>
              <a:rPr lang="en-US" dirty="0"/>
              <a:t>Tag and Data array Access</a:t>
            </a:r>
            <a:endParaRPr lang="en-IN" dirty="0"/>
          </a:p>
        </p:txBody>
      </p:sp>
      <p:sp>
        <p:nvSpPr>
          <p:cNvPr id="3" name="Content Placeholder 2">
            <a:extLst>
              <a:ext uri="{FF2B5EF4-FFF2-40B4-BE49-F238E27FC236}">
                <a16:creationId xmlns:a16="http://schemas.microsoft.com/office/drawing/2014/main" id="{930B65DC-00B2-ED03-0F26-456CC6D4E249}"/>
              </a:ext>
            </a:extLst>
          </p:cNvPr>
          <p:cNvSpPr>
            <a:spLocks noGrp="1"/>
          </p:cNvSpPr>
          <p:nvPr>
            <p:ph idx="1"/>
          </p:nvPr>
        </p:nvSpPr>
        <p:spPr>
          <a:xfrm>
            <a:off x="838200" y="1002890"/>
            <a:ext cx="10515600" cy="5771536"/>
          </a:xfrm>
        </p:spPr>
        <p:txBody>
          <a:bodyPr>
            <a:normAutofit/>
          </a:bodyPr>
          <a:lstStyle/>
          <a:p>
            <a:pPr marL="0" indent="0">
              <a:buNone/>
            </a:pPr>
            <a:r>
              <a:rPr lang="en-US" sz="2000" dirty="0"/>
              <a:t>3) It takes 3 ns to access a tag array value and 4.2 ns to access a data array, 1.3 ns to perform hit/ miss comparison and 1ns to return the selected data to processor.</a:t>
            </a:r>
          </a:p>
          <a:p>
            <a:pPr marL="457200" indent="-457200">
              <a:buAutoNum type="alphaLcParenBoth"/>
            </a:pPr>
            <a:r>
              <a:rPr lang="en-US" sz="2000" dirty="0"/>
              <a:t>What is the cache hit latency of the system?</a:t>
            </a:r>
          </a:p>
          <a:p>
            <a:pPr marL="457200" indent="-457200">
              <a:buAutoNum type="alphaLcParenBoth"/>
            </a:pPr>
            <a:r>
              <a:rPr lang="en-US" sz="2000" dirty="0"/>
              <a:t>What is the cache hit latency of the system if hit/ miss comparison will take 0.6 ns?</a:t>
            </a:r>
          </a:p>
          <a:p>
            <a:pPr marL="457200" indent="-457200">
              <a:buAutoNum type="alphaLcParenBoth"/>
            </a:pPr>
            <a:r>
              <a:rPr lang="en-US" sz="2000" dirty="0"/>
              <a:t>What would be the hit latency if both tag and data array access take 3.5 ns and hit/ miss comparison take 1 ns?</a:t>
            </a:r>
          </a:p>
          <a:p>
            <a:pPr marL="0" indent="0">
              <a:buNone/>
            </a:pPr>
            <a:endParaRPr lang="en-US" sz="2000" dirty="0"/>
          </a:p>
          <a:p>
            <a:pPr marL="457200" indent="-457200">
              <a:buAutoNum type="alphaLcParenR"/>
            </a:pPr>
            <a:r>
              <a:rPr lang="fr-FR" sz="2000" dirty="0"/>
              <a:t>Max (3+1.3, 4.2) + 1 =5.3ns</a:t>
            </a:r>
          </a:p>
          <a:p>
            <a:pPr marL="457200" indent="-457200">
              <a:buAutoNum type="alphaLcParenR"/>
            </a:pPr>
            <a:r>
              <a:rPr lang="fr-FR" sz="2000" dirty="0"/>
              <a:t>Max (3+0.6, 4.2) + 1 =5.2ns</a:t>
            </a:r>
          </a:p>
          <a:p>
            <a:pPr marL="457200" indent="-457200">
              <a:buAutoNum type="alphaLcParenR"/>
            </a:pPr>
            <a:r>
              <a:rPr lang="fr-FR" sz="2000" dirty="0"/>
              <a:t>Max (3.5+1, 3.5) + 1 =5.5ns</a:t>
            </a:r>
            <a:endParaRPr lang="en-US" sz="2000" dirty="0"/>
          </a:p>
        </p:txBody>
      </p:sp>
      <p:pic>
        <p:nvPicPr>
          <p:cNvPr id="4098" name="Picture 2">
            <a:extLst>
              <a:ext uri="{FF2B5EF4-FFF2-40B4-BE49-F238E27FC236}">
                <a16:creationId xmlns:a16="http://schemas.microsoft.com/office/drawing/2014/main" id="{B4BE12DD-5B15-764A-6743-1D965E587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3429000"/>
            <a:ext cx="5279612" cy="2587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94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8D90C-F823-F37F-C3A8-9440676CE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4EE00-BA68-202B-6AF3-26E55A6C831A}"/>
              </a:ext>
            </a:extLst>
          </p:cNvPr>
          <p:cNvSpPr>
            <a:spLocks noGrp="1"/>
          </p:cNvSpPr>
          <p:nvPr>
            <p:ph type="title"/>
          </p:nvPr>
        </p:nvSpPr>
        <p:spPr>
          <a:xfrm>
            <a:off x="838200" y="365126"/>
            <a:ext cx="10515600" cy="637764"/>
          </a:xfrm>
        </p:spPr>
        <p:txBody>
          <a:bodyPr>
            <a:normAutofit fontScale="90000"/>
          </a:bodyPr>
          <a:lstStyle/>
          <a:p>
            <a:r>
              <a:rPr lang="en-IN" dirty="0"/>
              <a:t>MPKI – Miss rate Relation</a:t>
            </a:r>
          </a:p>
        </p:txBody>
      </p:sp>
      <p:sp>
        <p:nvSpPr>
          <p:cNvPr id="3" name="Content Placeholder 2">
            <a:extLst>
              <a:ext uri="{FF2B5EF4-FFF2-40B4-BE49-F238E27FC236}">
                <a16:creationId xmlns:a16="http://schemas.microsoft.com/office/drawing/2014/main" id="{F5CB9FDE-D411-CA98-FDB4-101F7FFE24AD}"/>
              </a:ext>
            </a:extLst>
          </p:cNvPr>
          <p:cNvSpPr>
            <a:spLocks noGrp="1"/>
          </p:cNvSpPr>
          <p:nvPr>
            <p:ph idx="1"/>
          </p:nvPr>
        </p:nvSpPr>
        <p:spPr>
          <a:xfrm>
            <a:off x="838200" y="1002890"/>
            <a:ext cx="10515600" cy="5771536"/>
          </a:xfrm>
        </p:spPr>
        <p:txBody>
          <a:bodyPr>
            <a:normAutofit/>
          </a:bodyPr>
          <a:lstStyle/>
          <a:p>
            <a:pPr marL="0" indent="0">
              <a:buNone/>
            </a:pPr>
            <a:r>
              <a:rPr lang="en-US" sz="2000" dirty="0"/>
              <a:t>4) The MPKI of a two programs A and B are 44 and 35 respectively. If 35% of A is data access instruction, what is the data access pattern of B if both A and B have same cache hit rate?</a:t>
            </a:r>
          </a:p>
        </p:txBody>
      </p:sp>
    </p:spTree>
    <p:extLst>
      <p:ext uri="{BB962C8B-B14F-4D97-AF65-F5344CB8AC3E}">
        <p14:creationId xmlns:p14="http://schemas.microsoft.com/office/powerpoint/2010/main" val="3929054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FBC2E-6FB9-63A6-39CD-A337D6E4A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BAD6D-B67E-F24B-72F3-3A2FA97237FD}"/>
              </a:ext>
            </a:extLst>
          </p:cNvPr>
          <p:cNvSpPr>
            <a:spLocks noGrp="1"/>
          </p:cNvSpPr>
          <p:nvPr>
            <p:ph type="title"/>
          </p:nvPr>
        </p:nvSpPr>
        <p:spPr>
          <a:xfrm>
            <a:off x="838200" y="365126"/>
            <a:ext cx="10515600" cy="637764"/>
          </a:xfrm>
        </p:spPr>
        <p:txBody>
          <a:bodyPr>
            <a:normAutofit fontScale="90000"/>
          </a:bodyPr>
          <a:lstStyle/>
          <a:p>
            <a:r>
              <a:rPr lang="en-IN" dirty="0"/>
              <a:t>MPKI – Miss rate Relation</a:t>
            </a:r>
          </a:p>
        </p:txBody>
      </p:sp>
      <p:sp>
        <p:nvSpPr>
          <p:cNvPr id="3" name="Content Placeholder 2">
            <a:extLst>
              <a:ext uri="{FF2B5EF4-FFF2-40B4-BE49-F238E27FC236}">
                <a16:creationId xmlns:a16="http://schemas.microsoft.com/office/drawing/2014/main" id="{0E35D797-BAE1-804B-E541-DF21DD743221}"/>
              </a:ext>
            </a:extLst>
          </p:cNvPr>
          <p:cNvSpPr>
            <a:spLocks noGrp="1"/>
          </p:cNvSpPr>
          <p:nvPr>
            <p:ph idx="1"/>
          </p:nvPr>
        </p:nvSpPr>
        <p:spPr>
          <a:xfrm>
            <a:off x="838200" y="1002890"/>
            <a:ext cx="10515600" cy="5771536"/>
          </a:xfrm>
        </p:spPr>
        <p:txBody>
          <a:bodyPr>
            <a:normAutofit/>
          </a:bodyPr>
          <a:lstStyle/>
          <a:p>
            <a:pPr marL="0" indent="0">
              <a:buNone/>
            </a:pPr>
            <a:r>
              <a:rPr lang="en-US" sz="2000" dirty="0"/>
              <a:t>4) The MPKI of a two programs A and B are 44 and 35 respectively. If 35% of A is data access instruction, what is the data access pattern of B if both A and B have same cache hit rate?</a:t>
            </a:r>
          </a:p>
          <a:p>
            <a:pPr marL="0" indent="0">
              <a:buNone/>
            </a:pPr>
            <a:endParaRPr lang="en-US" sz="2000" dirty="0"/>
          </a:p>
          <a:p>
            <a:pPr marL="0" indent="0">
              <a:buNone/>
            </a:pPr>
            <a:r>
              <a:rPr lang="en-US" sz="2000" dirty="0"/>
              <a:t>MPKI-A = 44 ; MPKI-B=35</a:t>
            </a:r>
          </a:p>
          <a:p>
            <a:pPr marL="0" indent="0">
              <a:buNone/>
            </a:pPr>
            <a:r>
              <a:rPr lang="en-US" sz="2000" dirty="0"/>
              <a:t>Hit Rate A = Hit Rate B =&gt; Miss Rate A = Miss Rate B</a:t>
            </a:r>
          </a:p>
          <a:p>
            <a:pPr marL="0" indent="0">
              <a:buNone/>
            </a:pPr>
            <a:r>
              <a:rPr lang="en-US" sz="2000" dirty="0"/>
              <a:t>MR = misses/ memory access</a:t>
            </a:r>
          </a:p>
          <a:p>
            <a:pPr marL="0" indent="0">
              <a:buNone/>
            </a:pPr>
            <a:r>
              <a:rPr lang="en-US" sz="2000" dirty="0"/>
              <a:t>          (misses/ instruction) / (memory access / instruction)</a:t>
            </a:r>
          </a:p>
          <a:p>
            <a:pPr marL="0" indent="0">
              <a:buNone/>
            </a:pPr>
            <a:r>
              <a:rPr lang="en-US" sz="2000" dirty="0"/>
              <a:t>          MR= MPI/MAPI</a:t>
            </a:r>
          </a:p>
          <a:p>
            <a:pPr marL="0" indent="0">
              <a:buNone/>
            </a:pPr>
            <a:r>
              <a:rPr lang="en-US" sz="2000" dirty="0"/>
              <a:t>Given that Miss Rate A = Miss Rate B =&gt; (44/1000)/1.35 = (35/1000)/ MAPI-B</a:t>
            </a:r>
          </a:p>
          <a:p>
            <a:pPr marL="0" indent="0">
              <a:buNone/>
            </a:pPr>
            <a:r>
              <a:rPr lang="en-US" sz="2000" dirty="0"/>
              <a:t>MAPI-B= (0.035x1.35)/0.044 = 1.073</a:t>
            </a:r>
          </a:p>
          <a:p>
            <a:pPr marL="0" indent="0">
              <a:buNone/>
            </a:pPr>
            <a:r>
              <a:rPr lang="en-US" sz="2000" dirty="0"/>
              <a:t>7.3% of instructions in B are data access instructions</a:t>
            </a:r>
          </a:p>
        </p:txBody>
      </p:sp>
    </p:spTree>
    <p:extLst>
      <p:ext uri="{BB962C8B-B14F-4D97-AF65-F5344CB8AC3E}">
        <p14:creationId xmlns:p14="http://schemas.microsoft.com/office/powerpoint/2010/main" val="2881818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1E7A7-11BF-0D3A-54F9-71E9B115C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DB448-2273-F91A-60F7-D3CAA2EA5A93}"/>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175EDA82-4202-557D-E2C3-A2C5DFD5B131}"/>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Consider the following 14 block numbers all mapped to a particular set n given in the order of arrival.</a:t>
            </a:r>
          </a:p>
          <a:p>
            <a:pPr marL="0" indent="0">
              <a:buNone/>
            </a:pPr>
            <a:r>
              <a:rPr lang="en-US" sz="2000" dirty="0"/>
              <a:t>A, B, C, D, A, B, E, F, A, B, F, C, D, A.</a:t>
            </a:r>
          </a:p>
          <a:p>
            <a:pPr marL="0" indent="0">
              <a:buNone/>
            </a:pPr>
            <a:r>
              <a:rPr lang="en-US" sz="2000" dirty="0"/>
              <a:t>Find the number of cache misses (excluding compulsory misses) in mode-1.</a:t>
            </a:r>
          </a:p>
          <a:p>
            <a:pPr marL="0" indent="0">
              <a:buNone/>
            </a:pPr>
            <a:r>
              <a:rPr lang="en-US" sz="2000" dirty="0"/>
              <a:t>Draw the pseudo LRU tree for set n after processing these requests in mode-1.</a:t>
            </a:r>
          </a:p>
          <a:p>
            <a:pPr marL="0" indent="0">
              <a:buNone/>
            </a:pPr>
            <a:r>
              <a:rPr lang="en-US" sz="2000" dirty="0"/>
              <a:t>Find the number of cache misses (including compulsory misses) in mode-2.</a:t>
            </a:r>
          </a:p>
          <a:p>
            <a:pPr marL="0" indent="0">
              <a:buNone/>
            </a:pPr>
            <a:r>
              <a:rPr lang="en-US" sz="2000" dirty="0"/>
              <a:t>Draw the content of set n (way-0 to way-3) after processing these requests in mode-2.</a:t>
            </a:r>
          </a:p>
        </p:txBody>
      </p:sp>
    </p:spTree>
    <p:extLst>
      <p:ext uri="{BB962C8B-B14F-4D97-AF65-F5344CB8AC3E}">
        <p14:creationId xmlns:p14="http://schemas.microsoft.com/office/powerpoint/2010/main" val="1608489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602E6-E765-B560-22A0-E7E1610F9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E12B7-7BBF-5B80-75B6-9194A6D64CC7}"/>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F464596B-02D1-02CC-59E0-3C80A76BA06E}"/>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spTree>
    <p:extLst>
      <p:ext uri="{BB962C8B-B14F-4D97-AF65-F5344CB8AC3E}">
        <p14:creationId xmlns:p14="http://schemas.microsoft.com/office/powerpoint/2010/main" val="1135782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FB5-8167-2E73-94BD-A16F85774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B3FD8-64BD-F153-AE09-A3750C56E26C}"/>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510460E3-E751-6BCB-6525-0F4A49D8B185}"/>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5122" name="Picture 2">
            <a:extLst>
              <a:ext uri="{FF2B5EF4-FFF2-40B4-BE49-F238E27FC236}">
                <a16:creationId xmlns:a16="http://schemas.microsoft.com/office/drawing/2014/main" id="{8B236F6C-AD63-3EF6-A103-BB9A89744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5"/>
            <a:ext cx="1649362" cy="1678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590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1-457C-AADE-2D14-5B2A1CC6E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F4095-9324-68B0-FF3D-7E5CB7388A0C}"/>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797FC8B9-D12D-9822-9F1D-090A185D97F6}"/>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5122" name="Picture 2">
            <a:extLst>
              <a:ext uri="{FF2B5EF4-FFF2-40B4-BE49-F238E27FC236}">
                <a16:creationId xmlns:a16="http://schemas.microsoft.com/office/drawing/2014/main" id="{9C63D4EA-C419-C15E-6A7F-3C8BC2E7D2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5"/>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3FEE5576-DA0A-FF5D-2DEF-D2D43CCE3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11" y="3136284"/>
            <a:ext cx="1649362" cy="1678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796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DBFC9-127F-E21E-FBC6-8511AF24D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7D262-0156-79E2-9040-1AED5BCE584D}"/>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51925F36-7272-BFF2-B215-E182D00ECEB8}"/>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5122" name="Picture 2">
            <a:extLst>
              <a:ext uri="{FF2B5EF4-FFF2-40B4-BE49-F238E27FC236}">
                <a16:creationId xmlns:a16="http://schemas.microsoft.com/office/drawing/2014/main" id="{DF29FA1B-68FD-FFCF-5783-42AD867FAB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5"/>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4FE0E83-D7DC-7FC5-79A6-86C1081749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11" y="3136284"/>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444D763B-769F-870C-EFB4-C0E8EFEF1B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96" y="3136283"/>
            <a:ext cx="1649361" cy="16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584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FAB7E-2041-DED5-56D7-BD77C8549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68269-D326-7BF7-ED69-63D1C576F78C}"/>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961C7E9D-AD7D-171E-A48D-18D3DB2494E0}"/>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5122" name="Picture 2">
            <a:extLst>
              <a:ext uri="{FF2B5EF4-FFF2-40B4-BE49-F238E27FC236}">
                <a16:creationId xmlns:a16="http://schemas.microsoft.com/office/drawing/2014/main" id="{96C8DE71-2F09-EE4A-F772-9E16E4A501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5"/>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730A3ED2-949A-6D3B-19D7-A65A33EB5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11" y="3136284"/>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210C777D-D7F4-DD91-3C95-9DA5CA5A81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96" y="3136283"/>
            <a:ext cx="1649361" cy="167829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67F022D6-D82F-41F0-025D-23637C3761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80" y="3136283"/>
            <a:ext cx="1649360" cy="167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505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6BBDD-F65D-EB47-4D74-AF0F07897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2AA9B-A4CC-025B-1D9D-45829ED5FF4F}"/>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B58B8D52-945C-A01B-7A98-446A961F1238}"/>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5122" name="Picture 2">
            <a:extLst>
              <a:ext uri="{FF2B5EF4-FFF2-40B4-BE49-F238E27FC236}">
                <a16:creationId xmlns:a16="http://schemas.microsoft.com/office/drawing/2014/main" id="{203C50BE-A1B7-549B-BA51-1268B3694B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5"/>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F53B0048-2258-D6FA-BA11-5B34830B10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11" y="3136284"/>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236E97AC-E751-F03D-EE8E-749E97FD35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96" y="3136283"/>
            <a:ext cx="1649361" cy="167829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6CEF6394-55C1-FC0B-557D-DD0AC5871A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80" y="3136283"/>
            <a:ext cx="1649360" cy="1678296"/>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88852D06-4018-3B0E-00BE-381DB8E1F3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6626" y="4814579"/>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5922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C6F8F-3FCB-76B8-DE61-5CEC553B2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A2F19-12B5-9591-3000-2C8A8B366648}"/>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01F10AEE-9702-5841-4643-AE7411B1BE41}"/>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5122" name="Picture 2">
            <a:extLst>
              <a:ext uri="{FF2B5EF4-FFF2-40B4-BE49-F238E27FC236}">
                <a16:creationId xmlns:a16="http://schemas.microsoft.com/office/drawing/2014/main" id="{47A48AB4-183A-CCDD-02E6-C401788BC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5"/>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ECC46E74-323B-743A-24EC-983404C51F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11" y="3136284"/>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8010D7CE-5FB5-A162-10C9-C8F5785B2A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96" y="3136283"/>
            <a:ext cx="1649361" cy="167829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EC0FE16E-7EC5-166B-A2B3-A4194B22C1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80" y="3136283"/>
            <a:ext cx="1649360" cy="1678296"/>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EA7186C0-14ED-1342-380D-6DA76B5257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6626" y="4814579"/>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a:extLst>
              <a:ext uri="{FF2B5EF4-FFF2-40B4-BE49-F238E27FC236}">
                <a16:creationId xmlns:a16="http://schemas.microsoft.com/office/drawing/2014/main" id="{B8424D6C-389C-1CC2-EE3D-7AC16AC7DA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308" y="4814578"/>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060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A78F-B34A-5B05-EE41-1AAD58BE5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59318-4F59-D5CF-987F-AF3B61AC790E}"/>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92A3AF31-866C-CB74-89E3-24EDB2BA1BE2}"/>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5122" name="Picture 2">
            <a:extLst>
              <a:ext uri="{FF2B5EF4-FFF2-40B4-BE49-F238E27FC236}">
                <a16:creationId xmlns:a16="http://schemas.microsoft.com/office/drawing/2014/main" id="{73E0B93D-1C59-2910-B1CB-027715EE7B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5"/>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F40A4680-191C-126D-E4D9-705D0073B5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11" y="3136284"/>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A3964CD7-0123-6438-4574-9F40D62E45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96" y="3136283"/>
            <a:ext cx="1649361" cy="167829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57235602-91D7-A5EE-639A-C6D188FD74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80" y="3136283"/>
            <a:ext cx="1649360" cy="1678296"/>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DBF7AFF4-4D4B-9851-7EA9-B4BB5CAB704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6626" y="4814579"/>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a:extLst>
              <a:ext uri="{FF2B5EF4-FFF2-40B4-BE49-F238E27FC236}">
                <a16:creationId xmlns:a16="http://schemas.microsoft.com/office/drawing/2014/main" id="{EE70AC22-367E-BFA9-4439-ADDF96C61B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308" y="4814578"/>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a:extLst>
              <a:ext uri="{FF2B5EF4-FFF2-40B4-BE49-F238E27FC236}">
                <a16:creationId xmlns:a16="http://schemas.microsoft.com/office/drawing/2014/main" id="{21D11543-721E-A8D4-F039-C042CD7CEF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7987" y="4814577"/>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952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B157C-741E-5ACA-0D6D-47E06459A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9575C-C7A8-657B-49F0-2D0C5B3957C9}"/>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E50FDBA8-CBE1-A829-300F-FA15F1FD3C99}"/>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5122" name="Picture 2">
            <a:extLst>
              <a:ext uri="{FF2B5EF4-FFF2-40B4-BE49-F238E27FC236}">
                <a16:creationId xmlns:a16="http://schemas.microsoft.com/office/drawing/2014/main" id="{DD1070EE-3974-F95E-A23D-8D92CF46F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5"/>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4C0D22F6-E957-2A68-D263-974780B052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11" y="3136284"/>
            <a:ext cx="1649362" cy="167829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A252E7E7-6254-352C-6D14-4952B7AE9B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96" y="3136283"/>
            <a:ext cx="1649361" cy="167829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C50143C9-B418-268A-D846-6D82CF6487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80" y="3136283"/>
            <a:ext cx="1649360" cy="1678296"/>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AB0CF88A-CA96-3AD4-9375-E6854EA77E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6626" y="4814579"/>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a:extLst>
              <a:ext uri="{FF2B5EF4-FFF2-40B4-BE49-F238E27FC236}">
                <a16:creationId xmlns:a16="http://schemas.microsoft.com/office/drawing/2014/main" id="{9000C01F-B652-813D-97FE-C7F9F82459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308" y="4814578"/>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a:extLst>
              <a:ext uri="{FF2B5EF4-FFF2-40B4-BE49-F238E27FC236}">
                <a16:creationId xmlns:a16="http://schemas.microsoft.com/office/drawing/2014/main" id="{E25F60AC-D0B0-1A1F-D32F-7D63B396E69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7987" y="4814577"/>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a:extLst>
              <a:ext uri="{FF2B5EF4-FFF2-40B4-BE49-F238E27FC236}">
                <a16:creationId xmlns:a16="http://schemas.microsoft.com/office/drawing/2014/main" id="{8E3196C1-416B-A35D-D079-C86A16F02B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53660" y="4814576"/>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404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37153-24F8-6EDA-C250-E7CC4ABC7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9D884-A59D-BC8F-1E48-7498F1401824}"/>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4F65F71F-EC08-E1CA-BD6C-06E0AE2ADB7C}"/>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8" name="Picture 10">
            <a:extLst>
              <a:ext uri="{FF2B5EF4-FFF2-40B4-BE49-F238E27FC236}">
                <a16:creationId xmlns:a16="http://schemas.microsoft.com/office/drawing/2014/main" id="{E605CD69-F41D-4474-C0EB-D640EC60FF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3"/>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a:extLst>
              <a:ext uri="{FF2B5EF4-FFF2-40B4-BE49-F238E27FC236}">
                <a16:creationId xmlns:a16="http://schemas.microsoft.com/office/drawing/2014/main" id="{ACD6245E-1A03-F724-50F1-FED0A1D542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08" y="3136282"/>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6">
            <a:extLst>
              <a:ext uri="{FF2B5EF4-FFF2-40B4-BE49-F238E27FC236}">
                <a16:creationId xmlns:a16="http://schemas.microsoft.com/office/drawing/2014/main" id="{20F5A61E-85EB-6220-E659-8898D66AD4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87" y="3136281"/>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7B35BF17-4538-1136-6EC1-147E84F6DD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60" y="3136280"/>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1DAB170D-96C2-0F1A-0C62-E8A4EE042B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6625" y="4814575"/>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7930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64EBF-A7CE-A00F-3C3D-2B24F4ED9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16599-4BBE-806E-BE61-309B8E72F83F}"/>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F446EF97-B7FC-655D-5AA4-2F10211A5E7F}"/>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8" name="Picture 10">
            <a:extLst>
              <a:ext uri="{FF2B5EF4-FFF2-40B4-BE49-F238E27FC236}">
                <a16:creationId xmlns:a16="http://schemas.microsoft.com/office/drawing/2014/main" id="{72514364-59C3-DF25-28A5-2D0E4196E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3"/>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a:extLst>
              <a:ext uri="{FF2B5EF4-FFF2-40B4-BE49-F238E27FC236}">
                <a16:creationId xmlns:a16="http://schemas.microsoft.com/office/drawing/2014/main" id="{9F0F4AA5-B78E-E539-BF6C-FC661E9154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08" y="3136282"/>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6">
            <a:extLst>
              <a:ext uri="{FF2B5EF4-FFF2-40B4-BE49-F238E27FC236}">
                <a16:creationId xmlns:a16="http://schemas.microsoft.com/office/drawing/2014/main" id="{AD6AE673-0E76-F7AF-2904-63DECBDC22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87" y="3136281"/>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41F571AE-F895-65C0-EA12-425442F20D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60" y="3136280"/>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B132DA0A-AA88-CB2A-DADD-A92DD0ECD5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6625" y="4814575"/>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2356C731-5898-DEB7-9F66-EAF30090D7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298" y="4812116"/>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228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27DF6-3C01-2AD8-611B-CA5D50906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88F2D-8208-0A90-D841-B34C17D9F3A5}"/>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64B22C35-305D-DA44-AB3F-F5C3F14E833A}"/>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8" name="Picture 10">
            <a:extLst>
              <a:ext uri="{FF2B5EF4-FFF2-40B4-BE49-F238E27FC236}">
                <a16:creationId xmlns:a16="http://schemas.microsoft.com/office/drawing/2014/main" id="{81615865-851D-008C-2134-8205180E0D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3"/>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a:extLst>
              <a:ext uri="{FF2B5EF4-FFF2-40B4-BE49-F238E27FC236}">
                <a16:creationId xmlns:a16="http://schemas.microsoft.com/office/drawing/2014/main" id="{48379918-28BF-5AD2-AD67-E10120B3D5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08" y="3136282"/>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6">
            <a:extLst>
              <a:ext uri="{FF2B5EF4-FFF2-40B4-BE49-F238E27FC236}">
                <a16:creationId xmlns:a16="http://schemas.microsoft.com/office/drawing/2014/main" id="{A7FE452F-07E4-D64D-BB2E-34ECE5F2F8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87" y="3136281"/>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0DBA8912-42D7-F533-1455-FE2CAF209F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60" y="3136280"/>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D1AC2CAC-B030-7E46-2201-6E1754399B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6625" y="4814575"/>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6189215F-827E-AC6A-B6EC-55219FC8CB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298" y="4812116"/>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CE0FB09F-E7B7-F5FC-B094-886A4D26F0D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7970" y="4812115"/>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6952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29757-1F0A-1E39-0673-6F05C2D75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7D6D4-586E-E5CE-AC31-8A50AC574816}"/>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321097FD-E0F6-8987-7433-A264E5CBBCCD}"/>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8" name="Picture 10">
            <a:extLst>
              <a:ext uri="{FF2B5EF4-FFF2-40B4-BE49-F238E27FC236}">
                <a16:creationId xmlns:a16="http://schemas.microsoft.com/office/drawing/2014/main" id="{EF3F125E-7056-D7B6-E222-CF268046AC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136283"/>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a:extLst>
              <a:ext uri="{FF2B5EF4-FFF2-40B4-BE49-F238E27FC236}">
                <a16:creationId xmlns:a16="http://schemas.microsoft.com/office/drawing/2014/main" id="{BE802DE1-B6BC-1E74-8D36-18A0BC0E8C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308" y="3136282"/>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6">
            <a:extLst>
              <a:ext uri="{FF2B5EF4-FFF2-40B4-BE49-F238E27FC236}">
                <a16:creationId xmlns:a16="http://schemas.microsoft.com/office/drawing/2014/main" id="{09F417AF-FA49-FB77-9D94-5FB2F43C29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7987" y="3136281"/>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820A1714-447E-B9A4-C832-47EB807403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3660" y="3136280"/>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C093DBCE-A199-A7D2-ADD8-48AE78684F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6625" y="4814575"/>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B4F14C3A-01C3-BF82-C046-108DC58D5E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298" y="4812116"/>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A3F621DC-5992-1BA8-59F3-9DCBD95862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7970" y="4812115"/>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4656AA8F-CB30-5C4B-D0E0-A0AA0D03A5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53632" y="4812112"/>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8378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227C8-CFFB-3C86-39A9-528210DED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3FF87-2228-4CA8-90F5-2099D57F7DF6}"/>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43D565FA-1302-03CF-5B75-8D4E8AB90D9C}"/>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13" name="Picture 2">
            <a:extLst>
              <a:ext uri="{FF2B5EF4-FFF2-40B4-BE49-F238E27FC236}">
                <a16:creationId xmlns:a16="http://schemas.microsoft.com/office/drawing/2014/main" id="{C9272550-658A-647E-69D6-E95A7A1550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2749" y="3133817"/>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a:extLst>
              <a:ext uri="{FF2B5EF4-FFF2-40B4-BE49-F238E27FC236}">
                <a16:creationId xmlns:a16="http://schemas.microsoft.com/office/drawing/2014/main" id="{CB3FAF35-032F-769F-12E7-7CD38D70DB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8422" y="3131358"/>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BB467955-D6B9-B02B-DBB9-46D5719525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4094" y="3131357"/>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73932E47-2EA5-4B65-8C86-C35C2B2578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79756" y="3131354"/>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8830F3E7-B340-5AA1-3F05-132259D04F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2749" y="4817022"/>
            <a:ext cx="1649359" cy="1678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794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15850-7D0F-E9FC-E6B6-D17564617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07E5B-2DD7-F267-DCAC-A64827DD72E6}"/>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3715E5D9-C68E-95F4-4107-4885D98F1260}"/>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pseudo LRU block replacement policy Block List that maps to set n. A, B, C, D, A, B, E, F, A, B, F, C, D, A.</a:t>
            </a:r>
          </a:p>
          <a:p>
            <a:pPr marL="0" indent="0">
              <a:buNone/>
            </a:pPr>
            <a:endParaRPr lang="en-US" sz="2000" dirty="0">
              <a:solidFill>
                <a:schemeClr val="accent1"/>
              </a:solidFill>
            </a:endParaRPr>
          </a:p>
        </p:txBody>
      </p:sp>
      <p:pic>
        <p:nvPicPr>
          <p:cNvPr id="13" name="Picture 2">
            <a:extLst>
              <a:ext uri="{FF2B5EF4-FFF2-40B4-BE49-F238E27FC236}">
                <a16:creationId xmlns:a16="http://schemas.microsoft.com/office/drawing/2014/main" id="{810BCDB4-74AC-6C54-34A5-B164FDBAA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2749" y="3133817"/>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a:extLst>
              <a:ext uri="{FF2B5EF4-FFF2-40B4-BE49-F238E27FC236}">
                <a16:creationId xmlns:a16="http://schemas.microsoft.com/office/drawing/2014/main" id="{F141AD19-5C1C-283B-4F9B-2C5C452EA1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8422" y="3131358"/>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B7BC9DE6-65FD-7345-43BF-B6E1B6DCF9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4094" y="3131357"/>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36D4907B-3D37-1CAC-386A-BD07538219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79756" y="3131354"/>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4BB0B3FC-6549-0171-BD44-65CF7A66A4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2749" y="4817022"/>
            <a:ext cx="1649359" cy="1678295"/>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a:extLst>
              <a:ext uri="{FF2B5EF4-FFF2-40B4-BE49-F238E27FC236}">
                <a16:creationId xmlns:a16="http://schemas.microsoft.com/office/drawing/2014/main" id="{C73241BD-0369-A177-E4F0-10AF93EBB5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8411" y="4809649"/>
            <a:ext cx="1649358" cy="16782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9AA9CC3-787D-B113-66C7-C9B96FC51336}"/>
              </a:ext>
            </a:extLst>
          </p:cNvPr>
          <p:cNvSpPr txBox="1"/>
          <p:nvPr/>
        </p:nvSpPr>
        <p:spPr>
          <a:xfrm>
            <a:off x="6587613" y="5181600"/>
            <a:ext cx="1576778" cy="1200329"/>
          </a:xfrm>
          <a:prstGeom prst="rect">
            <a:avLst/>
          </a:prstGeom>
          <a:noFill/>
        </p:spPr>
        <p:txBody>
          <a:bodyPr wrap="none" rtlCol="0">
            <a:spAutoFit/>
          </a:bodyPr>
          <a:lstStyle/>
          <a:p>
            <a:r>
              <a:rPr lang="en-US" dirty="0"/>
              <a:t>Total 14 access</a:t>
            </a:r>
          </a:p>
          <a:p>
            <a:r>
              <a:rPr lang="en-US" dirty="0"/>
              <a:t>6 CMP-Miss</a:t>
            </a:r>
          </a:p>
          <a:p>
            <a:r>
              <a:rPr lang="en-US" dirty="0"/>
              <a:t>3 CNF-Miss</a:t>
            </a:r>
          </a:p>
          <a:p>
            <a:r>
              <a:rPr lang="en-US" dirty="0"/>
              <a:t>5 HITS</a:t>
            </a:r>
            <a:endParaRPr lang="en-IN" dirty="0"/>
          </a:p>
        </p:txBody>
      </p:sp>
    </p:spTree>
    <p:extLst>
      <p:ext uri="{BB962C8B-B14F-4D97-AF65-F5344CB8AC3E}">
        <p14:creationId xmlns:p14="http://schemas.microsoft.com/office/powerpoint/2010/main" val="986479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46F6D-C437-F83C-9703-CC88D7AE8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E1DEA-EF05-DFCB-6C6B-231B04D6D9C3}"/>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7B1C8AC9-4BB8-D777-FCDC-5575220FDF5D}"/>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67AB24E2-C32F-B6FC-2657-DB9854445A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8521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CF330-99D3-AE5A-4D7B-51FDA84D6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06E1D-BBCF-5F72-6A71-B273F8E1F5C9}"/>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5952328A-EDCB-E356-BDAE-9463ADD9AB60}"/>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3DBD68A1-FED3-0019-993E-4BD2611B6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F8E2264F-C277-A114-CB9F-9DFC7CFBF6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092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85877-09F5-3C72-D9A2-71E5CCFF9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E4943-BBCD-5A9C-1005-279D18B3059A}"/>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F14521A0-34A5-D83E-3F45-B276E6AF8F58}"/>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E2A67EEC-9BB8-5FFC-DE1F-D62452F22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EE3AEA4A-28D7-C61D-8EE9-F0F6757306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3A0B417B-ADB8-F48C-F904-1BE65F82C9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728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3E84-33E5-9261-4B2B-CBA933988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AE088-ED71-2865-D197-C24B1B98A25B}"/>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24EAD6F8-5F0C-3552-081A-03B4725C875E}"/>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A507B507-F085-4BA1-66D9-AC238C4DF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D7531790-61D9-C70E-B61C-2D8462567F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BE3F1991-468F-DD57-4E4C-AD3BF85F95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DE16F8BF-80AD-45E8-04E0-DE390892D1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876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91E2C-3EB8-24C0-0946-3749EB33B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31D39-E39C-AFAC-4334-BB34A3C53D3F}"/>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7D1CC1B8-15E8-932C-CC2C-CEB0BD5E324D}"/>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8D54AFC0-A414-53CD-F18F-FF99BE7B3F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21340C7B-2012-14F9-991E-AEB170C9FD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D21B2C95-0D34-43A1-7395-6D2D75E0CC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AD97C5DA-E85F-D42E-409C-30207009DF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8EF8BFEB-6D6D-C96E-00CF-389D92E4BF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600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E7CEE-294D-8B1A-70E2-BD8F10B54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33BE8-A928-C621-7589-94C47208B971}"/>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966986A4-39D2-0CBC-0FA7-E360C2EE8231}"/>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1A300001-3F3E-AD37-83C1-69DA80B47D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068E1C19-54FA-0275-A998-E50AA6379A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91FFC527-9B35-BBFD-E0FB-A464CB31D6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D0D30A98-39A0-F5DB-7F25-723A24A6F1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A7CCABB6-DD89-FCAA-8349-1098BA8E8A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7F1C5484-54AD-E888-8D59-6C84DCD7126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475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E2FEA-3F08-98B4-C885-1851B0316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3FC60-0D64-3C31-1E3E-EB9BD9B98C8B}"/>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A5E90668-C899-63F7-A201-83F7B35CBF58}"/>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18E8833A-3EB8-6A0A-CAD8-1950A1B803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DF3CC9C2-7E9B-98E8-997A-E7A2C711D7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62DB05EA-64A1-9D51-30E6-4B57961E09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013D8049-C045-EC4F-5D1D-0E722CED77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3212D04B-F59A-DD1C-845B-E671B7B0DB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EB7D5F2A-482F-4A19-225A-262D908C7E5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a:extLst>
              <a:ext uri="{FF2B5EF4-FFF2-40B4-BE49-F238E27FC236}">
                <a16:creationId xmlns:a16="http://schemas.microsoft.com/office/drawing/2014/main" id="{A361CEC3-2BBB-52B9-CD4B-3292CC87FB9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0110"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319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557BB-53D0-3795-ABFD-EA12E3341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4BB8D-48E5-F5D9-3D2D-266936DBADC5}"/>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51B670A3-0E51-8B04-42ED-9AE33182DF54}"/>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E1A5EE02-7B58-0809-81F1-41A22DA6A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E3DE9A28-5708-DCC2-5C8D-777EAA1D86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6CAA00D9-7AF8-C3B3-3345-B3505FEA6A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4C39B8D7-239F-D2B0-A124-1742A9D7F9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DB040DD1-8131-2E3F-0428-9172A3B21C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4F70CC31-3F8A-539C-75FA-559BA49F6C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a:extLst>
              <a:ext uri="{FF2B5EF4-FFF2-40B4-BE49-F238E27FC236}">
                <a16:creationId xmlns:a16="http://schemas.microsoft.com/office/drawing/2014/main" id="{980913A4-8B15-DAFF-53EC-B6328796B6D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0110"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0" name="Picture 16">
            <a:extLst>
              <a:ext uri="{FF2B5EF4-FFF2-40B4-BE49-F238E27FC236}">
                <a16:creationId xmlns:a16="http://schemas.microsoft.com/office/drawing/2014/main" id="{A09E467D-CBAF-E5F9-E4F4-AABF3834AAB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91257"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755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2587E-95D7-FBB6-7BF2-63A09C1283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1F1AB-1D5D-A5AD-1DC2-7EC2BAE62FD6}"/>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06A0C785-5C0E-64E5-0177-49B059E1464F}"/>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0EB9C521-72C6-32D3-2860-7BCE9809FD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D28291F6-D188-8705-52A2-A3AB28FED4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C67C6195-7F76-0B04-CD83-0B233DC07A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4E679024-0E3F-3BCB-5ABA-3C48BE656E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16329513-5147-0B3E-E39D-503F18E46B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DE4F483C-CC51-0B37-1556-6569E3D049C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a:extLst>
              <a:ext uri="{FF2B5EF4-FFF2-40B4-BE49-F238E27FC236}">
                <a16:creationId xmlns:a16="http://schemas.microsoft.com/office/drawing/2014/main" id="{638E6E72-AA9E-1A35-6551-E8C16191638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0110"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0" name="Picture 16">
            <a:extLst>
              <a:ext uri="{FF2B5EF4-FFF2-40B4-BE49-F238E27FC236}">
                <a16:creationId xmlns:a16="http://schemas.microsoft.com/office/drawing/2014/main" id="{2BBD9A51-B945-F43B-7FEA-F8922EFCB5F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91257"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2" name="Picture 18">
            <a:extLst>
              <a:ext uri="{FF2B5EF4-FFF2-40B4-BE49-F238E27FC236}">
                <a16:creationId xmlns:a16="http://schemas.microsoft.com/office/drawing/2014/main" id="{7ABE4042-1DC5-4A0F-6C04-9A3F02DAFCA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2404"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055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CA34E-536C-D84C-9F78-A687DC5AC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39E1C-64FA-E909-C9E2-111041EB1547}"/>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A8334684-C889-AAA0-BED8-2951587BFB67}"/>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FB284D3A-5F4E-728F-B64B-8F5FC9D06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90F76BD7-8D26-C062-6B61-D038349D23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68DC837F-B0A8-C3A4-65E6-E59AE9BBC8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386A0EBB-4FC3-CACD-E5EA-A7CF1391A1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C3525224-C8A9-C3AD-F749-DA868EEDC4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FC9DBD1C-50DA-9494-E0A9-06ED5B23C7A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a:extLst>
              <a:ext uri="{FF2B5EF4-FFF2-40B4-BE49-F238E27FC236}">
                <a16:creationId xmlns:a16="http://schemas.microsoft.com/office/drawing/2014/main" id="{AC359FA7-3656-34D2-A258-70CE7499AEC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0110"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0" name="Picture 16">
            <a:extLst>
              <a:ext uri="{FF2B5EF4-FFF2-40B4-BE49-F238E27FC236}">
                <a16:creationId xmlns:a16="http://schemas.microsoft.com/office/drawing/2014/main" id="{053A1180-D8B1-465C-6DF9-F9E5D648AFB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91257"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2" name="Picture 18">
            <a:extLst>
              <a:ext uri="{FF2B5EF4-FFF2-40B4-BE49-F238E27FC236}">
                <a16:creationId xmlns:a16="http://schemas.microsoft.com/office/drawing/2014/main" id="{B17E98D0-2A1F-5CC7-62EB-00DC0323BCA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2404"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4" name="Picture 20">
            <a:extLst>
              <a:ext uri="{FF2B5EF4-FFF2-40B4-BE49-F238E27FC236}">
                <a16:creationId xmlns:a16="http://schemas.microsoft.com/office/drawing/2014/main" id="{681FB8B1-8399-F16E-B23E-7710F340E4D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33551" y="3157537"/>
            <a:ext cx="552590" cy="1852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5961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DFDF8-46A4-E6A9-F495-5A6A12239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52335A-07C4-9432-4CB2-E604C301B52F}"/>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AF523EE9-DFF3-E086-7E4B-C49450FBBE6A}"/>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94BFF58A-CDC2-3B8B-EF34-3AB74F060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849FBBD6-344A-ECAE-3F78-43A41CF6EF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1B0A5911-2E3B-E88A-BB97-19CE58D9B1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708CB1AA-741D-CFED-0A8B-8E8A95C50E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63B79A46-4936-1BA0-83E4-10E8D927E3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CE7A0732-E8B8-EB71-667A-7E091C1C94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a:extLst>
              <a:ext uri="{FF2B5EF4-FFF2-40B4-BE49-F238E27FC236}">
                <a16:creationId xmlns:a16="http://schemas.microsoft.com/office/drawing/2014/main" id="{17D01BC5-35EC-0AD3-8F7C-B1D742D21B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0110"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0" name="Picture 16">
            <a:extLst>
              <a:ext uri="{FF2B5EF4-FFF2-40B4-BE49-F238E27FC236}">
                <a16:creationId xmlns:a16="http://schemas.microsoft.com/office/drawing/2014/main" id="{3E978D19-95DB-19D7-287E-34B8D53E70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91257"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2" name="Picture 18">
            <a:extLst>
              <a:ext uri="{FF2B5EF4-FFF2-40B4-BE49-F238E27FC236}">
                <a16:creationId xmlns:a16="http://schemas.microsoft.com/office/drawing/2014/main" id="{3306FE1A-1852-0F38-149F-A4CD76CA98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2404"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4" name="Picture 20">
            <a:extLst>
              <a:ext uri="{FF2B5EF4-FFF2-40B4-BE49-F238E27FC236}">
                <a16:creationId xmlns:a16="http://schemas.microsoft.com/office/drawing/2014/main" id="{82F8D21C-82FD-98A9-774F-7B8788793FA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33551" y="3157537"/>
            <a:ext cx="552590" cy="1852803"/>
          </a:xfrm>
          <a:prstGeom prst="rect">
            <a:avLst/>
          </a:prstGeom>
          <a:noFill/>
          <a:extLst>
            <a:ext uri="{909E8E84-426E-40DD-AFC4-6F175D3DCCD1}">
              <a14:hiddenFill xmlns:a14="http://schemas.microsoft.com/office/drawing/2010/main">
                <a:solidFill>
                  <a:srgbClr val="FFFFFF"/>
                </a:solidFill>
              </a14:hiddenFill>
            </a:ext>
          </a:extLst>
        </p:spPr>
      </p:pic>
      <p:pic>
        <p:nvPicPr>
          <p:cNvPr id="11286" name="Picture 22">
            <a:extLst>
              <a:ext uri="{FF2B5EF4-FFF2-40B4-BE49-F238E27FC236}">
                <a16:creationId xmlns:a16="http://schemas.microsoft.com/office/drawing/2014/main" id="{7D0ADA06-BDE0-00E9-BA91-24D63AC4D8D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54377" y="3157537"/>
            <a:ext cx="552590" cy="1852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5218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7C8F4-4E8F-7FE2-4525-D20E1693E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662ED-648E-058E-A3F8-84BB840E60B9}"/>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0F7E4F72-25F2-8067-4B0D-918093073D14}"/>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AEDECF09-2F1A-8407-35F0-0B21FD746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7EBBB6C5-25CD-A905-E49B-14110D0D70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511D39B3-F62D-357D-7B95-E71195340F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FC408B38-78B6-4675-B6DE-589B0D5F87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812F1749-8A4E-45DB-4183-1F827AB250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C71899AD-1B4A-D00A-7536-587B2D0ECE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a:extLst>
              <a:ext uri="{FF2B5EF4-FFF2-40B4-BE49-F238E27FC236}">
                <a16:creationId xmlns:a16="http://schemas.microsoft.com/office/drawing/2014/main" id="{EB781E8E-394A-703A-767B-BC8714BB140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0110"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0" name="Picture 16">
            <a:extLst>
              <a:ext uri="{FF2B5EF4-FFF2-40B4-BE49-F238E27FC236}">
                <a16:creationId xmlns:a16="http://schemas.microsoft.com/office/drawing/2014/main" id="{1357FCF2-3318-F154-A75C-445E6ABE3BB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91257"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2" name="Picture 18">
            <a:extLst>
              <a:ext uri="{FF2B5EF4-FFF2-40B4-BE49-F238E27FC236}">
                <a16:creationId xmlns:a16="http://schemas.microsoft.com/office/drawing/2014/main" id="{1ABBB5E0-C5C3-B896-9AC3-56A0316DB38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2404"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4" name="Picture 20">
            <a:extLst>
              <a:ext uri="{FF2B5EF4-FFF2-40B4-BE49-F238E27FC236}">
                <a16:creationId xmlns:a16="http://schemas.microsoft.com/office/drawing/2014/main" id="{391A572C-A2E8-17FC-764B-C614F5ABBD2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33551" y="3157537"/>
            <a:ext cx="552590" cy="1852803"/>
          </a:xfrm>
          <a:prstGeom prst="rect">
            <a:avLst/>
          </a:prstGeom>
          <a:noFill/>
          <a:extLst>
            <a:ext uri="{909E8E84-426E-40DD-AFC4-6F175D3DCCD1}">
              <a14:hiddenFill xmlns:a14="http://schemas.microsoft.com/office/drawing/2010/main">
                <a:solidFill>
                  <a:srgbClr val="FFFFFF"/>
                </a:solidFill>
              </a14:hiddenFill>
            </a:ext>
          </a:extLst>
        </p:spPr>
      </p:pic>
      <p:pic>
        <p:nvPicPr>
          <p:cNvPr id="11286" name="Picture 22">
            <a:extLst>
              <a:ext uri="{FF2B5EF4-FFF2-40B4-BE49-F238E27FC236}">
                <a16:creationId xmlns:a16="http://schemas.microsoft.com/office/drawing/2014/main" id="{AD5ABC7A-2BA2-190E-F06F-75BA2A25454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54377" y="3157537"/>
            <a:ext cx="552590" cy="1852802"/>
          </a:xfrm>
          <a:prstGeom prst="rect">
            <a:avLst/>
          </a:prstGeom>
          <a:noFill/>
          <a:extLst>
            <a:ext uri="{909E8E84-426E-40DD-AFC4-6F175D3DCCD1}">
              <a14:hiddenFill xmlns:a14="http://schemas.microsoft.com/office/drawing/2010/main">
                <a:solidFill>
                  <a:srgbClr val="FFFFFF"/>
                </a:solidFill>
              </a14:hiddenFill>
            </a:ext>
          </a:extLst>
        </p:spPr>
      </p:pic>
      <p:pic>
        <p:nvPicPr>
          <p:cNvPr id="11288" name="Picture 24">
            <a:extLst>
              <a:ext uri="{FF2B5EF4-FFF2-40B4-BE49-F238E27FC236}">
                <a16:creationId xmlns:a16="http://schemas.microsoft.com/office/drawing/2014/main" id="{B47138BF-7846-32DB-D142-049C10B6E9F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75203" y="3156462"/>
            <a:ext cx="552590" cy="1852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53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68D84-37B8-A38F-9D66-26D3AF269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CF839-AE65-5628-6047-9F5E67DC1755}"/>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1C28771A-A28C-6F73-0EBC-07C83E820E63}"/>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069417AB-7B6C-81F0-9BB4-852D1CBA2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8C1FF02E-1127-8CB9-A245-300B8EE8C2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341176A4-AE26-C5BC-1993-E04CFD0C6B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DB3973ED-339E-9FC6-36D1-BEC85F3F2E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B9BE15B9-F865-219E-6C9B-56A77206F9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D1DBCD6E-BDDC-DD20-93FE-6698A581B3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a:extLst>
              <a:ext uri="{FF2B5EF4-FFF2-40B4-BE49-F238E27FC236}">
                <a16:creationId xmlns:a16="http://schemas.microsoft.com/office/drawing/2014/main" id="{6AE762E6-1E1F-975E-9155-09479D6EBAC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0110"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0" name="Picture 16">
            <a:extLst>
              <a:ext uri="{FF2B5EF4-FFF2-40B4-BE49-F238E27FC236}">
                <a16:creationId xmlns:a16="http://schemas.microsoft.com/office/drawing/2014/main" id="{6F768912-BB69-F989-AED2-81B6121E3D4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91257"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2" name="Picture 18">
            <a:extLst>
              <a:ext uri="{FF2B5EF4-FFF2-40B4-BE49-F238E27FC236}">
                <a16:creationId xmlns:a16="http://schemas.microsoft.com/office/drawing/2014/main" id="{5802D518-7ACC-F9F0-63A5-E609355AE43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2404"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4" name="Picture 20">
            <a:extLst>
              <a:ext uri="{FF2B5EF4-FFF2-40B4-BE49-F238E27FC236}">
                <a16:creationId xmlns:a16="http://schemas.microsoft.com/office/drawing/2014/main" id="{FEF17A28-C3D1-C8CD-1B12-7B7B12566E2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33551" y="3157537"/>
            <a:ext cx="552590" cy="1852803"/>
          </a:xfrm>
          <a:prstGeom prst="rect">
            <a:avLst/>
          </a:prstGeom>
          <a:noFill/>
          <a:extLst>
            <a:ext uri="{909E8E84-426E-40DD-AFC4-6F175D3DCCD1}">
              <a14:hiddenFill xmlns:a14="http://schemas.microsoft.com/office/drawing/2010/main">
                <a:solidFill>
                  <a:srgbClr val="FFFFFF"/>
                </a:solidFill>
              </a14:hiddenFill>
            </a:ext>
          </a:extLst>
        </p:spPr>
      </p:pic>
      <p:pic>
        <p:nvPicPr>
          <p:cNvPr id="11286" name="Picture 22">
            <a:extLst>
              <a:ext uri="{FF2B5EF4-FFF2-40B4-BE49-F238E27FC236}">
                <a16:creationId xmlns:a16="http://schemas.microsoft.com/office/drawing/2014/main" id="{0AA97265-C6C1-2CCA-DC8C-FC07F905876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54377" y="3157537"/>
            <a:ext cx="552590" cy="1852802"/>
          </a:xfrm>
          <a:prstGeom prst="rect">
            <a:avLst/>
          </a:prstGeom>
          <a:noFill/>
          <a:extLst>
            <a:ext uri="{909E8E84-426E-40DD-AFC4-6F175D3DCCD1}">
              <a14:hiddenFill xmlns:a14="http://schemas.microsoft.com/office/drawing/2010/main">
                <a:solidFill>
                  <a:srgbClr val="FFFFFF"/>
                </a:solidFill>
              </a14:hiddenFill>
            </a:ext>
          </a:extLst>
        </p:spPr>
      </p:pic>
      <p:pic>
        <p:nvPicPr>
          <p:cNvPr id="11288" name="Picture 24">
            <a:extLst>
              <a:ext uri="{FF2B5EF4-FFF2-40B4-BE49-F238E27FC236}">
                <a16:creationId xmlns:a16="http://schemas.microsoft.com/office/drawing/2014/main" id="{F5FCB0CE-3B69-59F6-6048-26F65A4B566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75203" y="3156462"/>
            <a:ext cx="552590" cy="1852802"/>
          </a:xfrm>
          <a:prstGeom prst="rect">
            <a:avLst/>
          </a:prstGeom>
          <a:noFill/>
          <a:extLst>
            <a:ext uri="{909E8E84-426E-40DD-AFC4-6F175D3DCCD1}">
              <a14:hiddenFill xmlns:a14="http://schemas.microsoft.com/office/drawing/2010/main">
                <a:solidFill>
                  <a:srgbClr val="FFFFFF"/>
                </a:solidFill>
              </a14:hiddenFill>
            </a:ext>
          </a:extLst>
        </p:spPr>
      </p:pic>
      <p:pic>
        <p:nvPicPr>
          <p:cNvPr id="11290" name="Picture 26">
            <a:extLst>
              <a:ext uri="{FF2B5EF4-FFF2-40B4-BE49-F238E27FC236}">
                <a16:creationId xmlns:a16="http://schemas.microsoft.com/office/drawing/2014/main" id="{AF355279-1699-EA67-5576-1C8AF0121F6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396029" y="3157537"/>
            <a:ext cx="552590" cy="1852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4799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AC752-EDFA-48C5-04F6-91F361044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DBF3A-76CC-896A-260F-BC66B838B435}"/>
              </a:ext>
            </a:extLst>
          </p:cNvPr>
          <p:cNvSpPr>
            <a:spLocks noGrp="1"/>
          </p:cNvSpPr>
          <p:nvPr>
            <p:ph type="title"/>
          </p:nvPr>
        </p:nvSpPr>
        <p:spPr>
          <a:xfrm>
            <a:off x="838200" y="365126"/>
            <a:ext cx="10515600" cy="637764"/>
          </a:xfrm>
        </p:spPr>
        <p:txBody>
          <a:bodyPr>
            <a:normAutofit fontScale="90000"/>
          </a:bodyPr>
          <a:lstStyle/>
          <a:p>
            <a:r>
              <a:rPr lang="en-IN" dirty="0"/>
              <a:t>Block Replacement Algorithms</a:t>
            </a:r>
          </a:p>
        </p:txBody>
      </p:sp>
      <p:sp>
        <p:nvSpPr>
          <p:cNvPr id="3" name="Content Placeholder 2">
            <a:extLst>
              <a:ext uri="{FF2B5EF4-FFF2-40B4-BE49-F238E27FC236}">
                <a16:creationId xmlns:a16="http://schemas.microsoft.com/office/drawing/2014/main" id="{59916A2C-2E6B-C402-9C4A-422629472049}"/>
              </a:ext>
            </a:extLst>
          </p:cNvPr>
          <p:cNvSpPr>
            <a:spLocks noGrp="1"/>
          </p:cNvSpPr>
          <p:nvPr>
            <p:ph idx="1"/>
          </p:nvPr>
        </p:nvSpPr>
        <p:spPr>
          <a:xfrm>
            <a:off x="838200" y="1002890"/>
            <a:ext cx="10515600" cy="5771536"/>
          </a:xfrm>
        </p:spPr>
        <p:txBody>
          <a:bodyPr>
            <a:normAutofit/>
          </a:bodyPr>
          <a:lstStyle/>
          <a:p>
            <a:pPr marL="0" indent="0">
              <a:buNone/>
            </a:pPr>
            <a:r>
              <a:rPr lang="en-US" sz="2000" dirty="0"/>
              <a:t>5) Consider a 4-way associative cache that can be operated in one among the two modes at a time. In mode-1 it uses pseudo LRU block replacement policy and in mode-2 it uses Last In First Out block replacement policy. Assume all the cache blocks are initially empty and filling up of empty blocks in a given cache set happens from way 0 to way-3. </a:t>
            </a:r>
          </a:p>
          <a:p>
            <a:pPr marL="0" indent="0">
              <a:buNone/>
            </a:pPr>
            <a:r>
              <a:rPr lang="en-US" sz="2000" dirty="0">
                <a:solidFill>
                  <a:schemeClr val="accent1"/>
                </a:solidFill>
              </a:rPr>
              <a:t>All the cache blocks are initially empty and filling up of empty blocks in a given cache set happens from way 0 to way-3. LIFO block replacement policy Block List that maps to set n. A, B, C, D, A, B, E, F, A, B, F, C, D, A.</a:t>
            </a:r>
          </a:p>
          <a:p>
            <a:pPr marL="0" indent="0">
              <a:buNone/>
            </a:pPr>
            <a:endParaRPr lang="en-US" sz="2000" dirty="0">
              <a:solidFill>
                <a:schemeClr val="accent1"/>
              </a:solidFill>
            </a:endParaRPr>
          </a:p>
        </p:txBody>
      </p:sp>
      <p:pic>
        <p:nvPicPr>
          <p:cNvPr id="11266" name="Picture 2">
            <a:extLst>
              <a:ext uri="{FF2B5EF4-FFF2-40B4-BE49-F238E27FC236}">
                <a16:creationId xmlns:a16="http://schemas.microsoft.com/office/drawing/2014/main" id="{0BE98220-DB9C-D7AB-C3B4-A6C483CC9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28"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F3D3D8CC-46AE-5970-2B49-5A3282B3FD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75"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D3492C0E-67EA-F7EB-A767-5283B08C8C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522"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FF8FE3F3-5349-89E5-0A14-80E64DE82D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669"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4E561C36-17BF-D022-8B16-9342BEBFC0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16"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9E99D02B-D51D-1989-8E21-F896AF285B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963"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a:extLst>
              <a:ext uri="{FF2B5EF4-FFF2-40B4-BE49-F238E27FC236}">
                <a16:creationId xmlns:a16="http://schemas.microsoft.com/office/drawing/2014/main" id="{773288A9-38A1-049F-FAD4-3B78B2C5DAD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0110"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0" name="Picture 16">
            <a:extLst>
              <a:ext uri="{FF2B5EF4-FFF2-40B4-BE49-F238E27FC236}">
                <a16:creationId xmlns:a16="http://schemas.microsoft.com/office/drawing/2014/main" id="{30889EEE-3B43-7493-41A7-815E7EF507B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91257" y="3157537"/>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2" name="Picture 18">
            <a:extLst>
              <a:ext uri="{FF2B5EF4-FFF2-40B4-BE49-F238E27FC236}">
                <a16:creationId xmlns:a16="http://schemas.microsoft.com/office/drawing/2014/main" id="{013FD925-C360-79AE-1999-5799F0D9C20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2404" y="3156462"/>
            <a:ext cx="552911" cy="1853878"/>
          </a:xfrm>
          <a:prstGeom prst="rect">
            <a:avLst/>
          </a:prstGeom>
          <a:noFill/>
          <a:extLst>
            <a:ext uri="{909E8E84-426E-40DD-AFC4-6F175D3DCCD1}">
              <a14:hiddenFill xmlns:a14="http://schemas.microsoft.com/office/drawing/2010/main">
                <a:solidFill>
                  <a:srgbClr val="FFFFFF"/>
                </a:solidFill>
              </a14:hiddenFill>
            </a:ext>
          </a:extLst>
        </p:spPr>
      </p:pic>
      <p:pic>
        <p:nvPicPr>
          <p:cNvPr id="11284" name="Picture 20">
            <a:extLst>
              <a:ext uri="{FF2B5EF4-FFF2-40B4-BE49-F238E27FC236}">
                <a16:creationId xmlns:a16="http://schemas.microsoft.com/office/drawing/2014/main" id="{9CA22A35-BE4D-3A3D-D764-DFC192E058C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33551" y="3157537"/>
            <a:ext cx="552590" cy="1852803"/>
          </a:xfrm>
          <a:prstGeom prst="rect">
            <a:avLst/>
          </a:prstGeom>
          <a:noFill/>
          <a:extLst>
            <a:ext uri="{909E8E84-426E-40DD-AFC4-6F175D3DCCD1}">
              <a14:hiddenFill xmlns:a14="http://schemas.microsoft.com/office/drawing/2010/main">
                <a:solidFill>
                  <a:srgbClr val="FFFFFF"/>
                </a:solidFill>
              </a14:hiddenFill>
            </a:ext>
          </a:extLst>
        </p:spPr>
      </p:pic>
      <p:pic>
        <p:nvPicPr>
          <p:cNvPr id="11286" name="Picture 22">
            <a:extLst>
              <a:ext uri="{FF2B5EF4-FFF2-40B4-BE49-F238E27FC236}">
                <a16:creationId xmlns:a16="http://schemas.microsoft.com/office/drawing/2014/main" id="{CD7C0E39-F006-0B9E-BB98-3DCDFDAA359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54377" y="3157537"/>
            <a:ext cx="552590" cy="1852802"/>
          </a:xfrm>
          <a:prstGeom prst="rect">
            <a:avLst/>
          </a:prstGeom>
          <a:noFill/>
          <a:extLst>
            <a:ext uri="{909E8E84-426E-40DD-AFC4-6F175D3DCCD1}">
              <a14:hiddenFill xmlns:a14="http://schemas.microsoft.com/office/drawing/2010/main">
                <a:solidFill>
                  <a:srgbClr val="FFFFFF"/>
                </a:solidFill>
              </a14:hiddenFill>
            </a:ext>
          </a:extLst>
        </p:spPr>
      </p:pic>
      <p:pic>
        <p:nvPicPr>
          <p:cNvPr id="11288" name="Picture 24">
            <a:extLst>
              <a:ext uri="{FF2B5EF4-FFF2-40B4-BE49-F238E27FC236}">
                <a16:creationId xmlns:a16="http://schemas.microsoft.com/office/drawing/2014/main" id="{F4EC518E-1D5C-A976-E854-5B516B7616F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75203" y="3156462"/>
            <a:ext cx="552590" cy="1852802"/>
          </a:xfrm>
          <a:prstGeom prst="rect">
            <a:avLst/>
          </a:prstGeom>
          <a:noFill/>
          <a:extLst>
            <a:ext uri="{909E8E84-426E-40DD-AFC4-6F175D3DCCD1}">
              <a14:hiddenFill xmlns:a14="http://schemas.microsoft.com/office/drawing/2010/main">
                <a:solidFill>
                  <a:srgbClr val="FFFFFF"/>
                </a:solidFill>
              </a14:hiddenFill>
            </a:ext>
          </a:extLst>
        </p:spPr>
      </p:pic>
      <p:pic>
        <p:nvPicPr>
          <p:cNvPr id="11290" name="Picture 26">
            <a:extLst>
              <a:ext uri="{FF2B5EF4-FFF2-40B4-BE49-F238E27FC236}">
                <a16:creationId xmlns:a16="http://schemas.microsoft.com/office/drawing/2014/main" id="{37700EAB-A2DE-96BD-AB7D-1984F78FA0F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396029" y="3157537"/>
            <a:ext cx="552590" cy="1852802"/>
          </a:xfrm>
          <a:prstGeom prst="rect">
            <a:avLst/>
          </a:prstGeom>
          <a:noFill/>
          <a:extLst>
            <a:ext uri="{909E8E84-426E-40DD-AFC4-6F175D3DCCD1}">
              <a14:hiddenFill xmlns:a14="http://schemas.microsoft.com/office/drawing/2010/main">
                <a:solidFill>
                  <a:srgbClr val="FFFFFF"/>
                </a:solidFill>
              </a14:hiddenFill>
            </a:ext>
          </a:extLst>
        </p:spPr>
      </p:pic>
      <p:pic>
        <p:nvPicPr>
          <p:cNvPr id="11292" name="Picture 28">
            <a:extLst>
              <a:ext uri="{FF2B5EF4-FFF2-40B4-BE49-F238E27FC236}">
                <a16:creationId xmlns:a16="http://schemas.microsoft.com/office/drawing/2014/main" id="{827471EA-A9EB-ECC8-EFDF-C2CE681497B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216855" y="3156462"/>
            <a:ext cx="552354" cy="18520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292F1CF-D186-4AD6-80AE-A56A47BFDF36}"/>
              </a:ext>
            </a:extLst>
          </p:cNvPr>
          <p:cNvSpPr txBox="1"/>
          <p:nvPr/>
        </p:nvSpPr>
        <p:spPr>
          <a:xfrm>
            <a:off x="4060723" y="5378245"/>
            <a:ext cx="1576778" cy="1200329"/>
          </a:xfrm>
          <a:prstGeom prst="rect">
            <a:avLst/>
          </a:prstGeom>
          <a:noFill/>
        </p:spPr>
        <p:txBody>
          <a:bodyPr wrap="none" rtlCol="0">
            <a:spAutoFit/>
          </a:bodyPr>
          <a:lstStyle/>
          <a:p>
            <a:r>
              <a:rPr lang="en-US" dirty="0"/>
              <a:t>Total 14 access</a:t>
            </a:r>
          </a:p>
          <a:p>
            <a:r>
              <a:rPr lang="en-US" dirty="0"/>
              <a:t>6 CMP-Miss</a:t>
            </a:r>
          </a:p>
          <a:p>
            <a:r>
              <a:rPr lang="en-US" dirty="0"/>
              <a:t>1 CNF-Miss</a:t>
            </a:r>
          </a:p>
          <a:p>
            <a:r>
              <a:rPr lang="en-US" dirty="0"/>
              <a:t>7 HITS</a:t>
            </a:r>
            <a:endParaRPr lang="en-IN" dirty="0"/>
          </a:p>
        </p:txBody>
      </p:sp>
    </p:spTree>
    <p:extLst>
      <p:ext uri="{BB962C8B-B14F-4D97-AF65-F5344CB8AC3E}">
        <p14:creationId xmlns:p14="http://schemas.microsoft.com/office/powerpoint/2010/main" val="27246077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A9BB-A596-A09E-D009-C715C808B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1DA33-194E-8357-7800-76C981DC026D}"/>
              </a:ext>
            </a:extLst>
          </p:cNvPr>
          <p:cNvSpPr>
            <a:spLocks noGrp="1"/>
          </p:cNvSpPr>
          <p:nvPr>
            <p:ph type="title"/>
          </p:nvPr>
        </p:nvSpPr>
        <p:spPr>
          <a:xfrm>
            <a:off x="838200" y="365126"/>
            <a:ext cx="10515600" cy="637764"/>
          </a:xfrm>
        </p:spPr>
        <p:txBody>
          <a:bodyPr>
            <a:normAutofit fontScale="90000"/>
          </a:bodyPr>
          <a:lstStyle/>
          <a:p>
            <a:r>
              <a:rPr lang="en-IN" dirty="0"/>
              <a:t>Cache Mapping</a:t>
            </a:r>
          </a:p>
        </p:txBody>
      </p:sp>
      <p:sp>
        <p:nvSpPr>
          <p:cNvPr id="3" name="Content Placeholder 2">
            <a:extLst>
              <a:ext uri="{FF2B5EF4-FFF2-40B4-BE49-F238E27FC236}">
                <a16:creationId xmlns:a16="http://schemas.microsoft.com/office/drawing/2014/main" id="{ED226A47-3D45-6227-D59E-34BF45D1C054}"/>
              </a:ext>
            </a:extLst>
          </p:cNvPr>
          <p:cNvSpPr>
            <a:spLocks noGrp="1"/>
          </p:cNvSpPr>
          <p:nvPr>
            <p:ph idx="1"/>
          </p:nvPr>
        </p:nvSpPr>
        <p:spPr>
          <a:xfrm>
            <a:off x="838200" y="1002890"/>
            <a:ext cx="10515600" cy="5771536"/>
          </a:xfrm>
        </p:spPr>
        <p:txBody>
          <a:bodyPr>
            <a:normAutofit/>
          </a:bodyPr>
          <a:lstStyle/>
          <a:p>
            <a:pPr marL="0" indent="0">
              <a:buNone/>
            </a:pPr>
            <a:r>
              <a:rPr lang="en-US" sz="2000" dirty="0"/>
              <a:t>6) Consider a computer system based on 32 bit processor with 8KB direct mapped on-chip I-cache and 16KB 2-way set associative on-chip D-cache. The off-chip unified cache is 128 KB 4-way set associative. Block size for on-chip cache is 8 words and off-chip cache is 16 words. Four fixed length instruction starting at main memory word address 22 (in decimal) are executed. These instructions refer to data at main memory word address 260, 261 and 275 (all in decimal). Assuming caches are initially empty; indicate the non empty blocks on all the caches after execution of the instruction.</a:t>
            </a:r>
          </a:p>
        </p:txBody>
      </p:sp>
    </p:spTree>
    <p:extLst>
      <p:ext uri="{BB962C8B-B14F-4D97-AF65-F5344CB8AC3E}">
        <p14:creationId xmlns:p14="http://schemas.microsoft.com/office/powerpoint/2010/main" val="2561524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6B37B-B8DB-3995-1D6A-76ABBC4DA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52121-4B72-2464-0786-1D7DDE1B6C08}"/>
              </a:ext>
            </a:extLst>
          </p:cNvPr>
          <p:cNvSpPr>
            <a:spLocks noGrp="1"/>
          </p:cNvSpPr>
          <p:nvPr>
            <p:ph type="title"/>
          </p:nvPr>
        </p:nvSpPr>
        <p:spPr>
          <a:xfrm>
            <a:off x="838200" y="365126"/>
            <a:ext cx="10515600" cy="637764"/>
          </a:xfrm>
        </p:spPr>
        <p:txBody>
          <a:bodyPr>
            <a:normAutofit fontScale="90000"/>
          </a:bodyPr>
          <a:lstStyle/>
          <a:p>
            <a:r>
              <a:rPr lang="en-IN" dirty="0"/>
              <a:t>Cache Mapping</a:t>
            </a:r>
          </a:p>
        </p:txBody>
      </p:sp>
      <p:sp>
        <p:nvSpPr>
          <p:cNvPr id="3" name="Content Placeholder 2">
            <a:extLst>
              <a:ext uri="{FF2B5EF4-FFF2-40B4-BE49-F238E27FC236}">
                <a16:creationId xmlns:a16="http://schemas.microsoft.com/office/drawing/2014/main" id="{3DEA08FF-8FF1-0062-5C23-B594EA8D7F91}"/>
              </a:ext>
            </a:extLst>
          </p:cNvPr>
          <p:cNvSpPr>
            <a:spLocks noGrp="1"/>
          </p:cNvSpPr>
          <p:nvPr>
            <p:ph idx="1"/>
          </p:nvPr>
        </p:nvSpPr>
        <p:spPr>
          <a:xfrm>
            <a:off x="838200" y="1002890"/>
            <a:ext cx="10515600" cy="5771536"/>
          </a:xfrm>
        </p:spPr>
        <p:txBody>
          <a:bodyPr>
            <a:normAutofit/>
          </a:bodyPr>
          <a:lstStyle/>
          <a:p>
            <a:pPr marL="0" indent="0">
              <a:buNone/>
            </a:pPr>
            <a:r>
              <a:rPr lang="en-US" sz="2000" dirty="0"/>
              <a:t>6) Consider a computer system based on 32 bit processor with 8KB direct mapped on-chip I-cache and 16KB 2-way set associative on-chip D-cache. The off-chip unified cache is 128 KB 4-way set associative. Block size for on-chip cache is 8 words and off-chip cache is 16 words. Four fixed length instruction starting at main memory word address 22 (in decimal) are executed. These instructions refer to data at main memory word address 260, 261 and 275 (all in decimal). Assuming caches are initially empty; indicate the non empty blocks on all the caches after execution of the instruction.</a:t>
            </a:r>
          </a:p>
          <a:p>
            <a:pPr marL="0" indent="0">
              <a:buNone/>
            </a:pPr>
            <a:endParaRPr lang="en-US" sz="2000" dirty="0">
              <a:solidFill>
                <a:schemeClr val="accent1"/>
              </a:solidFill>
            </a:endParaRPr>
          </a:p>
          <a:p>
            <a:pPr marL="0" indent="0">
              <a:buNone/>
            </a:pPr>
            <a:r>
              <a:rPr lang="en-US" sz="2000" dirty="0">
                <a:solidFill>
                  <a:schemeClr val="accent1"/>
                </a:solidFill>
              </a:rPr>
              <a:t>Instruction Words 22,23,24,25</a:t>
            </a:r>
          </a:p>
          <a:p>
            <a:pPr marL="0" indent="0">
              <a:buNone/>
            </a:pPr>
            <a:r>
              <a:rPr lang="en-US" sz="2000" dirty="0">
                <a:solidFill>
                  <a:schemeClr val="accent1"/>
                </a:solidFill>
              </a:rPr>
              <a:t>Data 260,261,275</a:t>
            </a:r>
          </a:p>
          <a:p>
            <a:pPr marL="0" indent="0">
              <a:buNone/>
            </a:pPr>
            <a:endParaRPr lang="en-US" sz="2000" dirty="0">
              <a:solidFill>
                <a:schemeClr val="accent1"/>
              </a:solidFill>
            </a:endParaRPr>
          </a:p>
        </p:txBody>
      </p:sp>
    </p:spTree>
    <p:extLst>
      <p:ext uri="{BB962C8B-B14F-4D97-AF65-F5344CB8AC3E}">
        <p14:creationId xmlns:p14="http://schemas.microsoft.com/office/powerpoint/2010/main" val="25998040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FFDD-5F50-728E-8DBA-56FB14E73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37815-1F1C-A8AC-70BA-F5E841F0EC6B}"/>
              </a:ext>
            </a:extLst>
          </p:cNvPr>
          <p:cNvSpPr>
            <a:spLocks noGrp="1"/>
          </p:cNvSpPr>
          <p:nvPr>
            <p:ph type="title"/>
          </p:nvPr>
        </p:nvSpPr>
        <p:spPr>
          <a:xfrm>
            <a:off x="838200" y="365126"/>
            <a:ext cx="10515600" cy="637764"/>
          </a:xfrm>
        </p:spPr>
        <p:txBody>
          <a:bodyPr>
            <a:normAutofit fontScale="90000"/>
          </a:bodyPr>
          <a:lstStyle/>
          <a:p>
            <a:r>
              <a:rPr lang="en-IN" dirty="0"/>
              <a:t>Cache Mapping</a:t>
            </a:r>
          </a:p>
        </p:txBody>
      </p:sp>
      <p:sp>
        <p:nvSpPr>
          <p:cNvPr id="3" name="Content Placeholder 2">
            <a:extLst>
              <a:ext uri="{FF2B5EF4-FFF2-40B4-BE49-F238E27FC236}">
                <a16:creationId xmlns:a16="http://schemas.microsoft.com/office/drawing/2014/main" id="{D54DC015-D80F-6B57-BAF2-3303D993C9A9}"/>
              </a:ext>
            </a:extLst>
          </p:cNvPr>
          <p:cNvSpPr>
            <a:spLocks noGrp="1"/>
          </p:cNvSpPr>
          <p:nvPr>
            <p:ph idx="1"/>
          </p:nvPr>
        </p:nvSpPr>
        <p:spPr>
          <a:xfrm>
            <a:off x="838200" y="1002890"/>
            <a:ext cx="10515600" cy="5771536"/>
          </a:xfrm>
        </p:spPr>
        <p:txBody>
          <a:bodyPr>
            <a:normAutofit/>
          </a:bodyPr>
          <a:lstStyle/>
          <a:p>
            <a:pPr marL="0" indent="0">
              <a:buNone/>
            </a:pPr>
            <a:r>
              <a:rPr lang="en-US" sz="2000" dirty="0"/>
              <a:t>6) Consider a computer system based on 32 bit processor with 8KB direct mapped on-chip I-cache and 16KB 2-way set associative on-chip D-cache. The off-chip unified cache is 128 KB 4-way set associative. Block size for on-chip cache is 8 words and off-chip cache is 16 words. Four fixed length instruction starting at main memory word address 22 (in decimal) are executed. These instructions refer to data at main memory word address 260, 261 and 275 (all in decimal). Assuming caches are initially empty; indicate the non empty blocks on all the caches after execution of the instruction.</a:t>
            </a:r>
          </a:p>
          <a:p>
            <a:pPr marL="0" indent="0">
              <a:buNone/>
            </a:pPr>
            <a:endParaRPr lang="en-US" sz="2000" dirty="0">
              <a:solidFill>
                <a:schemeClr val="accent1"/>
              </a:solidFill>
            </a:endParaRPr>
          </a:p>
          <a:p>
            <a:pPr marL="0" indent="0">
              <a:buNone/>
            </a:pPr>
            <a:r>
              <a:rPr lang="en-US" sz="2000" dirty="0">
                <a:solidFill>
                  <a:schemeClr val="accent1"/>
                </a:solidFill>
              </a:rPr>
              <a:t>Instruction Words 22,23,24,25</a:t>
            </a:r>
          </a:p>
          <a:p>
            <a:pPr marL="0" indent="0">
              <a:buNone/>
            </a:pPr>
            <a:r>
              <a:rPr lang="en-US" sz="2000" dirty="0">
                <a:solidFill>
                  <a:schemeClr val="accent1"/>
                </a:solidFill>
              </a:rPr>
              <a:t>Data 260,261,275</a:t>
            </a:r>
          </a:p>
          <a:p>
            <a:pPr marL="0" indent="0">
              <a:buNone/>
            </a:pPr>
            <a:r>
              <a:rPr lang="en-US" sz="2000" dirty="0">
                <a:solidFill>
                  <a:schemeClr val="accent1"/>
                </a:solidFill>
              </a:rPr>
              <a:t>Location in MM @ L2 block size → 22/16, 23/16, 24/16, 25/16=B1</a:t>
            </a:r>
          </a:p>
          <a:p>
            <a:pPr marL="0" indent="0">
              <a:buNone/>
            </a:pPr>
            <a:r>
              <a:rPr lang="en-US" sz="2000" dirty="0">
                <a:solidFill>
                  <a:schemeClr val="accent1"/>
                </a:solidFill>
              </a:rPr>
              <a:t>Location in MM @ L2 block size → 260/16, 261/16=B16, 275/16=B17</a:t>
            </a:r>
          </a:p>
          <a:p>
            <a:pPr marL="0" indent="0">
              <a:buNone/>
            </a:pPr>
            <a:r>
              <a:rPr lang="en-IN" sz="2000" dirty="0"/>
              <a:t># sets L2 = Cache Size/(Block Size x A) = 2¹⁷/(2⁴·2²x2²) = 2⁹ = 512 sets</a:t>
            </a:r>
          </a:p>
          <a:p>
            <a:pPr marL="0" indent="0">
              <a:buNone/>
            </a:pPr>
            <a:r>
              <a:rPr lang="en-US" sz="2000" dirty="0"/>
              <a:t>B1%512 -&gt; S1</a:t>
            </a:r>
          </a:p>
          <a:p>
            <a:pPr marL="0" indent="0">
              <a:buNone/>
            </a:pPr>
            <a:r>
              <a:rPr lang="en-US" sz="2000" dirty="0"/>
              <a:t>B16%512 -&gt; S16</a:t>
            </a:r>
          </a:p>
          <a:p>
            <a:pPr marL="0" indent="0">
              <a:buNone/>
            </a:pPr>
            <a:r>
              <a:rPr lang="en-US" sz="2000" dirty="0"/>
              <a:t>B17%512 -&gt; S17</a:t>
            </a:r>
          </a:p>
          <a:p>
            <a:pPr marL="0" indent="0">
              <a:buNone/>
            </a:pPr>
            <a:r>
              <a:rPr lang="en-US" sz="2000" dirty="0"/>
              <a:t>One block of sets S1 S16, S17 WILL BE NON EMPTY</a:t>
            </a:r>
            <a:endParaRPr lang="en-US" sz="2000" dirty="0">
              <a:solidFill>
                <a:schemeClr val="accent1"/>
              </a:solidFill>
            </a:endParaRPr>
          </a:p>
        </p:txBody>
      </p:sp>
    </p:spTree>
    <p:extLst>
      <p:ext uri="{BB962C8B-B14F-4D97-AF65-F5344CB8AC3E}">
        <p14:creationId xmlns:p14="http://schemas.microsoft.com/office/powerpoint/2010/main" val="19870823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F6DCC-AA59-1987-3B5C-0EE35A225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AD47D-5435-0FF5-9052-4BDEE990EF22}"/>
              </a:ext>
            </a:extLst>
          </p:cNvPr>
          <p:cNvSpPr>
            <a:spLocks noGrp="1"/>
          </p:cNvSpPr>
          <p:nvPr>
            <p:ph type="title"/>
          </p:nvPr>
        </p:nvSpPr>
        <p:spPr>
          <a:xfrm>
            <a:off x="838200" y="365126"/>
            <a:ext cx="10515600" cy="637764"/>
          </a:xfrm>
        </p:spPr>
        <p:txBody>
          <a:bodyPr>
            <a:normAutofit fontScale="90000"/>
          </a:bodyPr>
          <a:lstStyle/>
          <a:p>
            <a:r>
              <a:rPr lang="en-IN" dirty="0"/>
              <a:t>Cache Mapping</a:t>
            </a:r>
          </a:p>
        </p:txBody>
      </p:sp>
      <p:sp>
        <p:nvSpPr>
          <p:cNvPr id="3" name="Content Placeholder 2">
            <a:extLst>
              <a:ext uri="{FF2B5EF4-FFF2-40B4-BE49-F238E27FC236}">
                <a16:creationId xmlns:a16="http://schemas.microsoft.com/office/drawing/2014/main" id="{2E507DD3-CB8E-75B6-7C2F-EE4EBC34BE28}"/>
              </a:ext>
            </a:extLst>
          </p:cNvPr>
          <p:cNvSpPr>
            <a:spLocks noGrp="1"/>
          </p:cNvSpPr>
          <p:nvPr>
            <p:ph idx="1"/>
          </p:nvPr>
        </p:nvSpPr>
        <p:spPr>
          <a:xfrm>
            <a:off x="838200" y="1002890"/>
            <a:ext cx="10515600" cy="5771536"/>
          </a:xfrm>
        </p:spPr>
        <p:txBody>
          <a:bodyPr>
            <a:normAutofit/>
          </a:bodyPr>
          <a:lstStyle/>
          <a:p>
            <a:pPr marL="0" indent="0">
              <a:buNone/>
            </a:pPr>
            <a:r>
              <a:rPr lang="en-US" sz="2000" dirty="0"/>
              <a:t>6) Consider a computer system based on 32 bit processor with 8KB direct mapped on-chip I-cache and 16KB 2-way set associative on-chip D-cache. The off-chip unified cache is 128 KB 4-way set associative. Block size for on-chip cache is 8 words and off-chip cache is 16 words. Four fixed length instruction starting at main memory word address 22 (in decimal) are executed. These instructions refer to data at main memory word address 260, 261 and 275 (all in decimal). Assuming caches are initially empty; indicate the non empty blocks on all the caches after execution of the instruction.</a:t>
            </a:r>
          </a:p>
          <a:p>
            <a:pPr marL="0" indent="0">
              <a:buNone/>
            </a:pPr>
            <a:endParaRPr lang="en-US" sz="2000" dirty="0">
              <a:solidFill>
                <a:schemeClr val="accent1"/>
              </a:solidFill>
            </a:endParaRPr>
          </a:p>
          <a:p>
            <a:pPr marL="0" indent="0">
              <a:buNone/>
            </a:pPr>
            <a:r>
              <a:rPr lang="en-US" sz="2000" dirty="0">
                <a:solidFill>
                  <a:schemeClr val="accent1"/>
                </a:solidFill>
              </a:rPr>
              <a:t>Instruction Words 22,23,24,25</a:t>
            </a:r>
          </a:p>
          <a:p>
            <a:pPr marL="0" indent="0">
              <a:buNone/>
            </a:pPr>
            <a:r>
              <a:rPr lang="en-US" sz="2000" dirty="0">
                <a:solidFill>
                  <a:schemeClr val="accent1"/>
                </a:solidFill>
              </a:rPr>
              <a:t>Data 260,261,275</a:t>
            </a:r>
          </a:p>
          <a:p>
            <a:pPr marL="0" indent="0">
              <a:buNone/>
            </a:pPr>
            <a:r>
              <a:rPr lang="en-US" sz="2000" dirty="0">
                <a:solidFill>
                  <a:schemeClr val="accent1"/>
                </a:solidFill>
              </a:rPr>
              <a:t>Location in MM @ L2 block size → 22/16, 23/16, 24/16, 25/16=B1</a:t>
            </a:r>
          </a:p>
          <a:p>
            <a:pPr marL="0" indent="0">
              <a:buNone/>
            </a:pPr>
            <a:r>
              <a:rPr lang="en-US" sz="2000" dirty="0">
                <a:solidFill>
                  <a:schemeClr val="accent1"/>
                </a:solidFill>
              </a:rPr>
              <a:t>Location in MM @ L2 block size → 260/16, 261/16=B16, 275/16=B17</a:t>
            </a:r>
          </a:p>
          <a:p>
            <a:pPr marL="0" indent="0">
              <a:buNone/>
            </a:pPr>
            <a:r>
              <a:rPr lang="en-IN" sz="2000" dirty="0"/>
              <a:t># sets L2 = Cache Size/(Block Size x A) = 2¹⁷/(2⁴·2²x2²) = 2⁹ = 512 sets</a:t>
            </a:r>
          </a:p>
          <a:p>
            <a:pPr marL="0" indent="0">
              <a:buNone/>
            </a:pPr>
            <a:r>
              <a:rPr lang="en-US" sz="2000" dirty="0"/>
              <a:t>B1%512 -&gt; S1</a:t>
            </a:r>
          </a:p>
          <a:p>
            <a:pPr marL="0" indent="0">
              <a:buNone/>
            </a:pPr>
            <a:r>
              <a:rPr lang="en-US" sz="2000" dirty="0"/>
              <a:t>B16%512 -&gt; S16</a:t>
            </a:r>
          </a:p>
          <a:p>
            <a:pPr marL="0" indent="0">
              <a:buNone/>
            </a:pPr>
            <a:r>
              <a:rPr lang="en-US" sz="2000" dirty="0"/>
              <a:t>B17%512 -&gt; S17</a:t>
            </a:r>
          </a:p>
          <a:p>
            <a:pPr marL="0" indent="0">
              <a:buNone/>
            </a:pPr>
            <a:r>
              <a:rPr lang="en-US" sz="2000" dirty="0"/>
              <a:t>One block of sets S1 S16, S17 WILL BE NON EMPTY</a:t>
            </a:r>
            <a:endParaRPr lang="en-US" sz="2000" dirty="0">
              <a:solidFill>
                <a:schemeClr val="accent1"/>
              </a:solidFill>
            </a:endParaRPr>
          </a:p>
        </p:txBody>
      </p:sp>
    </p:spTree>
    <p:extLst>
      <p:ext uri="{BB962C8B-B14F-4D97-AF65-F5344CB8AC3E}">
        <p14:creationId xmlns:p14="http://schemas.microsoft.com/office/powerpoint/2010/main" val="37310962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A1F6D-BC98-729E-8221-D0C6157FE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631BF-3C51-D61A-DC90-DB9A61DF4145}"/>
              </a:ext>
            </a:extLst>
          </p:cNvPr>
          <p:cNvSpPr>
            <a:spLocks noGrp="1"/>
          </p:cNvSpPr>
          <p:nvPr>
            <p:ph type="title"/>
          </p:nvPr>
        </p:nvSpPr>
        <p:spPr>
          <a:xfrm>
            <a:off x="838200" y="365126"/>
            <a:ext cx="10515600" cy="637764"/>
          </a:xfrm>
        </p:spPr>
        <p:txBody>
          <a:bodyPr>
            <a:normAutofit fontScale="90000"/>
          </a:bodyPr>
          <a:lstStyle/>
          <a:p>
            <a:r>
              <a:rPr lang="en-IN" dirty="0"/>
              <a:t>Cache Mapping</a:t>
            </a:r>
          </a:p>
        </p:txBody>
      </p:sp>
      <p:sp>
        <p:nvSpPr>
          <p:cNvPr id="3" name="Content Placeholder 2">
            <a:extLst>
              <a:ext uri="{FF2B5EF4-FFF2-40B4-BE49-F238E27FC236}">
                <a16:creationId xmlns:a16="http://schemas.microsoft.com/office/drawing/2014/main" id="{A47C9A51-9D2F-7F75-43D9-93DAEA860065}"/>
              </a:ext>
            </a:extLst>
          </p:cNvPr>
          <p:cNvSpPr>
            <a:spLocks noGrp="1"/>
          </p:cNvSpPr>
          <p:nvPr>
            <p:ph idx="1"/>
          </p:nvPr>
        </p:nvSpPr>
        <p:spPr>
          <a:xfrm>
            <a:off x="838200" y="1002890"/>
            <a:ext cx="10515600" cy="5771536"/>
          </a:xfrm>
        </p:spPr>
        <p:txBody>
          <a:bodyPr>
            <a:normAutofit/>
          </a:bodyPr>
          <a:lstStyle/>
          <a:p>
            <a:pPr marL="0" indent="0">
              <a:buNone/>
            </a:pPr>
            <a:r>
              <a:rPr lang="en-US" sz="2000" dirty="0"/>
              <a:t>6) Consider a computer system based on 32 bit processor with 8KB direct mapped on-chip I-cache and 16KB 2-way set associative on-chip D-cache. The off-chip unified cache is 128 KB 4-way set associative. Block size for on-chip cache is 8 words and off-chip cache is 16 words. Four fixed length instruction starting at main memory word address 22 (in decimal) are executed. These instructions refer to data at main memory word address 260, 261 and 275 (all in decimal). Assuming caches are initially empty; indicate the non empty blocks on all the caches after execution of the instruction.</a:t>
            </a:r>
          </a:p>
          <a:p>
            <a:pPr marL="0" indent="0">
              <a:buNone/>
            </a:pPr>
            <a:endParaRPr lang="en-US" sz="2000" dirty="0">
              <a:solidFill>
                <a:schemeClr val="accent1"/>
              </a:solidFill>
            </a:endParaRPr>
          </a:p>
          <a:p>
            <a:pPr marL="0" indent="0">
              <a:buNone/>
            </a:pPr>
            <a:r>
              <a:rPr lang="en-US" sz="2000" dirty="0">
                <a:solidFill>
                  <a:schemeClr val="accent1"/>
                </a:solidFill>
                <a:effectLst/>
              </a:rPr>
              <a:t>Instruction Words 22,23,24,25</a:t>
            </a:r>
          </a:p>
          <a:p>
            <a:pPr marL="0" indent="0">
              <a:buNone/>
            </a:pPr>
            <a:r>
              <a:rPr lang="en-US" sz="2000" dirty="0">
                <a:solidFill>
                  <a:schemeClr val="accent1"/>
                </a:solidFill>
                <a:effectLst/>
              </a:rPr>
              <a:t>Data 260,261,275</a:t>
            </a:r>
          </a:p>
          <a:p>
            <a:pPr marL="0" indent="0">
              <a:buNone/>
            </a:pPr>
            <a:r>
              <a:rPr lang="en-US" sz="2000" dirty="0">
                <a:solidFill>
                  <a:schemeClr val="accent1"/>
                </a:solidFill>
                <a:effectLst/>
              </a:rPr>
              <a:t>Location in MM @ L1-I block size → 22/8, 23/8 = B2</a:t>
            </a:r>
          </a:p>
          <a:p>
            <a:pPr marL="0" indent="0">
              <a:buNone/>
            </a:pPr>
            <a:r>
              <a:rPr lang="en-US" sz="2000" dirty="0">
                <a:solidFill>
                  <a:schemeClr val="accent1"/>
                </a:solidFill>
                <a:effectLst/>
              </a:rPr>
              <a:t>Location in MM @ L1-I block size → 24/8, 25/8 = B3</a:t>
            </a:r>
          </a:p>
          <a:p>
            <a:pPr marL="0" indent="0">
              <a:buNone/>
            </a:pPr>
            <a:r>
              <a:rPr lang="en-US" sz="2000" dirty="0">
                <a:solidFill>
                  <a:schemeClr val="accent1"/>
                </a:solidFill>
                <a:effectLst/>
              </a:rPr>
              <a:t>Location in MM @ L1-D block size → 260/8, 261/8=B32, 275/8=B34</a:t>
            </a:r>
          </a:p>
          <a:p>
            <a:pPr marL="0" indent="0">
              <a:buNone/>
            </a:pPr>
            <a:r>
              <a:rPr lang="en-US" sz="2000" dirty="0"/>
              <a:t># sets L1-I = Cache Size/(Block Size x A) = 2¹³/(2³·2²x1) = 2⁸ = 256 sets</a:t>
            </a:r>
          </a:p>
          <a:p>
            <a:pPr marL="0" indent="0">
              <a:buNone/>
            </a:pPr>
            <a:r>
              <a:rPr lang="en-US" sz="2000" dirty="0"/>
              <a:t>B2%256 -&gt; S2  (22,23)</a:t>
            </a:r>
          </a:p>
          <a:p>
            <a:pPr marL="0" indent="0">
              <a:buNone/>
            </a:pPr>
            <a:r>
              <a:rPr lang="en-US" sz="2000" dirty="0"/>
              <a:t>B3%256 -&gt; S3  (24,25)</a:t>
            </a:r>
          </a:p>
          <a:p>
            <a:pPr marL="0" indent="0">
              <a:buNone/>
            </a:pPr>
            <a:r>
              <a:rPr lang="en-US" sz="2000" dirty="0"/>
              <a:t>Sets S2 &amp; S3 of L1-I cache WILL BE NON EMPTY</a:t>
            </a:r>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1691872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064FA-BD12-F72E-3BDD-444B9DA05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248CB-7D7C-DEAD-7B0A-FE8C294F7EF8}"/>
              </a:ext>
            </a:extLst>
          </p:cNvPr>
          <p:cNvSpPr>
            <a:spLocks noGrp="1"/>
          </p:cNvSpPr>
          <p:nvPr>
            <p:ph type="title"/>
          </p:nvPr>
        </p:nvSpPr>
        <p:spPr>
          <a:xfrm>
            <a:off x="838200" y="365126"/>
            <a:ext cx="10515600" cy="637764"/>
          </a:xfrm>
        </p:spPr>
        <p:txBody>
          <a:bodyPr>
            <a:normAutofit fontScale="90000"/>
          </a:bodyPr>
          <a:lstStyle/>
          <a:p>
            <a:r>
              <a:rPr lang="en-IN" dirty="0"/>
              <a:t>Cache Mapping</a:t>
            </a:r>
          </a:p>
        </p:txBody>
      </p:sp>
      <p:sp>
        <p:nvSpPr>
          <p:cNvPr id="3" name="Content Placeholder 2">
            <a:extLst>
              <a:ext uri="{FF2B5EF4-FFF2-40B4-BE49-F238E27FC236}">
                <a16:creationId xmlns:a16="http://schemas.microsoft.com/office/drawing/2014/main" id="{8CB26239-3C21-BA9F-3BA1-500CFCD0B9F6}"/>
              </a:ext>
            </a:extLst>
          </p:cNvPr>
          <p:cNvSpPr>
            <a:spLocks noGrp="1"/>
          </p:cNvSpPr>
          <p:nvPr>
            <p:ph idx="1"/>
          </p:nvPr>
        </p:nvSpPr>
        <p:spPr>
          <a:xfrm>
            <a:off x="838200" y="1002890"/>
            <a:ext cx="10515600" cy="5771536"/>
          </a:xfrm>
        </p:spPr>
        <p:txBody>
          <a:bodyPr>
            <a:normAutofit/>
          </a:bodyPr>
          <a:lstStyle/>
          <a:p>
            <a:pPr marL="0" indent="0">
              <a:buNone/>
            </a:pPr>
            <a:r>
              <a:rPr lang="en-US" sz="2000" dirty="0"/>
              <a:t>6) Consider a computer system based on 32 bit processor with 8KB direct mapped on-chip I-cache and 16KB 2-way set associative on-chip D-cache. The off-chip unified cache is 128 KB 4-way set associative. Block size for on-chip cache is 8 words and off-chip cache is 16 words. Four fixed length instruction starting at main memory word address 22 (in decimal) are executed. These instructions refer to data at main memory word address 260, 261 and 275 (all in decimal). Assuming caches are initially empty; indicate the non empty blocks on all the caches after execution of the instruction.</a:t>
            </a:r>
          </a:p>
          <a:p>
            <a:pPr marL="0" indent="0">
              <a:buNone/>
            </a:pPr>
            <a:endParaRPr lang="en-US" sz="2000" dirty="0">
              <a:solidFill>
                <a:schemeClr val="accent1"/>
              </a:solidFill>
            </a:endParaRPr>
          </a:p>
          <a:p>
            <a:pPr marL="0" indent="0">
              <a:buNone/>
            </a:pPr>
            <a:r>
              <a:rPr lang="en-US" sz="2000" dirty="0">
                <a:solidFill>
                  <a:schemeClr val="accent1"/>
                </a:solidFill>
                <a:effectLst/>
              </a:rPr>
              <a:t>Instruction Words 22,23,24,25</a:t>
            </a:r>
          </a:p>
          <a:p>
            <a:pPr marL="0" indent="0">
              <a:buNone/>
            </a:pPr>
            <a:r>
              <a:rPr lang="en-US" sz="2000" dirty="0">
                <a:solidFill>
                  <a:schemeClr val="accent1"/>
                </a:solidFill>
                <a:effectLst/>
              </a:rPr>
              <a:t>Data 260,261,275</a:t>
            </a:r>
          </a:p>
          <a:p>
            <a:pPr marL="0" indent="0">
              <a:buNone/>
            </a:pPr>
            <a:r>
              <a:rPr lang="en-US" sz="2000" dirty="0">
                <a:solidFill>
                  <a:schemeClr val="accent1"/>
                </a:solidFill>
                <a:effectLst/>
              </a:rPr>
              <a:t>Location in MM @ L1-I block size → 22/8, 23/8 = B2</a:t>
            </a:r>
          </a:p>
          <a:p>
            <a:pPr marL="0" indent="0">
              <a:buNone/>
            </a:pPr>
            <a:r>
              <a:rPr lang="en-US" sz="2000" dirty="0">
                <a:solidFill>
                  <a:schemeClr val="accent1"/>
                </a:solidFill>
                <a:effectLst/>
              </a:rPr>
              <a:t>Location in MM @ L1-I block size → 24/8, 25/8 = B3</a:t>
            </a:r>
          </a:p>
          <a:p>
            <a:pPr marL="0" indent="0">
              <a:buNone/>
            </a:pPr>
            <a:r>
              <a:rPr lang="en-US" sz="2000" dirty="0">
                <a:solidFill>
                  <a:schemeClr val="accent1"/>
                </a:solidFill>
                <a:effectLst/>
              </a:rPr>
              <a:t>Location in MM @ L1-D block size → 260/8, 261/8=B32, 275/8=B34</a:t>
            </a:r>
          </a:p>
          <a:p>
            <a:pPr marL="0" indent="0">
              <a:buNone/>
            </a:pPr>
            <a:r>
              <a:rPr lang="en-US" sz="2000" dirty="0"/>
              <a:t># sets L1-D = Cache Size/(Block Size x A) = 2¹⁴/(2³·2²x2¹) = 2⁸ = 256 sets</a:t>
            </a:r>
          </a:p>
          <a:p>
            <a:pPr marL="0" indent="0">
              <a:buNone/>
            </a:pPr>
            <a:r>
              <a:rPr lang="en-US" sz="2000" dirty="0"/>
              <a:t>B32%256 -&gt; S32</a:t>
            </a:r>
          </a:p>
          <a:p>
            <a:pPr marL="0" indent="0">
              <a:buNone/>
            </a:pPr>
            <a:r>
              <a:rPr lang="en-US" sz="2000" dirty="0"/>
              <a:t>B34%256 -&gt; S34</a:t>
            </a:r>
          </a:p>
          <a:p>
            <a:pPr marL="0" indent="0">
              <a:buNone/>
            </a:pPr>
            <a:r>
              <a:rPr lang="en-US" sz="2000" dirty="0"/>
              <a:t>One block of Sets S32,S34 of L1-D cache WILL BE NON EMPTY</a:t>
            </a:r>
          </a:p>
          <a:p>
            <a:pPr marL="0" indent="0">
              <a:buNone/>
            </a:pPr>
            <a:endParaRPr lang="en-US" sz="2000" dirty="0"/>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55794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F7D76-7D00-1FB3-156F-C117A9128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A1D52-A28D-C712-1E8A-A1045869782C}"/>
              </a:ext>
            </a:extLst>
          </p:cNvPr>
          <p:cNvSpPr>
            <a:spLocks noGrp="1"/>
          </p:cNvSpPr>
          <p:nvPr>
            <p:ph type="title"/>
          </p:nvPr>
        </p:nvSpPr>
        <p:spPr>
          <a:xfrm>
            <a:off x="838200" y="365126"/>
            <a:ext cx="10515600" cy="637764"/>
          </a:xfrm>
        </p:spPr>
        <p:txBody>
          <a:bodyPr>
            <a:normAutofit fontScale="90000"/>
          </a:bodyPr>
          <a:lstStyle/>
          <a:p>
            <a:r>
              <a:rPr lang="en-US" dirty="0"/>
              <a:t>Write Policy Interaction with Cache Misses</a:t>
            </a:r>
          </a:p>
        </p:txBody>
      </p:sp>
      <p:sp>
        <p:nvSpPr>
          <p:cNvPr id="3" name="Content Placeholder 2">
            <a:extLst>
              <a:ext uri="{FF2B5EF4-FFF2-40B4-BE49-F238E27FC236}">
                <a16:creationId xmlns:a16="http://schemas.microsoft.com/office/drawing/2014/main" id="{8D7BE805-DBFB-722D-7F2C-1B25E8F0E783}"/>
              </a:ext>
            </a:extLst>
          </p:cNvPr>
          <p:cNvSpPr>
            <a:spLocks noGrp="1"/>
          </p:cNvSpPr>
          <p:nvPr>
            <p:ph idx="1"/>
          </p:nvPr>
        </p:nvSpPr>
        <p:spPr>
          <a:xfrm>
            <a:off x="838200" y="1002890"/>
            <a:ext cx="10515600" cy="5771536"/>
          </a:xfrm>
        </p:spPr>
        <p:txBody>
          <a:bodyPr>
            <a:normAutofit/>
          </a:bodyPr>
          <a:lstStyle/>
          <a:p>
            <a:pPr marL="0" indent="0">
              <a:buNone/>
            </a:pPr>
            <a:r>
              <a:rPr lang="en-US" sz="2000" dirty="0"/>
              <a:t>7) A system uses write-through cache with no-write-allocate policy. Another system uses write-back cache with write-allocate policy. Both systems write to a cache line not currently in the cache.</a:t>
            </a:r>
          </a:p>
          <a:p>
            <a:pPr marL="0" indent="0">
              <a:buNone/>
            </a:pPr>
            <a:r>
              <a:rPr lang="en-US" sz="2000" dirty="0"/>
              <a:t>Which statement is correct regarding these two systems?</a:t>
            </a:r>
          </a:p>
          <a:p>
            <a:pPr marL="0" indent="0">
              <a:buNone/>
            </a:pPr>
            <a:r>
              <a:rPr lang="en-US" sz="2000" dirty="0"/>
              <a:t>A) The write-through system writes to memory and allocates a cache line; the write-back system updates only memory</a:t>
            </a:r>
          </a:p>
          <a:p>
            <a:pPr marL="0" indent="0">
              <a:buNone/>
            </a:pPr>
            <a:r>
              <a:rPr lang="en-US" sz="2000" dirty="0"/>
              <a:t>B) The write-through system writes only to memory without allocating a cache line; the write-back system allocates a cache line and writes to it</a:t>
            </a:r>
          </a:p>
          <a:p>
            <a:pPr marL="0" indent="0">
              <a:buNone/>
            </a:pPr>
            <a:r>
              <a:rPr lang="en-US" sz="2000" dirty="0"/>
              <a:t>C) Both systems will have identical behavior in terms of memory bus traffic</a:t>
            </a:r>
          </a:p>
          <a:p>
            <a:pPr marL="0" indent="0">
              <a:buNone/>
            </a:pPr>
            <a:r>
              <a:rPr lang="en-US" sz="2000" dirty="0"/>
              <a:t>D) The write-back system will generate more memory traffic for this single write operation</a:t>
            </a:r>
          </a:p>
          <a:p>
            <a:pPr marL="0" indent="0">
              <a:buNone/>
            </a:pPr>
            <a:endParaRPr lang="en-US" sz="2000" dirty="0"/>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41654434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55415-F2BF-A27A-38C4-9EE89EA9F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62D05-8D05-06CA-FD82-8ECBF7D60C09}"/>
              </a:ext>
            </a:extLst>
          </p:cNvPr>
          <p:cNvSpPr>
            <a:spLocks noGrp="1"/>
          </p:cNvSpPr>
          <p:nvPr>
            <p:ph type="title"/>
          </p:nvPr>
        </p:nvSpPr>
        <p:spPr>
          <a:xfrm>
            <a:off x="838200" y="365126"/>
            <a:ext cx="10515600" cy="637764"/>
          </a:xfrm>
        </p:spPr>
        <p:txBody>
          <a:bodyPr>
            <a:normAutofit fontScale="90000"/>
          </a:bodyPr>
          <a:lstStyle/>
          <a:p>
            <a:r>
              <a:rPr lang="en-US" dirty="0"/>
              <a:t>Write Policy Interaction with Cache Misses</a:t>
            </a:r>
          </a:p>
        </p:txBody>
      </p:sp>
      <p:sp>
        <p:nvSpPr>
          <p:cNvPr id="3" name="Content Placeholder 2">
            <a:extLst>
              <a:ext uri="{FF2B5EF4-FFF2-40B4-BE49-F238E27FC236}">
                <a16:creationId xmlns:a16="http://schemas.microsoft.com/office/drawing/2014/main" id="{F346B9DE-02CD-D248-285A-023F3882BCB4}"/>
              </a:ext>
            </a:extLst>
          </p:cNvPr>
          <p:cNvSpPr>
            <a:spLocks noGrp="1"/>
          </p:cNvSpPr>
          <p:nvPr>
            <p:ph idx="1"/>
          </p:nvPr>
        </p:nvSpPr>
        <p:spPr>
          <a:xfrm>
            <a:off x="838200" y="1002890"/>
            <a:ext cx="10515600" cy="5771536"/>
          </a:xfrm>
        </p:spPr>
        <p:txBody>
          <a:bodyPr>
            <a:normAutofit/>
          </a:bodyPr>
          <a:lstStyle/>
          <a:p>
            <a:pPr marL="0" indent="0">
              <a:buNone/>
            </a:pPr>
            <a:r>
              <a:rPr lang="en-US" sz="2000" dirty="0"/>
              <a:t>7) A system uses write-through cache with no-write-allocate policy. Another system uses write-back cache with write-allocate policy. Both systems write to a cache line not currently in the cache.</a:t>
            </a:r>
          </a:p>
          <a:p>
            <a:pPr marL="0" indent="0">
              <a:buNone/>
            </a:pPr>
            <a:r>
              <a:rPr lang="en-US" sz="2000" b="1" dirty="0"/>
              <a:t>Answer: B)</a:t>
            </a:r>
            <a:r>
              <a:rPr lang="en-US" sz="2000" dirty="0"/>
              <a:t> The write-through system writes only to memory without allocating a cache line; the write-back system allocates a cache line and writes to it</a:t>
            </a:r>
          </a:p>
          <a:p>
            <a:pPr marL="0" indent="0">
              <a:buNone/>
            </a:pPr>
            <a:r>
              <a:rPr lang="en-US" sz="2000" dirty="0"/>
              <a:t>Explanation:</a:t>
            </a:r>
          </a:p>
          <a:p>
            <a:pPr>
              <a:buFontTx/>
              <a:buChar char="-"/>
            </a:pPr>
            <a:r>
              <a:rPr lang="en-US" sz="2000" dirty="0"/>
              <a:t>Write-through + no-write-allocate: Write misses bypass the cache, directly updating main memory without bringing data into cache</a:t>
            </a:r>
          </a:p>
          <a:p>
            <a:pPr>
              <a:buFontTx/>
              <a:buChar char="-"/>
            </a:pPr>
            <a:r>
              <a:rPr lang="en-US" sz="2000" dirty="0"/>
              <a:t>Write-back + write-allocate: Write misses first allocate a cache line, then the written data is placed in cache (dirty bit set), and later written back when evicted</a:t>
            </a:r>
          </a:p>
          <a:p>
            <a:pPr>
              <a:buFontTx/>
              <a:buChar char="-"/>
            </a:pPr>
            <a:r>
              <a:rPr lang="en-US" sz="2000" dirty="0"/>
              <a:t>The write-through system generates immediate memory traffic but keeps the cache clean</a:t>
            </a:r>
          </a:p>
          <a:p>
            <a:pPr>
              <a:buFontTx/>
              <a:buChar char="-"/>
            </a:pPr>
            <a:r>
              <a:rPr lang="en-US" sz="2000" dirty="0"/>
              <a:t>The write-back system defers memory traffic but must manage dirty lines</a:t>
            </a:r>
          </a:p>
          <a:p>
            <a:pPr>
              <a:buFontTx/>
              <a:buChar char="-"/>
            </a:pPr>
            <a:r>
              <a:rPr lang="en-US" sz="2000" dirty="0"/>
              <a:t>For a single write, write-through generates immediate traffic; write-back might not if the line is overwritten before eviction</a:t>
            </a:r>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5317250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46357-D9B0-D8D5-3620-508ED387C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7DE0C-CB4C-10A3-000B-8830D92AC310}"/>
              </a:ext>
            </a:extLst>
          </p:cNvPr>
          <p:cNvSpPr>
            <a:spLocks noGrp="1"/>
          </p:cNvSpPr>
          <p:nvPr>
            <p:ph type="title"/>
          </p:nvPr>
        </p:nvSpPr>
        <p:spPr>
          <a:xfrm>
            <a:off x="838200" y="365126"/>
            <a:ext cx="10515600" cy="637764"/>
          </a:xfrm>
        </p:spPr>
        <p:txBody>
          <a:bodyPr>
            <a:normAutofit fontScale="90000"/>
          </a:bodyPr>
          <a:lstStyle/>
          <a:p>
            <a:r>
              <a:rPr lang="en-US" dirty="0"/>
              <a:t>Cache Block Size Optimization Trade-off</a:t>
            </a:r>
          </a:p>
        </p:txBody>
      </p:sp>
      <p:sp>
        <p:nvSpPr>
          <p:cNvPr id="3" name="Content Placeholder 2">
            <a:extLst>
              <a:ext uri="{FF2B5EF4-FFF2-40B4-BE49-F238E27FC236}">
                <a16:creationId xmlns:a16="http://schemas.microsoft.com/office/drawing/2014/main" id="{9F04E2F7-66BE-4A7A-7E29-2751C736F48D}"/>
              </a:ext>
            </a:extLst>
          </p:cNvPr>
          <p:cNvSpPr>
            <a:spLocks noGrp="1"/>
          </p:cNvSpPr>
          <p:nvPr>
            <p:ph idx="1"/>
          </p:nvPr>
        </p:nvSpPr>
        <p:spPr>
          <a:xfrm>
            <a:off x="838200" y="1002890"/>
            <a:ext cx="10515600" cy="5771536"/>
          </a:xfrm>
        </p:spPr>
        <p:txBody>
          <a:bodyPr>
            <a:normAutofit/>
          </a:bodyPr>
          <a:lstStyle/>
          <a:p>
            <a:pPr marL="0" indent="0">
              <a:buNone/>
            </a:pPr>
            <a:r>
              <a:rPr lang="en-US" sz="2000" dirty="0"/>
              <a:t>8) Two cache configurations are compared for a workload with uniform spatial locality but poor temporal locality:</a:t>
            </a:r>
          </a:p>
          <a:p>
            <a:pPr marL="0" indent="0">
              <a:buNone/>
            </a:pPr>
            <a:r>
              <a:rPr lang="en-US" sz="2000" dirty="0"/>
              <a:t>Config X: 32 KB cache, 16-byte blocks, 4-way set-associative</a:t>
            </a:r>
          </a:p>
          <a:p>
            <a:pPr marL="0" indent="0">
              <a:buNone/>
            </a:pPr>
            <a:r>
              <a:rPr lang="en-US" sz="2000" dirty="0"/>
              <a:t>Config Y: 32 KB cache, 64-byte blocks, 4-way set-associative</a:t>
            </a:r>
          </a:p>
          <a:p>
            <a:pPr marL="0" indent="0">
              <a:buNone/>
            </a:pPr>
            <a:r>
              <a:rPr lang="en-US" sz="2000" dirty="0"/>
              <a:t>The workload frequently accesses sequential memory regions but doesn't reuse data within 10 cache blocks. Which statement best describes the performance implication?</a:t>
            </a:r>
          </a:p>
          <a:p>
            <a:pPr marL="0" indent="0">
              <a:buNone/>
            </a:pPr>
            <a:r>
              <a:rPr lang="en-US" sz="2000" dirty="0"/>
              <a:t>A) Config X will always outperform Config Y due to better temporal reuse</a:t>
            </a:r>
          </a:p>
          <a:p>
            <a:pPr marL="0" indent="0">
              <a:buNone/>
            </a:pPr>
            <a:r>
              <a:rPr lang="en-US" sz="2000" dirty="0"/>
              <a:t>B) Config X will have higher miss rate but lower miss penalty than Config Y</a:t>
            </a:r>
          </a:p>
          <a:p>
            <a:pPr marL="0" indent="0">
              <a:buNone/>
            </a:pPr>
            <a:r>
              <a:rPr lang="en-US" sz="2000" dirty="0"/>
              <a:t>C) Config Y will have lower miss rate but higher miss penalty than Config X</a:t>
            </a:r>
          </a:p>
          <a:p>
            <a:pPr marL="0" indent="0">
              <a:buNone/>
            </a:pPr>
            <a:r>
              <a:rPr lang="en-US" sz="2000" dirty="0"/>
              <a:t>D) Config Y will outperform Config X because it reduces misses through larger blocks</a:t>
            </a:r>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7094268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3DFEA-C5ED-0E7B-0F3F-784F5358B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6924D-AB0B-FCF7-5A75-802FD1C194CC}"/>
              </a:ext>
            </a:extLst>
          </p:cNvPr>
          <p:cNvSpPr>
            <a:spLocks noGrp="1"/>
          </p:cNvSpPr>
          <p:nvPr>
            <p:ph type="title"/>
          </p:nvPr>
        </p:nvSpPr>
        <p:spPr>
          <a:xfrm>
            <a:off x="838200" y="365126"/>
            <a:ext cx="10515600" cy="637764"/>
          </a:xfrm>
        </p:spPr>
        <p:txBody>
          <a:bodyPr>
            <a:normAutofit fontScale="90000"/>
          </a:bodyPr>
          <a:lstStyle/>
          <a:p>
            <a:r>
              <a:rPr lang="en-US" dirty="0"/>
              <a:t>Cache Block Size Optimization Trade-off</a:t>
            </a:r>
          </a:p>
        </p:txBody>
      </p:sp>
      <p:sp>
        <p:nvSpPr>
          <p:cNvPr id="3" name="Content Placeholder 2">
            <a:extLst>
              <a:ext uri="{FF2B5EF4-FFF2-40B4-BE49-F238E27FC236}">
                <a16:creationId xmlns:a16="http://schemas.microsoft.com/office/drawing/2014/main" id="{5DC72D6C-9060-85C7-5410-04E5231DD196}"/>
              </a:ext>
            </a:extLst>
          </p:cNvPr>
          <p:cNvSpPr>
            <a:spLocks noGrp="1"/>
          </p:cNvSpPr>
          <p:nvPr>
            <p:ph idx="1"/>
          </p:nvPr>
        </p:nvSpPr>
        <p:spPr>
          <a:xfrm>
            <a:off x="838200" y="1002890"/>
            <a:ext cx="10515600" cy="5771536"/>
          </a:xfrm>
        </p:spPr>
        <p:txBody>
          <a:bodyPr>
            <a:normAutofit fontScale="92500" lnSpcReduction="20000"/>
          </a:bodyPr>
          <a:lstStyle/>
          <a:p>
            <a:pPr marL="0" indent="0">
              <a:buNone/>
            </a:pPr>
            <a:r>
              <a:rPr lang="en-US" sz="2000" dirty="0"/>
              <a:t>8) Two cache configurations are compared for a workload with uniform spatial locality but poor temporal locality:</a:t>
            </a:r>
          </a:p>
          <a:p>
            <a:pPr marL="0" indent="0">
              <a:buNone/>
            </a:pPr>
            <a:r>
              <a:rPr lang="en-US" sz="2000" dirty="0"/>
              <a:t>Config X: 32 KB cache, 16-byte blocks, 4-way set-associative</a:t>
            </a:r>
          </a:p>
          <a:p>
            <a:pPr marL="0" indent="0">
              <a:buNone/>
            </a:pPr>
            <a:r>
              <a:rPr lang="en-US" sz="2000" dirty="0"/>
              <a:t>Config Y: 32 KB cache, 64-byte blocks, 4-way set-associative</a:t>
            </a:r>
          </a:p>
          <a:p>
            <a:pPr marL="0" indent="0">
              <a:buNone/>
            </a:pPr>
            <a:r>
              <a:rPr lang="en-US" sz="2000" b="1" dirty="0"/>
              <a:t>Answer: D) </a:t>
            </a:r>
            <a:r>
              <a:rPr lang="en-US" sz="2000" dirty="0"/>
              <a:t>Since the workload has poor temporal locality (no reuse within 10 blocks), temporal reuse benefits are negligible for both configurations. The dominant performance factor becomes spatial locality.</a:t>
            </a:r>
          </a:p>
          <a:p>
            <a:pPr marL="457200" indent="-457200">
              <a:buFont typeface="+mj-lt"/>
              <a:buAutoNum type="arabicPeriod"/>
            </a:pPr>
            <a:r>
              <a:rPr lang="en-US" sz="2000" dirty="0"/>
              <a:t>Larger blocks (64 bytes) in Config Y capture more sequential data in a single cache fetch. When accessing sequential memory regions, Config Y brings in 4× more useful data per miss.</a:t>
            </a:r>
          </a:p>
          <a:p>
            <a:pPr marL="457200" indent="-457200">
              <a:buFont typeface="+mj-lt"/>
              <a:buAutoNum type="arabicPeriod"/>
            </a:pPr>
            <a:r>
              <a:rPr lang="en-US" sz="2000" dirty="0"/>
              <a:t>Compulsory misses are reduced: For sequential access patterns, the first access to a new data region causes a miss. With larger blocks, you get more of that sequential region cached, reducing future misses on related sequential data.</a:t>
            </a:r>
          </a:p>
          <a:p>
            <a:pPr marL="457200" indent="-457200">
              <a:buFont typeface="+mj-lt"/>
              <a:buAutoNum type="arabicPeriod"/>
            </a:pPr>
            <a:r>
              <a:rPr lang="en-US" sz="2000" dirty="0"/>
              <a:t>Miss penalty relationship: While Config Y has fewer total blocks (512 vs 2,048), the reduced miss rate more than compensates for the slightly larger miss penalty. The miss rate improvement outweighs any latency trade-off.</a:t>
            </a:r>
          </a:p>
          <a:p>
            <a:pPr marL="0" indent="0">
              <a:buNone/>
            </a:pPr>
            <a:r>
              <a:rPr lang="en-US" sz="2000"/>
              <a:t>Hence:</a:t>
            </a:r>
            <a:endParaRPr lang="en-US" sz="2000" dirty="0"/>
          </a:p>
          <a:p>
            <a:pPr marL="457200" indent="-457200">
              <a:buFont typeface="+mj-lt"/>
              <a:buAutoNum type="alphaUcPeriod"/>
            </a:pPr>
            <a:r>
              <a:rPr lang="en-US" sz="2000" dirty="0"/>
              <a:t>Incorrect: Temporal reuse is poor (10+ block gap), so temporal locality argument doesn't apply</a:t>
            </a:r>
          </a:p>
          <a:p>
            <a:pPr marL="457200" indent="-457200">
              <a:buFont typeface="+mj-lt"/>
              <a:buAutoNum type="alphaUcPeriod"/>
            </a:pPr>
            <a:r>
              <a:rPr lang="en-US" sz="2000" dirty="0"/>
              <a:t>Misleading: Config X does have higher miss rate, but this is the disadvantage, not advantage</a:t>
            </a:r>
          </a:p>
          <a:p>
            <a:pPr marL="457200" indent="-457200">
              <a:buFont typeface="+mj-lt"/>
              <a:buAutoNum type="alphaUcPeriod"/>
            </a:pPr>
            <a:r>
              <a:rPr lang="en-US" sz="2000" dirty="0"/>
              <a:t>Inverted: Config Y actually has lower miss rate due to larger blocks capturing sequential data</a:t>
            </a:r>
          </a:p>
          <a:p>
            <a:pPr marL="457200" indent="-457200">
              <a:buFont typeface="+mj-lt"/>
              <a:buAutoNum type="alphaUcPeriod"/>
            </a:pPr>
            <a:r>
              <a:rPr lang="en-US" sz="2000" dirty="0"/>
              <a:t>Correct: Larger blocks directly reduce misses in sequential access patterns with poor temporal reuse</a:t>
            </a:r>
            <a:endParaRPr lang="en-US" sz="2000" dirty="0">
              <a:effectLst/>
            </a:endParaRPr>
          </a:p>
        </p:txBody>
      </p:sp>
    </p:spTree>
    <p:extLst>
      <p:ext uri="{BB962C8B-B14F-4D97-AF65-F5344CB8AC3E}">
        <p14:creationId xmlns:p14="http://schemas.microsoft.com/office/powerpoint/2010/main" val="33060750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8F4F-0621-E5D5-2FB2-161BDF3DE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FE0606-BD1C-4258-9B01-93EB3CEE570B}"/>
              </a:ext>
            </a:extLst>
          </p:cNvPr>
          <p:cNvSpPr>
            <a:spLocks noGrp="1"/>
          </p:cNvSpPr>
          <p:nvPr>
            <p:ph type="title"/>
          </p:nvPr>
        </p:nvSpPr>
        <p:spPr>
          <a:xfrm>
            <a:off x="838200" y="365126"/>
            <a:ext cx="10515600" cy="637764"/>
          </a:xfrm>
        </p:spPr>
        <p:txBody>
          <a:bodyPr>
            <a:normAutofit/>
          </a:bodyPr>
          <a:lstStyle/>
          <a:p>
            <a:r>
              <a:rPr lang="en-US" sz="3200" dirty="0"/>
              <a:t>Three C's of Cache Misses - Identification and Measurement</a:t>
            </a:r>
          </a:p>
        </p:txBody>
      </p:sp>
      <p:sp>
        <p:nvSpPr>
          <p:cNvPr id="3" name="Content Placeholder 2">
            <a:extLst>
              <a:ext uri="{FF2B5EF4-FFF2-40B4-BE49-F238E27FC236}">
                <a16:creationId xmlns:a16="http://schemas.microsoft.com/office/drawing/2014/main" id="{5E846D9B-F58D-C6B9-D743-9B1AB307A723}"/>
              </a:ext>
            </a:extLst>
          </p:cNvPr>
          <p:cNvSpPr>
            <a:spLocks noGrp="1"/>
          </p:cNvSpPr>
          <p:nvPr>
            <p:ph idx="1"/>
          </p:nvPr>
        </p:nvSpPr>
        <p:spPr>
          <a:xfrm>
            <a:off x="838200" y="1002890"/>
            <a:ext cx="10515600" cy="5771536"/>
          </a:xfrm>
        </p:spPr>
        <p:txBody>
          <a:bodyPr>
            <a:normAutofit/>
          </a:bodyPr>
          <a:lstStyle/>
          <a:p>
            <a:pPr marL="0" indent="0">
              <a:buNone/>
            </a:pPr>
            <a:r>
              <a:rPr lang="en-US" sz="2000" dirty="0"/>
              <a:t>9) A processor with a 64 KB direct-mapped cache with 32-byte blocks initially runs a program that repeatedly accesses a 100 KB array. After the working set stabilizes (after many iterations), the miss rate becomes 2%. Later, the same program runs on a larger 256 KB direct-mapped cache (same block size), and the new miss rate is 0.8%.</a:t>
            </a:r>
          </a:p>
          <a:p>
            <a:pPr marL="0" indent="0">
              <a:buNone/>
            </a:pPr>
            <a:r>
              <a:rPr lang="en-US" sz="2000" dirty="0"/>
              <a:t>Which type(s) of misses were eliminated by increasing cache size?</a:t>
            </a:r>
          </a:p>
          <a:p>
            <a:pPr marL="0" indent="0">
              <a:buNone/>
            </a:pPr>
            <a:r>
              <a:rPr lang="en-US" sz="2000" dirty="0"/>
              <a:t>A) Only compulsory misses</a:t>
            </a:r>
          </a:p>
          <a:p>
            <a:pPr marL="0" indent="0">
              <a:buNone/>
            </a:pPr>
            <a:r>
              <a:rPr lang="en-US" sz="2000" dirty="0"/>
              <a:t>B) Only capacity misses</a:t>
            </a:r>
          </a:p>
          <a:p>
            <a:pPr marL="0" indent="0">
              <a:buNone/>
            </a:pPr>
            <a:r>
              <a:rPr lang="en-US" sz="2000" dirty="0"/>
              <a:t>C) Conflict misses and capacity misses</a:t>
            </a:r>
          </a:p>
          <a:p>
            <a:pPr marL="0" indent="0">
              <a:buNone/>
            </a:pPr>
            <a:r>
              <a:rPr lang="en-US" sz="2000" dirty="0"/>
              <a:t>D) Only conflict misses</a:t>
            </a:r>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2920819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01D0-56CC-2DF2-C738-D707C9F1A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A3963-F851-D124-5A78-377EE06B3E02}"/>
              </a:ext>
            </a:extLst>
          </p:cNvPr>
          <p:cNvSpPr>
            <a:spLocks noGrp="1"/>
          </p:cNvSpPr>
          <p:nvPr>
            <p:ph type="title"/>
          </p:nvPr>
        </p:nvSpPr>
        <p:spPr>
          <a:xfrm>
            <a:off x="838200" y="365126"/>
            <a:ext cx="10515600" cy="637764"/>
          </a:xfrm>
        </p:spPr>
        <p:txBody>
          <a:bodyPr>
            <a:normAutofit/>
          </a:bodyPr>
          <a:lstStyle/>
          <a:p>
            <a:r>
              <a:rPr lang="en-US" sz="3200" dirty="0"/>
              <a:t>Three C's of Cache Misses - Identification and Measurement</a:t>
            </a:r>
          </a:p>
        </p:txBody>
      </p:sp>
      <p:sp>
        <p:nvSpPr>
          <p:cNvPr id="3" name="Content Placeholder 2">
            <a:extLst>
              <a:ext uri="{FF2B5EF4-FFF2-40B4-BE49-F238E27FC236}">
                <a16:creationId xmlns:a16="http://schemas.microsoft.com/office/drawing/2014/main" id="{D927EEAF-674D-ED81-ADCF-C722480CA624}"/>
              </a:ext>
            </a:extLst>
          </p:cNvPr>
          <p:cNvSpPr>
            <a:spLocks noGrp="1"/>
          </p:cNvSpPr>
          <p:nvPr>
            <p:ph idx="1"/>
          </p:nvPr>
        </p:nvSpPr>
        <p:spPr>
          <a:xfrm>
            <a:off x="838200" y="1002890"/>
            <a:ext cx="10515600" cy="5771536"/>
          </a:xfrm>
        </p:spPr>
        <p:txBody>
          <a:bodyPr>
            <a:normAutofit/>
          </a:bodyPr>
          <a:lstStyle/>
          <a:p>
            <a:pPr marL="0" indent="0">
              <a:buNone/>
            </a:pPr>
            <a:r>
              <a:rPr lang="en-US" sz="2000" dirty="0"/>
              <a:t>9) A processor with a 64 KB direct-mapped cache with 32-byte blocks initially runs a program that repeatedly accesses a 100 KB array. After the working set stabilizes (after many iterations), the miss rate becomes 2%. Later, the same program runs on a larger 256 KB direct-mapped cache (same block size), and the new miss rate is 0.8%.</a:t>
            </a:r>
          </a:p>
          <a:p>
            <a:pPr marL="0" indent="0">
              <a:buNone/>
            </a:pPr>
            <a:r>
              <a:rPr lang="en-US" sz="2000" b="1" dirty="0"/>
              <a:t>Answer: B) </a:t>
            </a:r>
            <a:r>
              <a:rPr lang="en-US" sz="2000" dirty="0"/>
              <a:t>Only capacity misses</a:t>
            </a:r>
          </a:p>
          <a:p>
            <a:pPr marL="0" indent="0">
              <a:buNone/>
            </a:pPr>
            <a:r>
              <a:rPr lang="en-US" sz="2000" dirty="0"/>
              <a:t>Explanation:</a:t>
            </a:r>
          </a:p>
          <a:p>
            <a:r>
              <a:rPr lang="en-US" sz="2000" dirty="0"/>
              <a:t>Compulsory misses cannot be reduced by increasing cache size (they occur on first access to any data)</a:t>
            </a:r>
          </a:p>
          <a:p>
            <a:r>
              <a:rPr lang="en-US" sz="2000" dirty="0"/>
              <a:t>The initial setup shows 2% miss rate after stabilization, meaning conflict misses have already affected performance</a:t>
            </a:r>
          </a:p>
          <a:p>
            <a:r>
              <a:rPr lang="en-US" sz="2000" dirty="0"/>
              <a:t>The array (100 KB) is larger than the 64 KB cache, causing capacity misses</a:t>
            </a:r>
          </a:p>
          <a:p>
            <a:r>
              <a:rPr lang="en-US" sz="2000" dirty="0"/>
              <a:t>After cache size increase to 256 KB (which now fits the 100 KB array), the remaining 0.8% represents compulsory misses (~32 KB / 100 KB ≈ 0.32% in this scenario, but the exact percentage depends on iteration count)</a:t>
            </a:r>
          </a:p>
          <a:p>
            <a:r>
              <a:rPr lang="en-US" sz="2000" dirty="0"/>
              <a:t>Since we're in direct-mapped cache, conflict misses are still present, so the reduction from 2% to 0.8% primarily shows capacity misses being eliminated</a:t>
            </a:r>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39649354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6CE08-4178-983D-A00C-B094BFFD3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AF99F-8738-4AB1-16D1-F10268E6F6DB}"/>
              </a:ext>
            </a:extLst>
          </p:cNvPr>
          <p:cNvSpPr>
            <a:spLocks noGrp="1"/>
          </p:cNvSpPr>
          <p:nvPr>
            <p:ph type="title"/>
          </p:nvPr>
        </p:nvSpPr>
        <p:spPr>
          <a:xfrm>
            <a:off x="838200" y="365126"/>
            <a:ext cx="10515600" cy="637764"/>
          </a:xfrm>
        </p:spPr>
        <p:txBody>
          <a:bodyPr>
            <a:normAutofit fontScale="90000"/>
          </a:bodyPr>
          <a:lstStyle/>
          <a:p>
            <a:r>
              <a:rPr lang="en-US" dirty="0"/>
              <a:t>Replacement Policies and Miss Prediction</a:t>
            </a:r>
          </a:p>
        </p:txBody>
      </p:sp>
      <p:sp>
        <p:nvSpPr>
          <p:cNvPr id="3" name="Content Placeholder 2">
            <a:extLst>
              <a:ext uri="{FF2B5EF4-FFF2-40B4-BE49-F238E27FC236}">
                <a16:creationId xmlns:a16="http://schemas.microsoft.com/office/drawing/2014/main" id="{0A1717DA-67D0-F6E8-41D9-79D9E5DB8909}"/>
              </a:ext>
            </a:extLst>
          </p:cNvPr>
          <p:cNvSpPr>
            <a:spLocks noGrp="1"/>
          </p:cNvSpPr>
          <p:nvPr>
            <p:ph idx="1"/>
          </p:nvPr>
        </p:nvSpPr>
        <p:spPr>
          <a:xfrm>
            <a:off x="838200" y="1002890"/>
            <a:ext cx="10515600" cy="5771536"/>
          </a:xfrm>
        </p:spPr>
        <p:txBody>
          <a:bodyPr>
            <a:normAutofit/>
          </a:bodyPr>
          <a:lstStyle/>
          <a:p>
            <a:pPr marL="0" indent="0">
              <a:buNone/>
            </a:pPr>
            <a:r>
              <a:rPr lang="en-US" sz="2000" dirty="0"/>
              <a:t>10) A 4-way set-associative cache uses Pseudo-LRU replacement. A memory access sequence to a single cache set is:</a:t>
            </a:r>
          </a:p>
          <a:p>
            <a:pPr marL="0" indent="0">
              <a:buNone/>
            </a:pPr>
            <a:r>
              <a:rPr lang="en-US" sz="2000" dirty="0"/>
              <a:t>Block A, Block B, Block C, Block D, Block A, Block E, Block F, Block G</a:t>
            </a:r>
          </a:p>
          <a:p>
            <a:pPr marL="0" indent="0">
              <a:buNone/>
            </a:pPr>
            <a:r>
              <a:rPr lang="en-US" sz="2000" dirty="0"/>
              <a:t>Assuming all blocks are initially not in the cache, what will be the state of the cache after this sequence?</a:t>
            </a:r>
          </a:p>
          <a:p>
            <a:pPr marL="0" indent="0">
              <a:buNone/>
            </a:pPr>
            <a:r>
              <a:rPr lang="en-US" sz="2000" dirty="0"/>
              <a:t>A) Blocks {A, B, E, F} with G as the most recent</a:t>
            </a:r>
          </a:p>
          <a:p>
            <a:pPr marL="0" indent="0">
              <a:buNone/>
            </a:pPr>
            <a:r>
              <a:rPr lang="en-US" sz="2000" dirty="0"/>
              <a:t>B) Blocks {E, F, G, and one of A/B/C} with G as most recent</a:t>
            </a:r>
          </a:p>
          <a:p>
            <a:pPr marL="0" indent="0">
              <a:buNone/>
            </a:pPr>
            <a:r>
              <a:rPr lang="en-US" sz="2000" dirty="0"/>
              <a:t>C) Blocks {C, D, E, F}</a:t>
            </a:r>
          </a:p>
          <a:p>
            <a:pPr marL="0" indent="0">
              <a:buNone/>
            </a:pPr>
            <a:r>
              <a:rPr lang="en-US" sz="2000" dirty="0"/>
              <a:t>D) Blocks {E, F, G, A}</a:t>
            </a:r>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39340580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CF212-2EC5-9F53-ABB2-D3FFFC01C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11A5F-29A4-FFC0-8FFB-87E6F2F71C35}"/>
              </a:ext>
            </a:extLst>
          </p:cNvPr>
          <p:cNvSpPr>
            <a:spLocks noGrp="1"/>
          </p:cNvSpPr>
          <p:nvPr>
            <p:ph type="title"/>
          </p:nvPr>
        </p:nvSpPr>
        <p:spPr>
          <a:xfrm>
            <a:off x="838200" y="365126"/>
            <a:ext cx="10515600" cy="637764"/>
          </a:xfrm>
        </p:spPr>
        <p:txBody>
          <a:bodyPr>
            <a:normAutofit fontScale="90000"/>
          </a:bodyPr>
          <a:lstStyle/>
          <a:p>
            <a:r>
              <a:rPr lang="en-US" dirty="0"/>
              <a:t>Replacement Policies and Miss Prediction</a:t>
            </a:r>
          </a:p>
        </p:txBody>
      </p:sp>
      <p:sp>
        <p:nvSpPr>
          <p:cNvPr id="3" name="Content Placeholder 2">
            <a:extLst>
              <a:ext uri="{FF2B5EF4-FFF2-40B4-BE49-F238E27FC236}">
                <a16:creationId xmlns:a16="http://schemas.microsoft.com/office/drawing/2014/main" id="{0BD22579-814E-CC8E-1E10-28396942DFDB}"/>
              </a:ext>
            </a:extLst>
          </p:cNvPr>
          <p:cNvSpPr>
            <a:spLocks noGrp="1"/>
          </p:cNvSpPr>
          <p:nvPr>
            <p:ph idx="1"/>
          </p:nvPr>
        </p:nvSpPr>
        <p:spPr>
          <a:xfrm>
            <a:off x="838200" y="1002890"/>
            <a:ext cx="10515600" cy="5771536"/>
          </a:xfrm>
        </p:spPr>
        <p:txBody>
          <a:bodyPr>
            <a:normAutofit/>
          </a:bodyPr>
          <a:lstStyle/>
          <a:p>
            <a:pPr marL="0" indent="0">
              <a:buNone/>
            </a:pPr>
            <a:r>
              <a:rPr lang="en-US" sz="2000" dirty="0"/>
              <a:t>10) A 4-way set-associative cache uses Pseudo-LRU replacement. A memory access sequence to a single cache set is:</a:t>
            </a:r>
          </a:p>
          <a:p>
            <a:pPr marL="0" indent="0">
              <a:buNone/>
            </a:pPr>
            <a:r>
              <a:rPr lang="en-US" sz="2000" dirty="0"/>
              <a:t>Block A, Block B, Block C, Block D, Block A, Block E, Block F, Block G</a:t>
            </a:r>
          </a:p>
          <a:p>
            <a:pPr marL="0" indent="0">
              <a:buNone/>
            </a:pPr>
            <a:r>
              <a:rPr lang="en-US" sz="2000" b="1" dirty="0"/>
              <a:t>Answer: D</a:t>
            </a:r>
            <a:r>
              <a:rPr lang="en-US" sz="2000" dirty="0"/>
              <a:t>) Blocks {E, F, G, A}</a:t>
            </a:r>
          </a:p>
          <a:p>
            <a:pPr marL="0" indent="0">
              <a:buNone/>
            </a:pPr>
            <a:r>
              <a:rPr lang="en-US" sz="2000" dirty="0"/>
              <a:t>Explanation:</a:t>
            </a:r>
          </a:p>
          <a:p>
            <a:pPr marL="0" indent="0">
              <a:buNone/>
            </a:pPr>
            <a:r>
              <a:rPr lang="en-US" sz="2000" dirty="0"/>
              <a:t>Pseudo-LRU maintains a tree-based replacement policy. Tracing through with a typical 4-way Pseudo-LRU implementation:</a:t>
            </a:r>
          </a:p>
          <a:p>
            <a:pPr marL="457200" indent="-457200">
              <a:buFont typeface="+mj-lt"/>
              <a:buAutoNum type="arabicPeriod"/>
            </a:pPr>
            <a:r>
              <a:rPr lang="en-US" sz="2000" dirty="0"/>
              <a:t>A, B, C, D: All four ways filled</a:t>
            </a:r>
          </a:p>
          <a:p>
            <a:pPr marL="457200" indent="-457200">
              <a:buFont typeface="+mj-lt"/>
              <a:buAutoNum type="arabicPeriod"/>
            </a:pPr>
            <a:r>
              <a:rPr lang="en-US" sz="2000" dirty="0"/>
              <a:t>Access A: A marked as recently used</a:t>
            </a:r>
          </a:p>
          <a:p>
            <a:pPr marL="457200" indent="-457200">
              <a:buFont typeface="+mj-lt"/>
              <a:buAutoNum type="arabicPeriod"/>
            </a:pPr>
            <a:r>
              <a:rPr lang="en-US" sz="2000" dirty="0"/>
              <a:t>Access E: Pseudo-LRU evicts the least recently used block (B)</a:t>
            </a:r>
          </a:p>
          <a:p>
            <a:pPr marL="457200" indent="-457200">
              <a:buFont typeface="+mj-lt"/>
              <a:buAutoNum type="arabicPeriod"/>
            </a:pPr>
            <a:r>
              <a:rPr lang="en-US" sz="2000" dirty="0"/>
              <a:t>Access F: Pseudo-LRU evicts C</a:t>
            </a:r>
          </a:p>
          <a:p>
            <a:pPr marL="457200" indent="-457200">
              <a:buFont typeface="+mj-lt"/>
              <a:buAutoNum type="arabicPeriod"/>
            </a:pPr>
            <a:r>
              <a:rPr lang="en-US" sz="2000" dirty="0"/>
              <a:t>Access G: Pseudo-LRU evicts D</a:t>
            </a:r>
            <a:br>
              <a:rPr lang="en-US" sz="2000" dirty="0"/>
            </a:br>
            <a:r>
              <a:rPr lang="en-US" sz="2000" dirty="0"/>
              <a:t>Final state: {A, E, F, G}</a:t>
            </a:r>
          </a:p>
          <a:p>
            <a:pPr marL="0" indent="0">
              <a:buNone/>
            </a:pPr>
            <a:r>
              <a:rPr lang="en-US" sz="2000" dirty="0"/>
              <a:t>The key insight is that Pseudo-LRU doesn't track perfect LRU order but uses a binary tree to approximate it, making it more efficient than true LRU while providing better replacement than FIFO.</a:t>
            </a:r>
          </a:p>
          <a:p>
            <a:pPr marL="0" indent="0">
              <a:buNone/>
            </a:pPr>
            <a:endParaRPr lang="en-US" sz="2000" dirty="0">
              <a:effectLst/>
            </a:endParaRPr>
          </a:p>
          <a:p>
            <a:pPr marL="0" indent="0">
              <a:buNone/>
            </a:pPr>
            <a:endParaRPr lang="en-US" sz="2000" dirty="0">
              <a:solidFill>
                <a:schemeClr val="accent1"/>
              </a:solidFill>
            </a:endParaRPr>
          </a:p>
        </p:txBody>
      </p:sp>
    </p:spTree>
    <p:extLst>
      <p:ext uri="{BB962C8B-B14F-4D97-AF65-F5344CB8AC3E}">
        <p14:creationId xmlns:p14="http://schemas.microsoft.com/office/powerpoint/2010/main" val="679655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7900</Words>
  <Application>Microsoft Office PowerPoint</Application>
  <PresentationFormat>Widescreen</PresentationFormat>
  <Paragraphs>372</Paragraphs>
  <Slides>58</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Wingdings</vt:lpstr>
      <vt:lpstr>Office Theme</vt:lpstr>
      <vt:lpstr>Cache Tutorial 1</vt:lpstr>
      <vt:lpstr>Cache Block Concepts</vt:lpstr>
      <vt:lpstr>Cache Block Concepts</vt:lpstr>
      <vt:lpstr>Cache Block Concepts</vt:lpstr>
      <vt:lpstr>Cache Block Concepts</vt:lpstr>
      <vt:lpstr>Index and Offset Calculations</vt:lpstr>
      <vt:lpstr>Index and Offset Calculations</vt:lpstr>
      <vt:lpstr>Tag and Data array Access</vt:lpstr>
      <vt:lpstr>Tag and Data array Access</vt:lpstr>
      <vt:lpstr>Tag and Data array Access</vt:lpstr>
      <vt:lpstr>Tag and Data array Access</vt:lpstr>
      <vt:lpstr>Tag and Data array Access</vt:lpstr>
      <vt:lpstr>MPKI – Miss rate Relation</vt:lpstr>
      <vt:lpstr>MPKI – Miss rate Relation</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Block Replacement Algorithms</vt:lpstr>
      <vt:lpstr>Cache Mapping</vt:lpstr>
      <vt:lpstr>Cache Mapping</vt:lpstr>
      <vt:lpstr>Cache Mapping</vt:lpstr>
      <vt:lpstr>Cache Mapping</vt:lpstr>
      <vt:lpstr>Cache Mapping</vt:lpstr>
      <vt:lpstr>Cache Mapping</vt:lpstr>
      <vt:lpstr>Write Policy Interaction with Cache Misses</vt:lpstr>
      <vt:lpstr>Write Policy Interaction with Cache Misses</vt:lpstr>
      <vt:lpstr>Cache Block Size Optimization Trade-off</vt:lpstr>
      <vt:lpstr>Cache Block Size Optimization Trade-off</vt:lpstr>
      <vt:lpstr>Three C's of Cache Misses - Identification and Measurement</vt:lpstr>
      <vt:lpstr>Three C's of Cache Misses - Identification and Measurement</vt:lpstr>
      <vt:lpstr>Replacement Policies and Miss Prediction</vt:lpstr>
      <vt:lpstr>Replacement Policies and Miss Prediction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RAJ</dc:creator>
  <cp:lastModifiedBy>HARSH RAJ</cp:lastModifiedBy>
  <cp:revision>6</cp:revision>
  <dcterms:created xsi:type="dcterms:W3CDTF">2025-11-09T13:08:33Z</dcterms:created>
  <dcterms:modified xsi:type="dcterms:W3CDTF">2025-11-22T14:45:43Z</dcterms:modified>
</cp:coreProperties>
</file>
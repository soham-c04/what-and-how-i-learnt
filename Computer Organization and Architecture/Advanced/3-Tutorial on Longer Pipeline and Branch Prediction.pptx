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1" r:id="rId6"/>
    <p:sldId id="260" r:id="rId7"/>
    <p:sldId id="262" r:id="rId8"/>
    <p:sldId id="265" r:id="rId9"/>
    <p:sldId id="263" r:id="rId10"/>
    <p:sldId id="266" r:id="rId11"/>
    <p:sldId id="267" r:id="rId12"/>
    <p:sldId id="268" r:id="rId13"/>
    <p:sldId id="269" r:id="rId14"/>
    <p:sldId id="270" r:id="rId15"/>
    <p:sldId id="271" r:id="rId16"/>
    <p:sldId id="272" r:id="rId17"/>
    <p:sldId id="273" r:id="rId18"/>
    <p:sldId id="277"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F3EAF-1D3C-1B38-44B3-C454B9F9AA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824719-6BCE-38AD-C82D-1F6F6D730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FA5BA6-1A56-3160-4CF1-320184D06ECE}"/>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510D01D7-5002-84FE-CCA1-F22CEBD0AA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35B682-A583-2F29-DDA0-8464A8A48F1E}"/>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3755713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A0080-5F79-04B8-6E06-C9874666E0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352A4A-8C71-BA29-3B3F-9996943EE2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FB7074-93AC-6E61-7859-A2858E9A1B7B}"/>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C70B2DC1-262A-35CE-0ED2-85BEB4B1C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6060AB-ECDC-EB00-A29B-330AC67E2A15}"/>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114672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3A8A8-E485-4997-5073-8AD817766C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D56E3E-5D50-D90B-A78A-ED6BF5FAB3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7151FD-BCEA-E08C-7947-4600D037CAF5}"/>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10FC75A7-A111-3EB8-8BA2-2BE9D8F380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556823-3129-102F-25B1-3DEDBD9A3936}"/>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265836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5C20-2F34-DF1A-1552-83FAF1587E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CCFACB-6F73-236B-418B-9DEA17C289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0C87F04-312B-C5FB-F3D1-C2D459F23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4C0AB7-5272-3B70-F93B-409BA7C73139}"/>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6" name="Footer Placeholder 5">
            <a:extLst>
              <a:ext uri="{FF2B5EF4-FFF2-40B4-BE49-F238E27FC236}">
                <a16:creationId xmlns:a16="http://schemas.microsoft.com/office/drawing/2014/main" id="{94F2972E-D65D-4787-AF3A-E8A7909A41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1D4C17-4A6F-C9AB-1C4F-236ED8D24D69}"/>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934808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1DC82-8A95-1F66-C794-4B450066EB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60750F-06EB-3361-308A-88E2BB002C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006F4A-52D2-9C99-310E-40D486D971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32AEF3-A7EC-E73C-AF06-E905E9B678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D5ED85-B358-E5F2-FBAE-EAA3342CA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8431AE-8545-A57C-9A5D-4BB2B9CDC6EE}"/>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8" name="Footer Placeholder 7">
            <a:extLst>
              <a:ext uri="{FF2B5EF4-FFF2-40B4-BE49-F238E27FC236}">
                <a16:creationId xmlns:a16="http://schemas.microsoft.com/office/drawing/2014/main" id="{333CC89D-1561-0DC1-AC62-01643F08B5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ABA1C1-A25F-31F1-5168-023F5AECEA6F}"/>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78269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2333-02CD-830D-C59B-8052B27FA1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517E47-F146-5125-748F-A8793E0E72EB}"/>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4" name="Footer Placeholder 3">
            <a:extLst>
              <a:ext uri="{FF2B5EF4-FFF2-40B4-BE49-F238E27FC236}">
                <a16:creationId xmlns:a16="http://schemas.microsoft.com/office/drawing/2014/main" id="{F42E49F8-6FF2-B6C1-5129-04DB5B560A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C5AB33-2C27-7CA5-8E76-2B7CD5CF3F7E}"/>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2977967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812F8D-E8EC-66F5-5E41-E16BB3B4A970}"/>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3" name="Footer Placeholder 2">
            <a:extLst>
              <a:ext uri="{FF2B5EF4-FFF2-40B4-BE49-F238E27FC236}">
                <a16:creationId xmlns:a16="http://schemas.microsoft.com/office/drawing/2014/main" id="{6739E224-7821-F466-B547-A19EEA0B5D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8865A7-7EC8-36BA-878A-5054F0412BAD}"/>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2320170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C2D6-148A-0E24-BDD0-E36247ADC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61C4E0-47ED-183E-578D-0F2734D635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81038B-5CC0-4863-8871-26C845116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1922D-FB0E-D869-F83B-3033E744E9AF}"/>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6" name="Footer Placeholder 5">
            <a:extLst>
              <a:ext uri="{FF2B5EF4-FFF2-40B4-BE49-F238E27FC236}">
                <a16:creationId xmlns:a16="http://schemas.microsoft.com/office/drawing/2014/main" id="{CC45726E-CDD9-1EC2-0632-9B8F2241F0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E40A7D-BE7D-3314-02D0-56943D48D0E1}"/>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614477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7EC6-F30A-A073-BFD4-49AAF96616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C4AB7A-EBC3-9FD4-AFF3-AB8FEAAD1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039073-ADDF-2290-F680-750DA49E0B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14015-6DCC-BDB5-60D1-B2124C2B7D91}"/>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6" name="Footer Placeholder 5">
            <a:extLst>
              <a:ext uri="{FF2B5EF4-FFF2-40B4-BE49-F238E27FC236}">
                <a16:creationId xmlns:a16="http://schemas.microsoft.com/office/drawing/2014/main" id="{D433AD0B-8F31-4371-521A-851A987611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86D288-CC47-2410-E816-7B1C55A530EC}"/>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4228059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D079-0570-9639-EE55-1844D2D89F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7C0FFE-E43E-D8FC-754B-910E57B17B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774C5C-BEB4-2E5C-A3F7-595DBF7FF83B}"/>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4A0EF4E5-6B06-546E-2858-08A3FA15FD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4611EB-6F15-C474-F566-51B3A87027C0}"/>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1106322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68FB8E-A4F7-B66A-9D4E-1B734DA9AB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609733-95F8-D401-624F-60B177D817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3B5C17-735C-F1B7-0012-F1E10AB52C35}"/>
              </a:ext>
            </a:extLst>
          </p:cNvPr>
          <p:cNvSpPr>
            <a:spLocks noGrp="1"/>
          </p:cNvSpPr>
          <p:nvPr>
            <p:ph type="dt" sz="half" idx="10"/>
          </p:nvPr>
        </p:nvSpPr>
        <p:spPr/>
        <p:txBody>
          <a:body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5C20FB13-AF07-4AE5-0F03-36AA4F9674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99166-4F6B-1CE1-CDA8-4D2D5B817CFB}"/>
              </a:ext>
            </a:extLst>
          </p:cNvPr>
          <p:cNvSpPr>
            <a:spLocks noGrp="1"/>
          </p:cNvSpPr>
          <p:nvPr>
            <p:ph type="sldNum" sz="quarter" idx="12"/>
          </p:nvPr>
        </p:nvSpPr>
        <p:spPr/>
        <p:txBody>
          <a:bodyPr/>
          <a:lstStyle/>
          <a:p>
            <a:fld id="{86B69826-6F12-41DE-90EB-746B47AE2F6E}" type="slidenum">
              <a:rPr lang="en-IN" smtClean="0"/>
              <a:t>‹#›</a:t>
            </a:fld>
            <a:endParaRPr lang="en-IN"/>
          </a:p>
        </p:txBody>
      </p:sp>
    </p:spTree>
    <p:extLst>
      <p:ext uri="{BB962C8B-B14F-4D97-AF65-F5344CB8AC3E}">
        <p14:creationId xmlns:p14="http://schemas.microsoft.com/office/powerpoint/2010/main" val="3990943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F0984-844B-B190-1787-4B4D94A99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F32104-046A-8F1D-B04E-E90A59781D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304472-39D0-BED0-B8B8-480C5C8DF1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9E962-0CB7-49A3-9340-1A83EDBA5B2C}" type="datetimeFigureOut">
              <a:rPr lang="en-IN" smtClean="0"/>
              <a:t>27-08-2025</a:t>
            </a:fld>
            <a:endParaRPr lang="en-IN"/>
          </a:p>
        </p:txBody>
      </p:sp>
      <p:sp>
        <p:nvSpPr>
          <p:cNvPr id="5" name="Footer Placeholder 4">
            <a:extLst>
              <a:ext uri="{FF2B5EF4-FFF2-40B4-BE49-F238E27FC236}">
                <a16:creationId xmlns:a16="http://schemas.microsoft.com/office/drawing/2014/main" id="{59A88275-73E6-2D67-D763-FB83F731DA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60DFF8-283F-8480-CA4F-F736B28362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69826-6F12-41DE-90EB-746B47AE2F6E}" type="slidenum">
              <a:rPr lang="en-IN" smtClean="0"/>
              <a:t>‹#›</a:t>
            </a:fld>
            <a:endParaRPr lang="en-IN"/>
          </a:p>
        </p:txBody>
      </p:sp>
    </p:spTree>
    <p:extLst>
      <p:ext uri="{BB962C8B-B14F-4D97-AF65-F5344CB8AC3E}">
        <p14:creationId xmlns:p14="http://schemas.microsoft.com/office/powerpoint/2010/main" val="2792270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31EBA-A6BF-96B4-B80B-B9F59DC6175B}"/>
              </a:ext>
            </a:extLst>
          </p:cNvPr>
          <p:cNvSpPr>
            <a:spLocks noGrp="1"/>
          </p:cNvSpPr>
          <p:nvPr>
            <p:ph type="ctrTitle"/>
          </p:nvPr>
        </p:nvSpPr>
        <p:spPr/>
        <p:txBody>
          <a:bodyPr/>
          <a:lstStyle/>
          <a:p>
            <a:r>
              <a:rPr lang="en-US" dirty="0"/>
              <a:t>Tutorial on Longer Pipeline and Branch Prediction</a:t>
            </a:r>
            <a:endParaRPr lang="en-IN" dirty="0"/>
          </a:p>
        </p:txBody>
      </p:sp>
    </p:spTree>
    <p:extLst>
      <p:ext uri="{BB962C8B-B14F-4D97-AF65-F5344CB8AC3E}">
        <p14:creationId xmlns:p14="http://schemas.microsoft.com/office/powerpoint/2010/main" val="3636018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73E3-ACD4-629A-8849-E907F269875C}"/>
              </a:ext>
            </a:extLst>
          </p:cNvPr>
          <p:cNvSpPr>
            <a:spLocks noGrp="1"/>
          </p:cNvSpPr>
          <p:nvPr>
            <p:ph type="title"/>
          </p:nvPr>
        </p:nvSpPr>
        <p:spPr/>
        <p:txBody>
          <a:bodyPr/>
          <a:lstStyle/>
          <a:p>
            <a:r>
              <a:rPr lang="en-US" dirty="0"/>
              <a:t>TRUE/FALSE</a:t>
            </a:r>
            <a:endParaRPr lang="en-IN" dirty="0"/>
          </a:p>
        </p:txBody>
      </p:sp>
      <p:sp>
        <p:nvSpPr>
          <p:cNvPr id="3" name="Content Placeholder 2">
            <a:extLst>
              <a:ext uri="{FF2B5EF4-FFF2-40B4-BE49-F238E27FC236}">
                <a16:creationId xmlns:a16="http://schemas.microsoft.com/office/drawing/2014/main" id="{A509E4F1-521E-4F3C-BE13-4289ABE730A8}"/>
              </a:ext>
            </a:extLst>
          </p:cNvPr>
          <p:cNvSpPr>
            <a:spLocks noGrp="1"/>
          </p:cNvSpPr>
          <p:nvPr>
            <p:ph idx="1"/>
          </p:nvPr>
        </p:nvSpPr>
        <p:spPr/>
        <p:txBody>
          <a:bodyPr>
            <a:noAutofit/>
          </a:bodyPr>
          <a:lstStyle/>
          <a:p>
            <a:pPr marL="0" indent="0">
              <a:buNone/>
            </a:pPr>
            <a:r>
              <a:rPr lang="en-US" sz="1600" dirty="0"/>
              <a:t>Which of the following statements is/are FALSE?</a:t>
            </a:r>
          </a:p>
          <a:p>
            <a:pPr marL="0" indent="0">
              <a:buNone/>
            </a:pPr>
            <a:r>
              <a:rPr lang="en-US" sz="1600" dirty="0"/>
              <a:t>(I) For a MIPS multi-cycle floating point pipeline the initiation interval of FP-</a:t>
            </a:r>
            <a:r>
              <a:rPr lang="en-US" sz="1600" dirty="0" err="1"/>
              <a:t>mul</a:t>
            </a:r>
            <a:r>
              <a:rPr lang="en-US" sz="1600" dirty="0"/>
              <a:t> is larger than that of FP-add</a:t>
            </a:r>
          </a:p>
          <a:p>
            <a:pPr marL="0" indent="0">
              <a:buNone/>
            </a:pPr>
            <a:r>
              <a:rPr lang="en-US" sz="1600" dirty="0"/>
              <a:t>(II) WAW hazard cannot happen in a MIPS multi-cycle floating point pipeline.</a:t>
            </a:r>
          </a:p>
          <a:p>
            <a:pPr marL="0" indent="0">
              <a:buNone/>
            </a:pPr>
            <a:r>
              <a:rPr lang="en-US" sz="1600" dirty="0"/>
              <a:t>(III) In a MIPS multi-cycle floating point pipeline that supports operand forwarding, there will be 7 stalls between a pair of adjacent MUL instructions that has a RAW dependency between them.</a:t>
            </a:r>
          </a:p>
          <a:p>
            <a:pPr marL="0" indent="0">
              <a:buNone/>
            </a:pPr>
            <a:r>
              <a:rPr lang="en-US" sz="1600" dirty="0"/>
              <a:t>(IV) A (2,3) type branch predictor uses the outcome of the last 2</a:t>
            </a:r>
            <a:r>
              <a:rPr lang="en-US" sz="1600" baseline="30000" dirty="0"/>
              <a:t>3</a:t>
            </a:r>
            <a:r>
              <a:rPr lang="en-US" sz="1600" dirty="0"/>
              <a:t> (8) branches to index into the BPB where each entry has a 3-bit predictor.</a:t>
            </a:r>
          </a:p>
          <a:p>
            <a:pPr marL="0" indent="0">
              <a:buNone/>
            </a:pPr>
            <a:endParaRPr lang="en-US" sz="1600" dirty="0"/>
          </a:p>
          <a:p>
            <a:pPr marL="0" indent="0">
              <a:buNone/>
            </a:pPr>
            <a:r>
              <a:rPr lang="en-US" sz="1600" dirty="0"/>
              <a:t>(A) III only</a:t>
            </a:r>
          </a:p>
          <a:p>
            <a:pPr marL="0" indent="0">
              <a:buNone/>
            </a:pPr>
            <a:r>
              <a:rPr lang="en-US" sz="1600" dirty="0"/>
              <a:t>(B) I only</a:t>
            </a:r>
          </a:p>
          <a:p>
            <a:pPr marL="0" indent="0">
              <a:buNone/>
            </a:pPr>
            <a:r>
              <a:rPr lang="en-US" sz="1600" dirty="0"/>
              <a:t>(C) I &amp; IV only</a:t>
            </a:r>
          </a:p>
          <a:p>
            <a:pPr marL="0" indent="0">
              <a:buNone/>
            </a:pPr>
            <a:r>
              <a:rPr lang="en-US" sz="1600" dirty="0"/>
              <a:t>(D) I, II, III &amp; IV</a:t>
            </a:r>
            <a:endParaRPr lang="en-IN" sz="1600" dirty="0"/>
          </a:p>
        </p:txBody>
      </p:sp>
    </p:spTree>
    <p:extLst>
      <p:ext uri="{BB962C8B-B14F-4D97-AF65-F5344CB8AC3E}">
        <p14:creationId xmlns:p14="http://schemas.microsoft.com/office/powerpoint/2010/main" val="3476647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A2E68-710E-64B2-9456-61BC3A07C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0A2F7-48DB-6D1E-C876-71B0421FAA24}"/>
              </a:ext>
            </a:extLst>
          </p:cNvPr>
          <p:cNvSpPr>
            <a:spLocks noGrp="1"/>
          </p:cNvSpPr>
          <p:nvPr>
            <p:ph type="title"/>
          </p:nvPr>
        </p:nvSpPr>
        <p:spPr>
          <a:xfrm>
            <a:off x="838200" y="365126"/>
            <a:ext cx="10515600" cy="834410"/>
          </a:xfrm>
        </p:spPr>
        <p:txBody>
          <a:bodyPr>
            <a:normAutofit/>
          </a:bodyPr>
          <a:lstStyle/>
          <a:p>
            <a:r>
              <a:rPr lang="en-US" sz="3600" dirty="0"/>
              <a:t>Multi-cycle operations</a:t>
            </a:r>
            <a:endParaRPr lang="en-IN" sz="3600" dirty="0"/>
          </a:p>
        </p:txBody>
      </p:sp>
      <p:sp>
        <p:nvSpPr>
          <p:cNvPr id="8" name="TextBox 7">
            <a:extLst>
              <a:ext uri="{FF2B5EF4-FFF2-40B4-BE49-F238E27FC236}">
                <a16:creationId xmlns:a16="http://schemas.microsoft.com/office/drawing/2014/main" id="{A4CD0BFB-482E-DA5E-0D70-05ACD12A4AD5}"/>
              </a:ext>
            </a:extLst>
          </p:cNvPr>
          <p:cNvSpPr txBox="1"/>
          <p:nvPr/>
        </p:nvSpPr>
        <p:spPr>
          <a:xfrm>
            <a:off x="838199" y="1260446"/>
            <a:ext cx="10269286" cy="369332"/>
          </a:xfrm>
          <a:prstGeom prst="rect">
            <a:avLst/>
          </a:prstGeom>
          <a:noFill/>
        </p:spPr>
        <p:txBody>
          <a:bodyPr wrap="none" rtlCol="0">
            <a:spAutoFit/>
          </a:bodyPr>
          <a:lstStyle/>
          <a:p>
            <a:r>
              <a:rPr lang="en-US" b="1" dirty="0"/>
              <a:t>(I) </a:t>
            </a:r>
            <a:r>
              <a:rPr lang="en-US" dirty="0"/>
              <a:t>For a MIPS multi-cycle floating point pipeline the initiation interval of FP-</a:t>
            </a:r>
            <a:r>
              <a:rPr lang="en-US" dirty="0" err="1"/>
              <a:t>mul</a:t>
            </a:r>
            <a:r>
              <a:rPr lang="en-US" dirty="0"/>
              <a:t> is larger than that of FP-add</a:t>
            </a:r>
            <a:endParaRPr lang="en-IN" dirty="0"/>
          </a:p>
        </p:txBody>
      </p:sp>
    </p:spTree>
    <p:extLst>
      <p:ext uri="{BB962C8B-B14F-4D97-AF65-F5344CB8AC3E}">
        <p14:creationId xmlns:p14="http://schemas.microsoft.com/office/powerpoint/2010/main" val="1350322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DE31-EAC0-5767-3A1A-B90D2DE03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4EB23-8269-5AC8-93A3-570AD24EDC3A}"/>
              </a:ext>
            </a:extLst>
          </p:cNvPr>
          <p:cNvSpPr>
            <a:spLocks noGrp="1"/>
          </p:cNvSpPr>
          <p:nvPr>
            <p:ph type="title"/>
          </p:nvPr>
        </p:nvSpPr>
        <p:spPr>
          <a:xfrm>
            <a:off x="838200" y="365126"/>
            <a:ext cx="10515600" cy="834410"/>
          </a:xfrm>
        </p:spPr>
        <p:txBody>
          <a:bodyPr>
            <a:normAutofit/>
          </a:bodyPr>
          <a:lstStyle/>
          <a:p>
            <a:r>
              <a:rPr lang="en-US" sz="3600" dirty="0"/>
              <a:t>Multi-cycle operations</a:t>
            </a:r>
            <a:endParaRPr lang="en-IN" sz="3600" dirty="0"/>
          </a:p>
        </p:txBody>
      </p:sp>
      <p:pic>
        <p:nvPicPr>
          <p:cNvPr id="7" name="Picture 6">
            <a:extLst>
              <a:ext uri="{FF2B5EF4-FFF2-40B4-BE49-F238E27FC236}">
                <a16:creationId xmlns:a16="http://schemas.microsoft.com/office/drawing/2014/main" id="{B3C71DFD-F473-64A1-92D2-1263CCC5FA9D}"/>
              </a:ext>
            </a:extLst>
          </p:cNvPr>
          <p:cNvPicPr>
            <a:picLocks noChangeAspect="1"/>
          </p:cNvPicPr>
          <p:nvPr/>
        </p:nvPicPr>
        <p:blipFill>
          <a:blip r:embed="rId2"/>
          <a:stretch>
            <a:fillRect/>
          </a:stretch>
        </p:blipFill>
        <p:spPr>
          <a:xfrm>
            <a:off x="838199" y="1690688"/>
            <a:ext cx="10515599" cy="4802187"/>
          </a:xfrm>
          <a:prstGeom prst="rect">
            <a:avLst/>
          </a:prstGeom>
        </p:spPr>
      </p:pic>
      <p:sp>
        <p:nvSpPr>
          <p:cNvPr id="8" name="TextBox 7">
            <a:extLst>
              <a:ext uri="{FF2B5EF4-FFF2-40B4-BE49-F238E27FC236}">
                <a16:creationId xmlns:a16="http://schemas.microsoft.com/office/drawing/2014/main" id="{4E6F624D-69AB-4592-1DE7-4F7C219F5C84}"/>
              </a:ext>
            </a:extLst>
          </p:cNvPr>
          <p:cNvSpPr txBox="1"/>
          <p:nvPr/>
        </p:nvSpPr>
        <p:spPr>
          <a:xfrm>
            <a:off x="838199" y="1260446"/>
            <a:ext cx="10269286" cy="369332"/>
          </a:xfrm>
          <a:prstGeom prst="rect">
            <a:avLst/>
          </a:prstGeom>
          <a:noFill/>
        </p:spPr>
        <p:txBody>
          <a:bodyPr wrap="none" rtlCol="0">
            <a:spAutoFit/>
          </a:bodyPr>
          <a:lstStyle/>
          <a:p>
            <a:r>
              <a:rPr lang="en-US" b="1" dirty="0"/>
              <a:t>(I) </a:t>
            </a:r>
            <a:r>
              <a:rPr lang="en-US" dirty="0"/>
              <a:t>For a MIPS multi-cycle floating point pipeline the initiation interval of FP-</a:t>
            </a:r>
            <a:r>
              <a:rPr lang="en-US" dirty="0" err="1"/>
              <a:t>mul</a:t>
            </a:r>
            <a:r>
              <a:rPr lang="en-US" dirty="0"/>
              <a:t> is larger than that of FP-add</a:t>
            </a:r>
            <a:endParaRPr lang="en-IN" dirty="0"/>
          </a:p>
        </p:txBody>
      </p:sp>
    </p:spTree>
    <p:extLst>
      <p:ext uri="{BB962C8B-B14F-4D97-AF65-F5344CB8AC3E}">
        <p14:creationId xmlns:p14="http://schemas.microsoft.com/office/powerpoint/2010/main" val="1059669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68F29-7E0C-AF23-CE8E-5C1834CA9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21132-62C1-A1FA-DADC-090C5DDB2AB2}"/>
              </a:ext>
            </a:extLst>
          </p:cNvPr>
          <p:cNvSpPr>
            <a:spLocks noGrp="1"/>
          </p:cNvSpPr>
          <p:nvPr>
            <p:ph type="title"/>
          </p:nvPr>
        </p:nvSpPr>
        <p:spPr>
          <a:xfrm>
            <a:off x="838200" y="365126"/>
            <a:ext cx="10515600" cy="834410"/>
          </a:xfrm>
        </p:spPr>
        <p:txBody>
          <a:bodyPr>
            <a:normAutofit/>
          </a:bodyPr>
          <a:lstStyle/>
          <a:p>
            <a:r>
              <a:rPr lang="en-US" sz="3600" dirty="0"/>
              <a:t>Multi-cycle operations</a:t>
            </a:r>
            <a:endParaRPr lang="en-IN" sz="3600" dirty="0"/>
          </a:p>
        </p:txBody>
      </p:sp>
      <p:pic>
        <p:nvPicPr>
          <p:cNvPr id="7" name="Picture 6">
            <a:extLst>
              <a:ext uri="{FF2B5EF4-FFF2-40B4-BE49-F238E27FC236}">
                <a16:creationId xmlns:a16="http://schemas.microsoft.com/office/drawing/2014/main" id="{094B4535-ACF3-9685-61D5-52FFF3F62415}"/>
              </a:ext>
            </a:extLst>
          </p:cNvPr>
          <p:cNvPicPr>
            <a:picLocks noChangeAspect="1"/>
          </p:cNvPicPr>
          <p:nvPr/>
        </p:nvPicPr>
        <p:blipFill>
          <a:blip r:embed="rId2"/>
          <a:stretch>
            <a:fillRect/>
          </a:stretch>
        </p:blipFill>
        <p:spPr>
          <a:xfrm>
            <a:off x="838199" y="1690688"/>
            <a:ext cx="10515599" cy="4802187"/>
          </a:xfrm>
          <a:prstGeom prst="rect">
            <a:avLst/>
          </a:prstGeom>
        </p:spPr>
      </p:pic>
      <p:sp>
        <p:nvSpPr>
          <p:cNvPr id="8" name="TextBox 7">
            <a:extLst>
              <a:ext uri="{FF2B5EF4-FFF2-40B4-BE49-F238E27FC236}">
                <a16:creationId xmlns:a16="http://schemas.microsoft.com/office/drawing/2014/main" id="{3052AF28-40D6-DA0D-0D0C-C83BE80F970F}"/>
              </a:ext>
            </a:extLst>
          </p:cNvPr>
          <p:cNvSpPr txBox="1"/>
          <p:nvPr/>
        </p:nvSpPr>
        <p:spPr>
          <a:xfrm>
            <a:off x="838199" y="1260446"/>
            <a:ext cx="10926389" cy="369332"/>
          </a:xfrm>
          <a:prstGeom prst="rect">
            <a:avLst/>
          </a:prstGeom>
          <a:noFill/>
        </p:spPr>
        <p:txBody>
          <a:bodyPr wrap="none" rtlCol="0">
            <a:spAutoFit/>
          </a:bodyPr>
          <a:lstStyle/>
          <a:p>
            <a:r>
              <a:rPr lang="en-US" b="1" dirty="0"/>
              <a:t>(I) </a:t>
            </a:r>
            <a:r>
              <a:rPr lang="en-US" dirty="0"/>
              <a:t>For a MIPS multi-cycle floating point pipeline the initiation interval of FP-</a:t>
            </a:r>
            <a:r>
              <a:rPr lang="en-US" dirty="0" err="1"/>
              <a:t>mul</a:t>
            </a:r>
            <a:r>
              <a:rPr lang="en-US" dirty="0"/>
              <a:t> is larger than that of FP-add: </a:t>
            </a:r>
            <a:r>
              <a:rPr lang="en-US" b="1" dirty="0"/>
              <a:t>FALSE</a:t>
            </a:r>
            <a:endParaRPr lang="en-IN" b="1" dirty="0"/>
          </a:p>
        </p:txBody>
      </p:sp>
    </p:spTree>
    <p:extLst>
      <p:ext uri="{BB962C8B-B14F-4D97-AF65-F5344CB8AC3E}">
        <p14:creationId xmlns:p14="http://schemas.microsoft.com/office/powerpoint/2010/main" val="2861478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5202-4BEC-EF28-BB7F-A5588A18DB4B}"/>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sp>
        <p:nvSpPr>
          <p:cNvPr id="5" name="TextBox 4">
            <a:extLst>
              <a:ext uri="{FF2B5EF4-FFF2-40B4-BE49-F238E27FC236}">
                <a16:creationId xmlns:a16="http://schemas.microsoft.com/office/drawing/2014/main" id="{7F1960D3-8DCF-5F9E-9BB9-0ABE93B21DEC}"/>
              </a:ext>
            </a:extLst>
          </p:cNvPr>
          <p:cNvSpPr txBox="1"/>
          <p:nvPr/>
        </p:nvSpPr>
        <p:spPr>
          <a:xfrm>
            <a:off x="838199" y="1260446"/>
            <a:ext cx="7290457" cy="369332"/>
          </a:xfrm>
          <a:prstGeom prst="rect">
            <a:avLst/>
          </a:prstGeom>
          <a:noFill/>
        </p:spPr>
        <p:txBody>
          <a:bodyPr wrap="none" rtlCol="0">
            <a:spAutoFit/>
          </a:bodyPr>
          <a:lstStyle/>
          <a:p>
            <a:r>
              <a:rPr lang="en-US" b="1" dirty="0"/>
              <a:t>(II) </a:t>
            </a:r>
            <a:r>
              <a:rPr lang="en-US" dirty="0"/>
              <a:t>WAW hazard cannot happen in a MIPS multi-cycle floating point pipeline</a:t>
            </a:r>
            <a:endParaRPr lang="en-IN" b="1" dirty="0"/>
          </a:p>
        </p:txBody>
      </p:sp>
    </p:spTree>
    <p:extLst>
      <p:ext uri="{BB962C8B-B14F-4D97-AF65-F5344CB8AC3E}">
        <p14:creationId xmlns:p14="http://schemas.microsoft.com/office/powerpoint/2010/main" val="1872573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F618-25B2-02B9-9079-EE0C11225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9572D-8B8B-C2B1-F282-FA0780B0BEF5}"/>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graphicFrame>
        <p:nvGraphicFramePr>
          <p:cNvPr id="4" name="Table 3">
            <a:extLst>
              <a:ext uri="{FF2B5EF4-FFF2-40B4-BE49-F238E27FC236}">
                <a16:creationId xmlns:a16="http://schemas.microsoft.com/office/drawing/2014/main" id="{489E08D2-209B-785F-320D-E81B0500A90F}"/>
              </a:ext>
            </a:extLst>
          </p:cNvPr>
          <p:cNvGraphicFramePr>
            <a:graphicFrameLocks noGrp="1"/>
          </p:cNvGraphicFramePr>
          <p:nvPr/>
        </p:nvGraphicFramePr>
        <p:xfrm>
          <a:off x="634182" y="1958691"/>
          <a:ext cx="10923636" cy="1995056"/>
        </p:xfrm>
        <a:graphic>
          <a:graphicData uri="http://schemas.openxmlformats.org/drawingml/2006/table">
            <a:tbl>
              <a:tblPr firstRow="1" bandRow="1">
                <a:tableStyleId>{5C22544A-7EE6-4342-B048-85BDC9FD1C3A}</a:tableStyleId>
              </a:tblPr>
              <a:tblGrid>
                <a:gridCol w="1248696">
                  <a:extLst>
                    <a:ext uri="{9D8B030D-6E8A-4147-A177-3AD203B41FA5}">
                      <a16:colId xmlns:a16="http://schemas.microsoft.com/office/drawing/2014/main" val="1347228811"/>
                    </a:ext>
                  </a:extLst>
                </a:gridCol>
                <a:gridCol w="571910">
                  <a:extLst>
                    <a:ext uri="{9D8B030D-6E8A-4147-A177-3AD203B41FA5}">
                      <a16:colId xmlns:a16="http://schemas.microsoft.com/office/drawing/2014/main" val="521863547"/>
                    </a:ext>
                  </a:extLst>
                </a:gridCol>
                <a:gridCol w="910303">
                  <a:extLst>
                    <a:ext uri="{9D8B030D-6E8A-4147-A177-3AD203B41FA5}">
                      <a16:colId xmlns:a16="http://schemas.microsoft.com/office/drawing/2014/main" val="3892012618"/>
                    </a:ext>
                  </a:extLst>
                </a:gridCol>
                <a:gridCol w="910303">
                  <a:extLst>
                    <a:ext uri="{9D8B030D-6E8A-4147-A177-3AD203B41FA5}">
                      <a16:colId xmlns:a16="http://schemas.microsoft.com/office/drawing/2014/main" val="1020755143"/>
                    </a:ext>
                  </a:extLst>
                </a:gridCol>
                <a:gridCol w="910303">
                  <a:extLst>
                    <a:ext uri="{9D8B030D-6E8A-4147-A177-3AD203B41FA5}">
                      <a16:colId xmlns:a16="http://schemas.microsoft.com/office/drawing/2014/main" val="3918174887"/>
                    </a:ext>
                  </a:extLst>
                </a:gridCol>
                <a:gridCol w="910303">
                  <a:extLst>
                    <a:ext uri="{9D8B030D-6E8A-4147-A177-3AD203B41FA5}">
                      <a16:colId xmlns:a16="http://schemas.microsoft.com/office/drawing/2014/main" val="3437044203"/>
                    </a:ext>
                  </a:extLst>
                </a:gridCol>
                <a:gridCol w="910303">
                  <a:extLst>
                    <a:ext uri="{9D8B030D-6E8A-4147-A177-3AD203B41FA5}">
                      <a16:colId xmlns:a16="http://schemas.microsoft.com/office/drawing/2014/main" val="3401221749"/>
                    </a:ext>
                  </a:extLst>
                </a:gridCol>
                <a:gridCol w="910303">
                  <a:extLst>
                    <a:ext uri="{9D8B030D-6E8A-4147-A177-3AD203B41FA5}">
                      <a16:colId xmlns:a16="http://schemas.microsoft.com/office/drawing/2014/main" val="232728217"/>
                    </a:ext>
                  </a:extLst>
                </a:gridCol>
                <a:gridCol w="910303">
                  <a:extLst>
                    <a:ext uri="{9D8B030D-6E8A-4147-A177-3AD203B41FA5}">
                      <a16:colId xmlns:a16="http://schemas.microsoft.com/office/drawing/2014/main" val="3181316589"/>
                    </a:ext>
                  </a:extLst>
                </a:gridCol>
                <a:gridCol w="910303">
                  <a:extLst>
                    <a:ext uri="{9D8B030D-6E8A-4147-A177-3AD203B41FA5}">
                      <a16:colId xmlns:a16="http://schemas.microsoft.com/office/drawing/2014/main" val="661111611"/>
                    </a:ext>
                  </a:extLst>
                </a:gridCol>
                <a:gridCol w="910303">
                  <a:extLst>
                    <a:ext uri="{9D8B030D-6E8A-4147-A177-3AD203B41FA5}">
                      <a16:colId xmlns:a16="http://schemas.microsoft.com/office/drawing/2014/main" val="2753689624"/>
                    </a:ext>
                  </a:extLst>
                </a:gridCol>
                <a:gridCol w="910303">
                  <a:extLst>
                    <a:ext uri="{9D8B030D-6E8A-4147-A177-3AD203B41FA5}">
                      <a16:colId xmlns:a16="http://schemas.microsoft.com/office/drawing/2014/main" val="2432931341"/>
                    </a:ext>
                  </a:extLst>
                </a:gridCol>
              </a:tblGrid>
              <a:tr h="609600">
                <a:tc>
                  <a:txBody>
                    <a:bodyPr/>
                    <a:lstStyle/>
                    <a:p>
                      <a:r>
                        <a:rPr lang="en-US" sz="1700" dirty="0"/>
                        <a:t>Instruction</a:t>
                      </a:r>
                      <a:endParaRPr lang="en-IN" sz="1700" dirty="0"/>
                    </a:p>
                  </a:txBody>
                  <a:tcPr marT="41564" marB="41564"/>
                </a:tc>
                <a:tc>
                  <a:txBody>
                    <a:bodyPr/>
                    <a:lstStyle/>
                    <a:p>
                      <a:r>
                        <a:rPr lang="en-US" sz="1700" dirty="0"/>
                        <a:t>1</a:t>
                      </a:r>
                      <a:endParaRPr lang="en-IN" sz="1700" dirty="0"/>
                    </a:p>
                  </a:txBody>
                  <a:tcPr marT="41564" marB="41564"/>
                </a:tc>
                <a:tc>
                  <a:txBody>
                    <a:bodyPr/>
                    <a:lstStyle/>
                    <a:p>
                      <a:r>
                        <a:rPr lang="en-US" sz="1700" dirty="0"/>
                        <a:t>2</a:t>
                      </a:r>
                      <a:endParaRPr lang="en-IN" sz="1700" dirty="0"/>
                    </a:p>
                  </a:txBody>
                  <a:tcPr marT="41564" marB="41564"/>
                </a:tc>
                <a:tc>
                  <a:txBody>
                    <a:bodyPr/>
                    <a:lstStyle/>
                    <a:p>
                      <a:r>
                        <a:rPr lang="en-US" sz="1700" dirty="0"/>
                        <a:t>3</a:t>
                      </a:r>
                      <a:endParaRPr lang="en-IN" sz="1700" dirty="0"/>
                    </a:p>
                  </a:txBody>
                  <a:tcPr marT="41564" marB="41564"/>
                </a:tc>
                <a:tc>
                  <a:txBody>
                    <a:bodyPr/>
                    <a:lstStyle/>
                    <a:p>
                      <a:r>
                        <a:rPr lang="en-US" sz="1700" dirty="0"/>
                        <a:t>4</a:t>
                      </a:r>
                      <a:endParaRPr lang="en-IN" sz="1700" dirty="0"/>
                    </a:p>
                  </a:txBody>
                  <a:tcPr marT="41564" marB="41564"/>
                </a:tc>
                <a:tc>
                  <a:txBody>
                    <a:bodyPr/>
                    <a:lstStyle/>
                    <a:p>
                      <a:r>
                        <a:rPr lang="en-US" sz="1700" dirty="0"/>
                        <a:t>6</a:t>
                      </a:r>
                      <a:endParaRPr lang="en-IN" sz="1700" dirty="0"/>
                    </a:p>
                  </a:txBody>
                  <a:tcPr marT="41564" marB="41564"/>
                </a:tc>
                <a:tc>
                  <a:txBody>
                    <a:bodyPr/>
                    <a:lstStyle/>
                    <a:p>
                      <a:r>
                        <a:rPr lang="en-US" sz="1700" dirty="0"/>
                        <a:t>7</a:t>
                      </a:r>
                      <a:endParaRPr lang="en-IN" sz="1700" dirty="0"/>
                    </a:p>
                  </a:txBody>
                  <a:tcPr marT="41564" marB="41564"/>
                </a:tc>
                <a:tc>
                  <a:txBody>
                    <a:bodyPr/>
                    <a:lstStyle/>
                    <a:p>
                      <a:r>
                        <a:rPr lang="en-US" sz="1700" dirty="0"/>
                        <a:t>8</a:t>
                      </a:r>
                      <a:endParaRPr lang="en-IN" sz="1700" dirty="0"/>
                    </a:p>
                  </a:txBody>
                  <a:tcPr marT="41564" marB="41564"/>
                </a:tc>
                <a:tc>
                  <a:txBody>
                    <a:bodyPr/>
                    <a:lstStyle/>
                    <a:p>
                      <a:r>
                        <a:rPr lang="en-US" sz="1700" dirty="0"/>
                        <a:t>9</a:t>
                      </a:r>
                      <a:endParaRPr lang="en-IN" sz="1700" dirty="0"/>
                    </a:p>
                  </a:txBody>
                  <a:tcPr marT="41564" marB="41564"/>
                </a:tc>
                <a:tc>
                  <a:txBody>
                    <a:bodyPr/>
                    <a:lstStyle/>
                    <a:p>
                      <a:r>
                        <a:rPr lang="en-US" sz="1700" dirty="0"/>
                        <a:t>10</a:t>
                      </a:r>
                      <a:endParaRPr lang="en-IN" sz="1700" dirty="0"/>
                    </a:p>
                  </a:txBody>
                  <a:tcPr marT="41564" marB="41564"/>
                </a:tc>
                <a:tc>
                  <a:txBody>
                    <a:bodyPr/>
                    <a:lstStyle/>
                    <a:p>
                      <a:r>
                        <a:rPr lang="en-US" sz="1700" dirty="0"/>
                        <a:t>11</a:t>
                      </a:r>
                      <a:endParaRPr lang="en-IN" sz="1700" dirty="0"/>
                    </a:p>
                  </a:txBody>
                  <a:tcPr marT="41564" marB="41564"/>
                </a:tc>
                <a:tc>
                  <a:txBody>
                    <a:bodyPr/>
                    <a:lstStyle/>
                    <a:p>
                      <a:r>
                        <a:rPr lang="en-US" sz="1700" dirty="0"/>
                        <a:t>12</a:t>
                      </a:r>
                      <a:endParaRPr lang="en-IN" sz="1700" dirty="0"/>
                    </a:p>
                  </a:txBody>
                  <a:tcPr marT="41564" marB="41564"/>
                </a:tc>
                <a:extLst>
                  <a:ext uri="{0D108BD9-81ED-4DB2-BD59-A6C34878D82A}">
                    <a16:rowId xmlns:a16="http://schemas.microsoft.com/office/drawing/2014/main" val="3709089441"/>
                  </a:ext>
                </a:extLst>
              </a:tr>
              <a:tr h="346364">
                <a:tc>
                  <a:txBody>
                    <a:bodyPr/>
                    <a:lstStyle/>
                    <a:p>
                      <a:r>
                        <a:rPr lang="en-US" sz="1700" dirty="0"/>
                        <a:t>MUL.D</a:t>
                      </a:r>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tc>
                  <a:txBody>
                    <a:bodyPr/>
                    <a:lstStyle/>
                    <a:p>
                      <a:r>
                        <a:rPr lang="en-US" sz="1700" dirty="0"/>
                        <a:t>M3</a:t>
                      </a:r>
                      <a:endParaRPr lang="en-IN" sz="1700" dirty="0"/>
                    </a:p>
                  </a:txBody>
                  <a:tcPr marT="41564" marB="41564"/>
                </a:tc>
                <a:tc>
                  <a:txBody>
                    <a:bodyPr/>
                    <a:lstStyle/>
                    <a:p>
                      <a:r>
                        <a:rPr lang="en-US" sz="1700" dirty="0"/>
                        <a:t>M4</a:t>
                      </a:r>
                      <a:endParaRPr lang="en-IN" sz="1700" dirty="0"/>
                    </a:p>
                  </a:txBody>
                  <a:tcPr marT="41564" marB="41564"/>
                </a:tc>
                <a:tc>
                  <a:txBody>
                    <a:bodyPr/>
                    <a:lstStyle/>
                    <a:p>
                      <a:r>
                        <a:rPr lang="en-US" sz="1700" dirty="0"/>
                        <a:t>M5</a:t>
                      </a:r>
                      <a:endParaRPr lang="en-IN" sz="1700" dirty="0"/>
                    </a:p>
                  </a:txBody>
                  <a:tcPr marT="41564" marB="41564"/>
                </a:tc>
                <a:tc>
                  <a:txBody>
                    <a:bodyPr/>
                    <a:lstStyle/>
                    <a:p>
                      <a:r>
                        <a:rPr lang="en-US" sz="1700" dirty="0"/>
                        <a:t>M6</a:t>
                      </a:r>
                      <a:endParaRPr lang="en-IN" sz="1700" dirty="0"/>
                    </a:p>
                  </a:txBody>
                  <a:tcPr marT="41564" marB="41564"/>
                </a:tc>
                <a:tc>
                  <a:txBody>
                    <a:bodyPr/>
                    <a:lstStyle/>
                    <a:p>
                      <a:r>
                        <a:rPr lang="en-US" sz="1700" dirty="0"/>
                        <a:t>M7</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extLst>
                  <a:ext uri="{0D108BD9-81ED-4DB2-BD59-A6C34878D82A}">
                    <a16:rowId xmlns:a16="http://schemas.microsoft.com/office/drawing/2014/main" val="3250050451"/>
                  </a:ext>
                </a:extLst>
              </a:tr>
              <a:tr h="346364">
                <a:tc>
                  <a:txBody>
                    <a:bodyPr/>
                    <a:lstStyle/>
                    <a:p>
                      <a:r>
                        <a:rPr lang="en-US" sz="1700" dirty="0"/>
                        <a:t>ADD.D</a:t>
                      </a:r>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A1</a:t>
                      </a:r>
                      <a:endParaRPr lang="en-IN" sz="1700" dirty="0"/>
                    </a:p>
                  </a:txBody>
                  <a:tcPr marT="41564" marB="41564"/>
                </a:tc>
                <a:tc>
                  <a:txBody>
                    <a:bodyPr/>
                    <a:lstStyle/>
                    <a:p>
                      <a:r>
                        <a:rPr lang="en-US" sz="1700" dirty="0"/>
                        <a:t>A2</a:t>
                      </a:r>
                      <a:endParaRPr lang="en-IN" sz="1700" dirty="0"/>
                    </a:p>
                  </a:txBody>
                  <a:tcPr marT="41564" marB="41564"/>
                </a:tc>
                <a:tc>
                  <a:txBody>
                    <a:bodyPr/>
                    <a:lstStyle/>
                    <a:p>
                      <a:r>
                        <a:rPr lang="en-US" sz="1700" dirty="0"/>
                        <a:t>A3</a:t>
                      </a:r>
                      <a:endParaRPr lang="en-IN" sz="1700" dirty="0"/>
                    </a:p>
                  </a:txBody>
                  <a:tcPr marT="41564" marB="41564"/>
                </a:tc>
                <a:tc>
                  <a:txBody>
                    <a:bodyPr/>
                    <a:lstStyle/>
                    <a:p>
                      <a:r>
                        <a:rPr lang="en-US" sz="1700" dirty="0"/>
                        <a:t>A4</a:t>
                      </a:r>
                      <a:endParaRPr lang="en-IN" sz="1700" dirty="0"/>
                    </a:p>
                  </a:txBody>
                  <a:tcPr marT="41564" marB="41564"/>
                </a:tc>
                <a:tc>
                  <a:txBody>
                    <a:bodyPr/>
                    <a:lstStyle/>
                    <a:p>
                      <a:r>
                        <a:rPr lang="en-US" sz="1700" b="1" dirty="0"/>
                        <a:t>MEM</a:t>
                      </a:r>
                      <a:endParaRPr lang="en-IN" sz="1700" b="1" dirty="0"/>
                    </a:p>
                  </a:txBody>
                  <a:tcPr marT="41564" marB="41564"/>
                </a:tc>
                <a:tc>
                  <a:txBody>
                    <a:bodyPr/>
                    <a:lstStyle/>
                    <a:p>
                      <a:r>
                        <a:rPr lang="en-US" sz="1700" dirty="0"/>
                        <a:t>WB</a:t>
                      </a:r>
                      <a:endParaRPr lang="en-IN" sz="1700" dirty="0"/>
                    </a:p>
                  </a:txBody>
                  <a:tcPr marT="41564" marB="41564"/>
                </a:tc>
                <a:tc>
                  <a:txBody>
                    <a:bodyPr/>
                    <a:lstStyle/>
                    <a:p>
                      <a:endParaRPr lang="en-IN" sz="1700"/>
                    </a:p>
                  </a:txBody>
                  <a:tcPr marT="41564" marB="41564"/>
                </a:tc>
                <a:tc>
                  <a:txBody>
                    <a:bodyPr/>
                    <a:lstStyle/>
                    <a:p>
                      <a:endParaRPr lang="en-IN" sz="1700" dirty="0"/>
                    </a:p>
                  </a:txBody>
                  <a:tcPr marT="41564" marB="41564"/>
                </a:tc>
                <a:extLst>
                  <a:ext uri="{0D108BD9-81ED-4DB2-BD59-A6C34878D82A}">
                    <a16:rowId xmlns:a16="http://schemas.microsoft.com/office/drawing/2014/main" val="2581064975"/>
                  </a:ext>
                </a:extLst>
              </a:tr>
              <a:tr h="346364">
                <a:tc>
                  <a:txBody>
                    <a:bodyPr/>
                    <a:lstStyle/>
                    <a:p>
                      <a:r>
                        <a:rPr lang="en-US" sz="1700" dirty="0"/>
                        <a:t>L.D</a:t>
                      </a:r>
                      <a:endParaRPr lang="en-IN" sz="1700" dirty="0"/>
                    </a:p>
                  </a:txBody>
                  <a:tcPr marT="41564" marB="41564"/>
                </a:tc>
                <a:tc>
                  <a:txBody>
                    <a:bodyPr/>
                    <a:lstStyle/>
                    <a:p>
                      <a:endParaRPr lang="en-IN" sz="1700"/>
                    </a:p>
                  </a:txBody>
                  <a:tcPr marT="41564" marB="41564"/>
                </a:tc>
                <a:tc>
                  <a:txBody>
                    <a:bodyPr/>
                    <a:lstStyle/>
                    <a:p>
                      <a:endParaRPr lang="en-IN" sz="170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EX</a:t>
                      </a:r>
                      <a:endParaRPr lang="en-IN" sz="1700" dirty="0"/>
                    </a:p>
                  </a:txBody>
                  <a:tcPr marT="41564" marB="41564"/>
                </a:tc>
                <a:tc>
                  <a:txBody>
                    <a:bodyPr/>
                    <a:lstStyle/>
                    <a:p>
                      <a:r>
                        <a:rPr lang="en-US" sz="1700" b="1" dirty="0"/>
                        <a:t>MEM</a:t>
                      </a:r>
                      <a:endParaRPr lang="en-IN" sz="1700" b="1" dirty="0"/>
                    </a:p>
                  </a:txBody>
                  <a:tcPr marT="41564" marB="41564"/>
                </a:tc>
                <a:tc>
                  <a:txBody>
                    <a:bodyPr/>
                    <a:lstStyle/>
                    <a:p>
                      <a:r>
                        <a:rPr lang="en-US" sz="1700" dirty="0"/>
                        <a:t>WB</a:t>
                      </a:r>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extLst>
                  <a:ext uri="{0D108BD9-81ED-4DB2-BD59-A6C34878D82A}">
                    <a16:rowId xmlns:a16="http://schemas.microsoft.com/office/drawing/2014/main" val="987702703"/>
                  </a:ext>
                </a:extLst>
              </a:tr>
              <a:tr h="346364">
                <a:tc>
                  <a:txBody>
                    <a:bodyPr/>
                    <a:lstStyle/>
                    <a:p>
                      <a:r>
                        <a:rPr lang="en-US" sz="1700" dirty="0"/>
                        <a:t>S.D</a:t>
                      </a:r>
                      <a:endParaRPr lang="en-IN" sz="1700" dirty="0"/>
                    </a:p>
                  </a:txBody>
                  <a:tcPr marT="41564" marB="41564"/>
                </a:tc>
                <a:tc>
                  <a:txBody>
                    <a:bodyPr/>
                    <a:lstStyle/>
                    <a:p>
                      <a:endParaRPr lang="en-IN" sz="170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EX</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extLst>
                  <a:ext uri="{0D108BD9-81ED-4DB2-BD59-A6C34878D82A}">
                    <a16:rowId xmlns:a16="http://schemas.microsoft.com/office/drawing/2014/main" val="3699792032"/>
                  </a:ext>
                </a:extLst>
              </a:tr>
            </a:tbl>
          </a:graphicData>
        </a:graphic>
      </p:graphicFrame>
      <p:sp>
        <p:nvSpPr>
          <p:cNvPr id="5" name="TextBox 4">
            <a:extLst>
              <a:ext uri="{FF2B5EF4-FFF2-40B4-BE49-F238E27FC236}">
                <a16:creationId xmlns:a16="http://schemas.microsoft.com/office/drawing/2014/main" id="{DA0892DF-3ED7-2FC2-32B9-1AE0A0973195}"/>
              </a:ext>
            </a:extLst>
          </p:cNvPr>
          <p:cNvSpPr txBox="1"/>
          <p:nvPr/>
        </p:nvSpPr>
        <p:spPr>
          <a:xfrm>
            <a:off x="838199" y="1260446"/>
            <a:ext cx="7290457" cy="369332"/>
          </a:xfrm>
          <a:prstGeom prst="rect">
            <a:avLst/>
          </a:prstGeom>
          <a:noFill/>
        </p:spPr>
        <p:txBody>
          <a:bodyPr wrap="none" rtlCol="0">
            <a:spAutoFit/>
          </a:bodyPr>
          <a:lstStyle/>
          <a:p>
            <a:r>
              <a:rPr lang="en-US" b="1" dirty="0"/>
              <a:t>(II) </a:t>
            </a:r>
            <a:r>
              <a:rPr lang="en-US" dirty="0"/>
              <a:t>WAW hazard cannot happen in a MIPS multi-cycle floating point pipeline</a:t>
            </a:r>
            <a:endParaRPr lang="en-IN" b="1" dirty="0"/>
          </a:p>
        </p:txBody>
      </p:sp>
    </p:spTree>
    <p:extLst>
      <p:ext uri="{BB962C8B-B14F-4D97-AF65-F5344CB8AC3E}">
        <p14:creationId xmlns:p14="http://schemas.microsoft.com/office/powerpoint/2010/main" val="363394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5189-94DE-45F7-B62C-05FFC2905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02808-1A9F-A7D4-57B7-248A3AAD1BAB}"/>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graphicFrame>
        <p:nvGraphicFramePr>
          <p:cNvPr id="4" name="Table 3">
            <a:extLst>
              <a:ext uri="{FF2B5EF4-FFF2-40B4-BE49-F238E27FC236}">
                <a16:creationId xmlns:a16="http://schemas.microsoft.com/office/drawing/2014/main" id="{77258B08-D5BD-AC9D-AB84-EB9A246122EF}"/>
              </a:ext>
            </a:extLst>
          </p:cNvPr>
          <p:cNvGraphicFramePr>
            <a:graphicFrameLocks noGrp="1"/>
          </p:cNvGraphicFramePr>
          <p:nvPr/>
        </p:nvGraphicFramePr>
        <p:xfrm>
          <a:off x="634182" y="1958691"/>
          <a:ext cx="10923636" cy="1995056"/>
        </p:xfrm>
        <a:graphic>
          <a:graphicData uri="http://schemas.openxmlformats.org/drawingml/2006/table">
            <a:tbl>
              <a:tblPr firstRow="1" bandRow="1">
                <a:tableStyleId>{5C22544A-7EE6-4342-B048-85BDC9FD1C3A}</a:tableStyleId>
              </a:tblPr>
              <a:tblGrid>
                <a:gridCol w="1248696">
                  <a:extLst>
                    <a:ext uri="{9D8B030D-6E8A-4147-A177-3AD203B41FA5}">
                      <a16:colId xmlns:a16="http://schemas.microsoft.com/office/drawing/2014/main" val="1347228811"/>
                    </a:ext>
                  </a:extLst>
                </a:gridCol>
                <a:gridCol w="571910">
                  <a:extLst>
                    <a:ext uri="{9D8B030D-6E8A-4147-A177-3AD203B41FA5}">
                      <a16:colId xmlns:a16="http://schemas.microsoft.com/office/drawing/2014/main" val="521863547"/>
                    </a:ext>
                  </a:extLst>
                </a:gridCol>
                <a:gridCol w="910303">
                  <a:extLst>
                    <a:ext uri="{9D8B030D-6E8A-4147-A177-3AD203B41FA5}">
                      <a16:colId xmlns:a16="http://schemas.microsoft.com/office/drawing/2014/main" val="3892012618"/>
                    </a:ext>
                  </a:extLst>
                </a:gridCol>
                <a:gridCol w="910303">
                  <a:extLst>
                    <a:ext uri="{9D8B030D-6E8A-4147-A177-3AD203B41FA5}">
                      <a16:colId xmlns:a16="http://schemas.microsoft.com/office/drawing/2014/main" val="1020755143"/>
                    </a:ext>
                  </a:extLst>
                </a:gridCol>
                <a:gridCol w="910303">
                  <a:extLst>
                    <a:ext uri="{9D8B030D-6E8A-4147-A177-3AD203B41FA5}">
                      <a16:colId xmlns:a16="http://schemas.microsoft.com/office/drawing/2014/main" val="3918174887"/>
                    </a:ext>
                  </a:extLst>
                </a:gridCol>
                <a:gridCol w="910303">
                  <a:extLst>
                    <a:ext uri="{9D8B030D-6E8A-4147-A177-3AD203B41FA5}">
                      <a16:colId xmlns:a16="http://schemas.microsoft.com/office/drawing/2014/main" val="3437044203"/>
                    </a:ext>
                  </a:extLst>
                </a:gridCol>
                <a:gridCol w="910303">
                  <a:extLst>
                    <a:ext uri="{9D8B030D-6E8A-4147-A177-3AD203B41FA5}">
                      <a16:colId xmlns:a16="http://schemas.microsoft.com/office/drawing/2014/main" val="3401221749"/>
                    </a:ext>
                  </a:extLst>
                </a:gridCol>
                <a:gridCol w="910303">
                  <a:extLst>
                    <a:ext uri="{9D8B030D-6E8A-4147-A177-3AD203B41FA5}">
                      <a16:colId xmlns:a16="http://schemas.microsoft.com/office/drawing/2014/main" val="232728217"/>
                    </a:ext>
                  </a:extLst>
                </a:gridCol>
                <a:gridCol w="910303">
                  <a:extLst>
                    <a:ext uri="{9D8B030D-6E8A-4147-A177-3AD203B41FA5}">
                      <a16:colId xmlns:a16="http://schemas.microsoft.com/office/drawing/2014/main" val="3181316589"/>
                    </a:ext>
                  </a:extLst>
                </a:gridCol>
                <a:gridCol w="910303">
                  <a:extLst>
                    <a:ext uri="{9D8B030D-6E8A-4147-A177-3AD203B41FA5}">
                      <a16:colId xmlns:a16="http://schemas.microsoft.com/office/drawing/2014/main" val="661111611"/>
                    </a:ext>
                  </a:extLst>
                </a:gridCol>
                <a:gridCol w="910303">
                  <a:extLst>
                    <a:ext uri="{9D8B030D-6E8A-4147-A177-3AD203B41FA5}">
                      <a16:colId xmlns:a16="http://schemas.microsoft.com/office/drawing/2014/main" val="2753689624"/>
                    </a:ext>
                  </a:extLst>
                </a:gridCol>
                <a:gridCol w="910303">
                  <a:extLst>
                    <a:ext uri="{9D8B030D-6E8A-4147-A177-3AD203B41FA5}">
                      <a16:colId xmlns:a16="http://schemas.microsoft.com/office/drawing/2014/main" val="2432931341"/>
                    </a:ext>
                  </a:extLst>
                </a:gridCol>
              </a:tblGrid>
              <a:tr h="609600">
                <a:tc>
                  <a:txBody>
                    <a:bodyPr/>
                    <a:lstStyle/>
                    <a:p>
                      <a:r>
                        <a:rPr lang="en-US" sz="1700" dirty="0"/>
                        <a:t>Instruction</a:t>
                      </a:r>
                      <a:endParaRPr lang="en-IN" sz="1700" dirty="0"/>
                    </a:p>
                  </a:txBody>
                  <a:tcPr marT="41564" marB="41564"/>
                </a:tc>
                <a:tc>
                  <a:txBody>
                    <a:bodyPr/>
                    <a:lstStyle/>
                    <a:p>
                      <a:r>
                        <a:rPr lang="en-US" sz="1700" dirty="0"/>
                        <a:t>1</a:t>
                      </a:r>
                      <a:endParaRPr lang="en-IN" sz="1700" dirty="0"/>
                    </a:p>
                  </a:txBody>
                  <a:tcPr marT="41564" marB="41564"/>
                </a:tc>
                <a:tc>
                  <a:txBody>
                    <a:bodyPr/>
                    <a:lstStyle/>
                    <a:p>
                      <a:r>
                        <a:rPr lang="en-US" sz="1700" dirty="0"/>
                        <a:t>2</a:t>
                      </a:r>
                      <a:endParaRPr lang="en-IN" sz="1700" dirty="0"/>
                    </a:p>
                  </a:txBody>
                  <a:tcPr marT="41564" marB="41564"/>
                </a:tc>
                <a:tc>
                  <a:txBody>
                    <a:bodyPr/>
                    <a:lstStyle/>
                    <a:p>
                      <a:r>
                        <a:rPr lang="en-US" sz="1700" dirty="0"/>
                        <a:t>3</a:t>
                      </a:r>
                      <a:endParaRPr lang="en-IN" sz="1700" dirty="0"/>
                    </a:p>
                  </a:txBody>
                  <a:tcPr marT="41564" marB="41564"/>
                </a:tc>
                <a:tc>
                  <a:txBody>
                    <a:bodyPr/>
                    <a:lstStyle/>
                    <a:p>
                      <a:r>
                        <a:rPr lang="en-US" sz="1700" dirty="0"/>
                        <a:t>4</a:t>
                      </a:r>
                      <a:endParaRPr lang="en-IN" sz="1700" dirty="0"/>
                    </a:p>
                  </a:txBody>
                  <a:tcPr marT="41564" marB="41564"/>
                </a:tc>
                <a:tc>
                  <a:txBody>
                    <a:bodyPr/>
                    <a:lstStyle/>
                    <a:p>
                      <a:r>
                        <a:rPr lang="en-US" sz="1700" dirty="0"/>
                        <a:t>6</a:t>
                      </a:r>
                      <a:endParaRPr lang="en-IN" sz="1700" dirty="0"/>
                    </a:p>
                  </a:txBody>
                  <a:tcPr marT="41564" marB="41564"/>
                </a:tc>
                <a:tc>
                  <a:txBody>
                    <a:bodyPr/>
                    <a:lstStyle/>
                    <a:p>
                      <a:r>
                        <a:rPr lang="en-US" sz="1700" dirty="0"/>
                        <a:t>7</a:t>
                      </a:r>
                      <a:endParaRPr lang="en-IN" sz="1700" dirty="0"/>
                    </a:p>
                  </a:txBody>
                  <a:tcPr marT="41564" marB="41564"/>
                </a:tc>
                <a:tc>
                  <a:txBody>
                    <a:bodyPr/>
                    <a:lstStyle/>
                    <a:p>
                      <a:r>
                        <a:rPr lang="en-US" sz="1700" dirty="0"/>
                        <a:t>8</a:t>
                      </a:r>
                      <a:endParaRPr lang="en-IN" sz="1700" dirty="0"/>
                    </a:p>
                  </a:txBody>
                  <a:tcPr marT="41564" marB="41564"/>
                </a:tc>
                <a:tc>
                  <a:txBody>
                    <a:bodyPr/>
                    <a:lstStyle/>
                    <a:p>
                      <a:r>
                        <a:rPr lang="en-US" sz="1700" dirty="0"/>
                        <a:t>9</a:t>
                      </a:r>
                      <a:endParaRPr lang="en-IN" sz="1700" dirty="0"/>
                    </a:p>
                  </a:txBody>
                  <a:tcPr marT="41564" marB="41564"/>
                </a:tc>
                <a:tc>
                  <a:txBody>
                    <a:bodyPr/>
                    <a:lstStyle/>
                    <a:p>
                      <a:r>
                        <a:rPr lang="en-US" sz="1700" dirty="0"/>
                        <a:t>10</a:t>
                      </a:r>
                      <a:endParaRPr lang="en-IN" sz="1700" dirty="0"/>
                    </a:p>
                  </a:txBody>
                  <a:tcPr marT="41564" marB="41564"/>
                </a:tc>
                <a:tc>
                  <a:txBody>
                    <a:bodyPr/>
                    <a:lstStyle/>
                    <a:p>
                      <a:r>
                        <a:rPr lang="en-US" sz="1700" dirty="0"/>
                        <a:t>11</a:t>
                      </a:r>
                      <a:endParaRPr lang="en-IN" sz="1700" dirty="0"/>
                    </a:p>
                  </a:txBody>
                  <a:tcPr marT="41564" marB="41564"/>
                </a:tc>
                <a:tc>
                  <a:txBody>
                    <a:bodyPr/>
                    <a:lstStyle/>
                    <a:p>
                      <a:r>
                        <a:rPr lang="en-US" sz="1700" dirty="0"/>
                        <a:t>12</a:t>
                      </a:r>
                      <a:endParaRPr lang="en-IN" sz="1700" dirty="0"/>
                    </a:p>
                  </a:txBody>
                  <a:tcPr marT="41564" marB="41564"/>
                </a:tc>
                <a:extLst>
                  <a:ext uri="{0D108BD9-81ED-4DB2-BD59-A6C34878D82A}">
                    <a16:rowId xmlns:a16="http://schemas.microsoft.com/office/drawing/2014/main" val="3709089441"/>
                  </a:ext>
                </a:extLst>
              </a:tr>
              <a:tr h="346364">
                <a:tc>
                  <a:txBody>
                    <a:bodyPr/>
                    <a:lstStyle/>
                    <a:p>
                      <a:r>
                        <a:rPr lang="en-US" sz="1700" dirty="0"/>
                        <a:t>MUL.D</a:t>
                      </a:r>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tc>
                  <a:txBody>
                    <a:bodyPr/>
                    <a:lstStyle/>
                    <a:p>
                      <a:r>
                        <a:rPr lang="en-US" sz="1700" dirty="0"/>
                        <a:t>M3</a:t>
                      </a:r>
                      <a:endParaRPr lang="en-IN" sz="1700" dirty="0"/>
                    </a:p>
                  </a:txBody>
                  <a:tcPr marT="41564" marB="41564"/>
                </a:tc>
                <a:tc>
                  <a:txBody>
                    <a:bodyPr/>
                    <a:lstStyle/>
                    <a:p>
                      <a:r>
                        <a:rPr lang="en-US" sz="1700" dirty="0"/>
                        <a:t>M4</a:t>
                      </a:r>
                      <a:endParaRPr lang="en-IN" sz="1700" dirty="0"/>
                    </a:p>
                  </a:txBody>
                  <a:tcPr marT="41564" marB="41564"/>
                </a:tc>
                <a:tc>
                  <a:txBody>
                    <a:bodyPr/>
                    <a:lstStyle/>
                    <a:p>
                      <a:r>
                        <a:rPr lang="en-US" sz="1700" dirty="0"/>
                        <a:t>M5</a:t>
                      </a:r>
                      <a:endParaRPr lang="en-IN" sz="1700" dirty="0"/>
                    </a:p>
                  </a:txBody>
                  <a:tcPr marT="41564" marB="41564"/>
                </a:tc>
                <a:tc>
                  <a:txBody>
                    <a:bodyPr/>
                    <a:lstStyle/>
                    <a:p>
                      <a:r>
                        <a:rPr lang="en-US" sz="1700" dirty="0"/>
                        <a:t>M6</a:t>
                      </a:r>
                      <a:endParaRPr lang="en-IN" sz="1700" dirty="0"/>
                    </a:p>
                  </a:txBody>
                  <a:tcPr marT="41564" marB="41564"/>
                </a:tc>
                <a:tc>
                  <a:txBody>
                    <a:bodyPr/>
                    <a:lstStyle/>
                    <a:p>
                      <a:r>
                        <a:rPr lang="en-US" sz="1700" dirty="0"/>
                        <a:t>M7</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extLst>
                  <a:ext uri="{0D108BD9-81ED-4DB2-BD59-A6C34878D82A}">
                    <a16:rowId xmlns:a16="http://schemas.microsoft.com/office/drawing/2014/main" val="3250050451"/>
                  </a:ext>
                </a:extLst>
              </a:tr>
              <a:tr h="346364">
                <a:tc>
                  <a:txBody>
                    <a:bodyPr/>
                    <a:lstStyle/>
                    <a:p>
                      <a:r>
                        <a:rPr lang="en-US" sz="1700" dirty="0"/>
                        <a:t>ADD.D</a:t>
                      </a:r>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A1</a:t>
                      </a:r>
                      <a:endParaRPr lang="en-IN" sz="1700" dirty="0"/>
                    </a:p>
                  </a:txBody>
                  <a:tcPr marT="41564" marB="41564"/>
                </a:tc>
                <a:tc>
                  <a:txBody>
                    <a:bodyPr/>
                    <a:lstStyle/>
                    <a:p>
                      <a:r>
                        <a:rPr lang="en-US" sz="1700" dirty="0"/>
                        <a:t>A2</a:t>
                      </a:r>
                      <a:endParaRPr lang="en-IN" sz="1700" dirty="0"/>
                    </a:p>
                  </a:txBody>
                  <a:tcPr marT="41564" marB="41564"/>
                </a:tc>
                <a:tc>
                  <a:txBody>
                    <a:bodyPr/>
                    <a:lstStyle/>
                    <a:p>
                      <a:r>
                        <a:rPr lang="en-US" sz="1700" dirty="0"/>
                        <a:t>A3</a:t>
                      </a:r>
                      <a:endParaRPr lang="en-IN" sz="1700" dirty="0"/>
                    </a:p>
                  </a:txBody>
                  <a:tcPr marT="41564" marB="41564"/>
                </a:tc>
                <a:tc>
                  <a:txBody>
                    <a:bodyPr/>
                    <a:lstStyle/>
                    <a:p>
                      <a:r>
                        <a:rPr lang="en-US" sz="1700" dirty="0"/>
                        <a:t>A4</a:t>
                      </a:r>
                      <a:endParaRPr lang="en-IN" sz="1700" dirty="0"/>
                    </a:p>
                  </a:txBody>
                  <a:tcPr marT="41564" marB="41564"/>
                </a:tc>
                <a:tc>
                  <a:txBody>
                    <a:bodyPr/>
                    <a:lstStyle/>
                    <a:p>
                      <a:r>
                        <a:rPr lang="en-US" sz="1700" b="1" dirty="0"/>
                        <a:t>MEM</a:t>
                      </a:r>
                      <a:endParaRPr lang="en-IN" sz="1700" b="1" dirty="0"/>
                    </a:p>
                  </a:txBody>
                  <a:tcPr marT="41564" marB="41564"/>
                </a:tc>
                <a:tc>
                  <a:txBody>
                    <a:bodyPr/>
                    <a:lstStyle/>
                    <a:p>
                      <a:r>
                        <a:rPr lang="en-US" sz="1700" dirty="0"/>
                        <a:t>WB</a:t>
                      </a:r>
                      <a:endParaRPr lang="en-IN" sz="1700" dirty="0"/>
                    </a:p>
                  </a:txBody>
                  <a:tcPr marT="41564" marB="41564"/>
                </a:tc>
                <a:tc>
                  <a:txBody>
                    <a:bodyPr/>
                    <a:lstStyle/>
                    <a:p>
                      <a:endParaRPr lang="en-IN" sz="1700"/>
                    </a:p>
                  </a:txBody>
                  <a:tcPr marT="41564" marB="41564"/>
                </a:tc>
                <a:tc>
                  <a:txBody>
                    <a:bodyPr/>
                    <a:lstStyle/>
                    <a:p>
                      <a:endParaRPr lang="en-IN" sz="1700" dirty="0"/>
                    </a:p>
                  </a:txBody>
                  <a:tcPr marT="41564" marB="41564"/>
                </a:tc>
                <a:extLst>
                  <a:ext uri="{0D108BD9-81ED-4DB2-BD59-A6C34878D82A}">
                    <a16:rowId xmlns:a16="http://schemas.microsoft.com/office/drawing/2014/main" val="2581064975"/>
                  </a:ext>
                </a:extLst>
              </a:tr>
              <a:tr h="346364">
                <a:tc>
                  <a:txBody>
                    <a:bodyPr/>
                    <a:lstStyle/>
                    <a:p>
                      <a:r>
                        <a:rPr lang="en-US" sz="1700" dirty="0"/>
                        <a:t>L.D</a:t>
                      </a:r>
                      <a:endParaRPr lang="en-IN" sz="1700" dirty="0"/>
                    </a:p>
                  </a:txBody>
                  <a:tcPr marT="41564" marB="41564"/>
                </a:tc>
                <a:tc>
                  <a:txBody>
                    <a:bodyPr/>
                    <a:lstStyle/>
                    <a:p>
                      <a:endParaRPr lang="en-IN" sz="1700"/>
                    </a:p>
                  </a:txBody>
                  <a:tcPr marT="41564" marB="41564"/>
                </a:tc>
                <a:tc>
                  <a:txBody>
                    <a:bodyPr/>
                    <a:lstStyle/>
                    <a:p>
                      <a:endParaRPr lang="en-IN" sz="170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EX</a:t>
                      </a:r>
                      <a:endParaRPr lang="en-IN" sz="1700" dirty="0"/>
                    </a:p>
                  </a:txBody>
                  <a:tcPr marT="41564" marB="41564"/>
                </a:tc>
                <a:tc>
                  <a:txBody>
                    <a:bodyPr/>
                    <a:lstStyle/>
                    <a:p>
                      <a:r>
                        <a:rPr lang="en-US" sz="1700" b="1" dirty="0"/>
                        <a:t>MEM</a:t>
                      </a:r>
                      <a:endParaRPr lang="en-IN" sz="1700" b="1" dirty="0"/>
                    </a:p>
                  </a:txBody>
                  <a:tcPr marT="41564" marB="41564"/>
                </a:tc>
                <a:tc>
                  <a:txBody>
                    <a:bodyPr/>
                    <a:lstStyle/>
                    <a:p>
                      <a:r>
                        <a:rPr lang="en-US" sz="1700" dirty="0"/>
                        <a:t>WB</a:t>
                      </a:r>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extLst>
                  <a:ext uri="{0D108BD9-81ED-4DB2-BD59-A6C34878D82A}">
                    <a16:rowId xmlns:a16="http://schemas.microsoft.com/office/drawing/2014/main" val="987702703"/>
                  </a:ext>
                </a:extLst>
              </a:tr>
              <a:tr h="346364">
                <a:tc>
                  <a:txBody>
                    <a:bodyPr/>
                    <a:lstStyle/>
                    <a:p>
                      <a:r>
                        <a:rPr lang="en-US" sz="1700" dirty="0"/>
                        <a:t>S.D</a:t>
                      </a:r>
                      <a:endParaRPr lang="en-IN" sz="1700" dirty="0"/>
                    </a:p>
                  </a:txBody>
                  <a:tcPr marT="41564" marB="41564"/>
                </a:tc>
                <a:tc>
                  <a:txBody>
                    <a:bodyPr/>
                    <a:lstStyle/>
                    <a:p>
                      <a:endParaRPr lang="en-IN" sz="170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EX</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tc>
                  <a:txBody>
                    <a:bodyPr/>
                    <a:lstStyle/>
                    <a:p>
                      <a:endParaRPr lang="en-IN" sz="1700" dirty="0"/>
                    </a:p>
                  </a:txBody>
                  <a:tcPr marT="41564" marB="41564"/>
                </a:tc>
                <a:extLst>
                  <a:ext uri="{0D108BD9-81ED-4DB2-BD59-A6C34878D82A}">
                    <a16:rowId xmlns:a16="http://schemas.microsoft.com/office/drawing/2014/main" val="3699792032"/>
                  </a:ext>
                </a:extLst>
              </a:tr>
            </a:tbl>
          </a:graphicData>
        </a:graphic>
      </p:graphicFrame>
      <p:sp>
        <p:nvSpPr>
          <p:cNvPr id="5" name="TextBox 4">
            <a:extLst>
              <a:ext uri="{FF2B5EF4-FFF2-40B4-BE49-F238E27FC236}">
                <a16:creationId xmlns:a16="http://schemas.microsoft.com/office/drawing/2014/main" id="{9199B60B-2FF8-BB32-9BC4-778BA8776DE3}"/>
              </a:ext>
            </a:extLst>
          </p:cNvPr>
          <p:cNvSpPr txBox="1"/>
          <p:nvPr/>
        </p:nvSpPr>
        <p:spPr>
          <a:xfrm>
            <a:off x="838199" y="1260446"/>
            <a:ext cx="7947560" cy="369332"/>
          </a:xfrm>
          <a:prstGeom prst="rect">
            <a:avLst/>
          </a:prstGeom>
          <a:noFill/>
        </p:spPr>
        <p:txBody>
          <a:bodyPr wrap="none" rtlCol="0">
            <a:spAutoFit/>
          </a:bodyPr>
          <a:lstStyle/>
          <a:p>
            <a:r>
              <a:rPr lang="en-US" b="1" dirty="0"/>
              <a:t>(II) </a:t>
            </a:r>
            <a:r>
              <a:rPr lang="en-US" dirty="0"/>
              <a:t>WAW hazard cannot happen in a MIPS multi-cycle floating point pipeline: </a:t>
            </a:r>
            <a:r>
              <a:rPr lang="en-US" b="1" dirty="0"/>
              <a:t>FALSE</a:t>
            </a:r>
            <a:endParaRPr lang="en-IN" b="1" dirty="0"/>
          </a:p>
        </p:txBody>
      </p:sp>
    </p:spTree>
    <p:extLst>
      <p:ext uri="{BB962C8B-B14F-4D97-AF65-F5344CB8AC3E}">
        <p14:creationId xmlns:p14="http://schemas.microsoft.com/office/powerpoint/2010/main" val="2432684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3B5D7-9C50-7785-22E8-A0BA2D066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CB6E0-04EA-1AF2-ED66-E72FCC7670BC}"/>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sp>
        <p:nvSpPr>
          <p:cNvPr id="5" name="TextBox 4">
            <a:extLst>
              <a:ext uri="{FF2B5EF4-FFF2-40B4-BE49-F238E27FC236}">
                <a16:creationId xmlns:a16="http://schemas.microsoft.com/office/drawing/2014/main" id="{6D261BE5-BCA2-7C47-2151-22EF76877582}"/>
              </a:ext>
            </a:extLst>
          </p:cNvPr>
          <p:cNvSpPr txBox="1"/>
          <p:nvPr/>
        </p:nvSpPr>
        <p:spPr>
          <a:xfrm>
            <a:off x="838199" y="1260446"/>
            <a:ext cx="10876247" cy="923330"/>
          </a:xfrm>
          <a:prstGeom prst="rect">
            <a:avLst/>
          </a:prstGeom>
          <a:noFill/>
        </p:spPr>
        <p:txBody>
          <a:bodyPr wrap="none" rtlCol="0">
            <a:spAutoFit/>
          </a:bodyPr>
          <a:lstStyle/>
          <a:p>
            <a:r>
              <a:rPr lang="en-US" b="1" dirty="0"/>
              <a:t>(III) </a:t>
            </a:r>
            <a:r>
              <a:rPr lang="en-US" dirty="0"/>
              <a:t>In a MIPS multi-cycle floating point pipeline that supports operand forwarding, there will be 7 stalls between a </a:t>
            </a:r>
          </a:p>
          <a:p>
            <a:r>
              <a:rPr lang="en-US" dirty="0"/>
              <a:t>pair of adjacent MUL instructions that has a RAW dependency between them.</a:t>
            </a:r>
          </a:p>
          <a:p>
            <a:endParaRPr lang="en-IN" b="1" dirty="0"/>
          </a:p>
        </p:txBody>
      </p:sp>
    </p:spTree>
    <p:extLst>
      <p:ext uri="{BB962C8B-B14F-4D97-AF65-F5344CB8AC3E}">
        <p14:creationId xmlns:p14="http://schemas.microsoft.com/office/powerpoint/2010/main" val="3989242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984E9-8927-A864-A995-77639F966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82F33-9790-096F-7017-EC0F1B40AF4E}"/>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graphicFrame>
        <p:nvGraphicFramePr>
          <p:cNvPr id="4" name="Table 3">
            <a:extLst>
              <a:ext uri="{FF2B5EF4-FFF2-40B4-BE49-F238E27FC236}">
                <a16:creationId xmlns:a16="http://schemas.microsoft.com/office/drawing/2014/main" id="{45E1CBC3-4E3C-6F02-F7EF-1ADDA6C3EB3F}"/>
              </a:ext>
            </a:extLst>
          </p:cNvPr>
          <p:cNvGraphicFramePr>
            <a:graphicFrameLocks noGrp="1"/>
          </p:cNvGraphicFramePr>
          <p:nvPr/>
        </p:nvGraphicFramePr>
        <p:xfrm>
          <a:off x="634182" y="2646951"/>
          <a:ext cx="10923636" cy="1302328"/>
        </p:xfrm>
        <a:graphic>
          <a:graphicData uri="http://schemas.openxmlformats.org/drawingml/2006/table">
            <a:tbl>
              <a:tblPr firstRow="1" bandRow="1">
                <a:tableStyleId>{5C22544A-7EE6-4342-B048-85BDC9FD1C3A}</a:tableStyleId>
              </a:tblPr>
              <a:tblGrid>
                <a:gridCol w="1568244">
                  <a:extLst>
                    <a:ext uri="{9D8B030D-6E8A-4147-A177-3AD203B41FA5}">
                      <a16:colId xmlns:a16="http://schemas.microsoft.com/office/drawing/2014/main" val="1347228811"/>
                    </a:ext>
                  </a:extLst>
                </a:gridCol>
                <a:gridCol w="491613">
                  <a:extLst>
                    <a:ext uri="{9D8B030D-6E8A-4147-A177-3AD203B41FA5}">
                      <a16:colId xmlns:a16="http://schemas.microsoft.com/office/drawing/2014/main" val="521863547"/>
                    </a:ext>
                  </a:extLst>
                </a:gridCol>
                <a:gridCol w="671052">
                  <a:extLst>
                    <a:ext uri="{9D8B030D-6E8A-4147-A177-3AD203B41FA5}">
                      <a16:colId xmlns:a16="http://schemas.microsoft.com/office/drawing/2014/main" val="3892012618"/>
                    </a:ext>
                  </a:extLst>
                </a:gridCol>
                <a:gridCol w="910303">
                  <a:extLst>
                    <a:ext uri="{9D8B030D-6E8A-4147-A177-3AD203B41FA5}">
                      <a16:colId xmlns:a16="http://schemas.microsoft.com/office/drawing/2014/main" val="1020755143"/>
                    </a:ext>
                  </a:extLst>
                </a:gridCol>
                <a:gridCol w="910303">
                  <a:extLst>
                    <a:ext uri="{9D8B030D-6E8A-4147-A177-3AD203B41FA5}">
                      <a16:colId xmlns:a16="http://schemas.microsoft.com/office/drawing/2014/main" val="3918174887"/>
                    </a:ext>
                  </a:extLst>
                </a:gridCol>
                <a:gridCol w="910303">
                  <a:extLst>
                    <a:ext uri="{9D8B030D-6E8A-4147-A177-3AD203B41FA5}">
                      <a16:colId xmlns:a16="http://schemas.microsoft.com/office/drawing/2014/main" val="3437044203"/>
                    </a:ext>
                  </a:extLst>
                </a:gridCol>
                <a:gridCol w="910303">
                  <a:extLst>
                    <a:ext uri="{9D8B030D-6E8A-4147-A177-3AD203B41FA5}">
                      <a16:colId xmlns:a16="http://schemas.microsoft.com/office/drawing/2014/main" val="3401221749"/>
                    </a:ext>
                  </a:extLst>
                </a:gridCol>
                <a:gridCol w="910303">
                  <a:extLst>
                    <a:ext uri="{9D8B030D-6E8A-4147-A177-3AD203B41FA5}">
                      <a16:colId xmlns:a16="http://schemas.microsoft.com/office/drawing/2014/main" val="232728217"/>
                    </a:ext>
                  </a:extLst>
                </a:gridCol>
                <a:gridCol w="910303">
                  <a:extLst>
                    <a:ext uri="{9D8B030D-6E8A-4147-A177-3AD203B41FA5}">
                      <a16:colId xmlns:a16="http://schemas.microsoft.com/office/drawing/2014/main" val="3181316589"/>
                    </a:ext>
                  </a:extLst>
                </a:gridCol>
                <a:gridCol w="910303">
                  <a:extLst>
                    <a:ext uri="{9D8B030D-6E8A-4147-A177-3AD203B41FA5}">
                      <a16:colId xmlns:a16="http://schemas.microsoft.com/office/drawing/2014/main" val="661111611"/>
                    </a:ext>
                  </a:extLst>
                </a:gridCol>
                <a:gridCol w="910303">
                  <a:extLst>
                    <a:ext uri="{9D8B030D-6E8A-4147-A177-3AD203B41FA5}">
                      <a16:colId xmlns:a16="http://schemas.microsoft.com/office/drawing/2014/main" val="2753689624"/>
                    </a:ext>
                  </a:extLst>
                </a:gridCol>
                <a:gridCol w="910303">
                  <a:extLst>
                    <a:ext uri="{9D8B030D-6E8A-4147-A177-3AD203B41FA5}">
                      <a16:colId xmlns:a16="http://schemas.microsoft.com/office/drawing/2014/main" val="2432931341"/>
                    </a:ext>
                  </a:extLst>
                </a:gridCol>
              </a:tblGrid>
              <a:tr h="609600">
                <a:tc>
                  <a:txBody>
                    <a:bodyPr/>
                    <a:lstStyle/>
                    <a:p>
                      <a:r>
                        <a:rPr lang="en-US" sz="1700" dirty="0"/>
                        <a:t>Instruction</a:t>
                      </a:r>
                      <a:endParaRPr lang="en-IN" sz="1700" dirty="0"/>
                    </a:p>
                  </a:txBody>
                  <a:tcPr marT="41564" marB="41564"/>
                </a:tc>
                <a:tc>
                  <a:txBody>
                    <a:bodyPr/>
                    <a:lstStyle/>
                    <a:p>
                      <a:r>
                        <a:rPr lang="en-US" sz="1700" dirty="0"/>
                        <a:t>1</a:t>
                      </a:r>
                      <a:endParaRPr lang="en-IN" sz="1700" dirty="0"/>
                    </a:p>
                  </a:txBody>
                  <a:tcPr marT="41564" marB="41564"/>
                </a:tc>
                <a:tc>
                  <a:txBody>
                    <a:bodyPr/>
                    <a:lstStyle/>
                    <a:p>
                      <a:r>
                        <a:rPr lang="en-US" sz="1700" dirty="0"/>
                        <a:t>2</a:t>
                      </a:r>
                      <a:endParaRPr lang="en-IN" sz="1700" dirty="0"/>
                    </a:p>
                  </a:txBody>
                  <a:tcPr marT="41564" marB="41564"/>
                </a:tc>
                <a:tc>
                  <a:txBody>
                    <a:bodyPr/>
                    <a:lstStyle/>
                    <a:p>
                      <a:r>
                        <a:rPr lang="en-US" sz="1700" dirty="0"/>
                        <a:t>3</a:t>
                      </a:r>
                      <a:endParaRPr lang="en-IN" sz="1700" dirty="0"/>
                    </a:p>
                  </a:txBody>
                  <a:tcPr marT="41564" marB="41564"/>
                </a:tc>
                <a:tc>
                  <a:txBody>
                    <a:bodyPr/>
                    <a:lstStyle/>
                    <a:p>
                      <a:r>
                        <a:rPr lang="en-US" sz="1700" dirty="0"/>
                        <a:t>4</a:t>
                      </a:r>
                      <a:endParaRPr lang="en-IN" sz="1700" dirty="0"/>
                    </a:p>
                  </a:txBody>
                  <a:tcPr marT="41564" marB="41564"/>
                </a:tc>
                <a:tc>
                  <a:txBody>
                    <a:bodyPr/>
                    <a:lstStyle/>
                    <a:p>
                      <a:r>
                        <a:rPr lang="en-US" sz="1700" dirty="0"/>
                        <a:t>6</a:t>
                      </a:r>
                      <a:endParaRPr lang="en-IN" sz="1700" dirty="0"/>
                    </a:p>
                  </a:txBody>
                  <a:tcPr marT="41564" marB="41564"/>
                </a:tc>
                <a:tc>
                  <a:txBody>
                    <a:bodyPr/>
                    <a:lstStyle/>
                    <a:p>
                      <a:r>
                        <a:rPr lang="en-US" sz="1700" dirty="0"/>
                        <a:t>7</a:t>
                      </a:r>
                      <a:endParaRPr lang="en-IN" sz="1700" dirty="0"/>
                    </a:p>
                  </a:txBody>
                  <a:tcPr marT="41564" marB="41564"/>
                </a:tc>
                <a:tc>
                  <a:txBody>
                    <a:bodyPr/>
                    <a:lstStyle/>
                    <a:p>
                      <a:r>
                        <a:rPr lang="en-US" sz="1700" dirty="0"/>
                        <a:t>8</a:t>
                      </a:r>
                      <a:endParaRPr lang="en-IN" sz="1700" dirty="0"/>
                    </a:p>
                  </a:txBody>
                  <a:tcPr marT="41564" marB="41564"/>
                </a:tc>
                <a:tc>
                  <a:txBody>
                    <a:bodyPr/>
                    <a:lstStyle/>
                    <a:p>
                      <a:r>
                        <a:rPr lang="en-US" sz="1700" dirty="0"/>
                        <a:t>9</a:t>
                      </a:r>
                      <a:endParaRPr lang="en-IN" sz="1700" dirty="0"/>
                    </a:p>
                  </a:txBody>
                  <a:tcPr marT="41564" marB="41564"/>
                </a:tc>
                <a:tc>
                  <a:txBody>
                    <a:bodyPr/>
                    <a:lstStyle/>
                    <a:p>
                      <a:r>
                        <a:rPr lang="en-US" sz="1700" dirty="0"/>
                        <a:t>10</a:t>
                      </a:r>
                      <a:endParaRPr lang="en-IN" sz="1700" dirty="0"/>
                    </a:p>
                  </a:txBody>
                  <a:tcPr marT="41564" marB="41564"/>
                </a:tc>
                <a:tc>
                  <a:txBody>
                    <a:bodyPr/>
                    <a:lstStyle/>
                    <a:p>
                      <a:r>
                        <a:rPr lang="en-US" sz="1700" dirty="0"/>
                        <a:t>11</a:t>
                      </a:r>
                      <a:endParaRPr lang="en-IN" sz="1700" dirty="0"/>
                    </a:p>
                  </a:txBody>
                  <a:tcPr marT="41564" marB="41564"/>
                </a:tc>
                <a:tc>
                  <a:txBody>
                    <a:bodyPr/>
                    <a:lstStyle/>
                    <a:p>
                      <a:r>
                        <a:rPr lang="en-US" sz="1700" dirty="0"/>
                        <a:t>12</a:t>
                      </a:r>
                      <a:endParaRPr lang="en-IN" sz="1700" dirty="0"/>
                    </a:p>
                  </a:txBody>
                  <a:tcPr marT="41564" marB="41564"/>
                </a:tc>
                <a:extLst>
                  <a:ext uri="{0D108BD9-81ED-4DB2-BD59-A6C34878D82A}">
                    <a16:rowId xmlns:a16="http://schemas.microsoft.com/office/drawing/2014/main" val="3709089441"/>
                  </a:ext>
                </a:extLst>
              </a:tr>
              <a:tr h="346364">
                <a:tc>
                  <a:txBody>
                    <a:bodyPr/>
                    <a:lstStyle/>
                    <a:p>
                      <a:r>
                        <a:rPr lang="en-US" sz="1700" dirty="0"/>
                        <a:t>MUL F1,F2,F3</a:t>
                      </a:r>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tc>
                  <a:txBody>
                    <a:bodyPr/>
                    <a:lstStyle/>
                    <a:p>
                      <a:r>
                        <a:rPr lang="en-US" sz="1700" dirty="0"/>
                        <a:t>M3</a:t>
                      </a:r>
                      <a:endParaRPr lang="en-IN" sz="1700" dirty="0"/>
                    </a:p>
                  </a:txBody>
                  <a:tcPr marT="41564" marB="41564"/>
                </a:tc>
                <a:tc>
                  <a:txBody>
                    <a:bodyPr/>
                    <a:lstStyle/>
                    <a:p>
                      <a:r>
                        <a:rPr lang="en-US" sz="1700" dirty="0"/>
                        <a:t>M4</a:t>
                      </a:r>
                      <a:endParaRPr lang="en-IN" sz="1700" dirty="0"/>
                    </a:p>
                  </a:txBody>
                  <a:tcPr marT="41564" marB="41564"/>
                </a:tc>
                <a:tc>
                  <a:txBody>
                    <a:bodyPr/>
                    <a:lstStyle/>
                    <a:p>
                      <a:r>
                        <a:rPr lang="en-US" sz="1700" dirty="0"/>
                        <a:t>M5</a:t>
                      </a:r>
                      <a:endParaRPr lang="en-IN" sz="1700" dirty="0"/>
                    </a:p>
                  </a:txBody>
                  <a:tcPr marT="41564" marB="41564"/>
                </a:tc>
                <a:tc>
                  <a:txBody>
                    <a:bodyPr/>
                    <a:lstStyle/>
                    <a:p>
                      <a:r>
                        <a:rPr lang="en-US" sz="1700" dirty="0"/>
                        <a:t>M6</a:t>
                      </a:r>
                      <a:endParaRPr lang="en-IN" sz="1700" dirty="0"/>
                    </a:p>
                  </a:txBody>
                  <a:tcPr marT="41564" marB="41564"/>
                </a:tc>
                <a:tc>
                  <a:txBody>
                    <a:bodyPr/>
                    <a:lstStyle/>
                    <a:p>
                      <a:r>
                        <a:rPr lang="en-US" sz="1700" dirty="0"/>
                        <a:t>M7</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extLst>
                  <a:ext uri="{0D108BD9-81ED-4DB2-BD59-A6C34878D82A}">
                    <a16:rowId xmlns:a16="http://schemas.microsoft.com/office/drawing/2014/main" val="3250050451"/>
                  </a:ext>
                </a:extLst>
              </a:tr>
              <a:tr h="346364">
                <a:tc>
                  <a:txBody>
                    <a:bodyPr/>
                    <a:lstStyle/>
                    <a:p>
                      <a:r>
                        <a:rPr lang="en-US" sz="1700" dirty="0"/>
                        <a:t>MUL F0, F1, F3</a:t>
                      </a:r>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b="1" dirty="0"/>
                        <a:t>*</a:t>
                      </a:r>
                      <a:endParaRPr lang="en-IN" sz="1700" b="1" dirty="0"/>
                    </a:p>
                  </a:txBody>
                  <a:tcPr marT="41564" marB="41564"/>
                </a:tc>
                <a:tc>
                  <a:txBody>
                    <a:bodyPr/>
                    <a:lstStyle/>
                    <a:p>
                      <a:r>
                        <a:rPr lang="en-US" sz="1700" dirty="0"/>
                        <a:t>*</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extLst>
                  <a:ext uri="{0D108BD9-81ED-4DB2-BD59-A6C34878D82A}">
                    <a16:rowId xmlns:a16="http://schemas.microsoft.com/office/drawing/2014/main" val="2581064975"/>
                  </a:ext>
                </a:extLst>
              </a:tr>
            </a:tbl>
          </a:graphicData>
        </a:graphic>
      </p:graphicFrame>
      <p:sp>
        <p:nvSpPr>
          <p:cNvPr id="5" name="TextBox 4">
            <a:extLst>
              <a:ext uri="{FF2B5EF4-FFF2-40B4-BE49-F238E27FC236}">
                <a16:creationId xmlns:a16="http://schemas.microsoft.com/office/drawing/2014/main" id="{AAA1BCBF-4505-D5E6-9FBD-CF4C4B07E75C}"/>
              </a:ext>
            </a:extLst>
          </p:cNvPr>
          <p:cNvSpPr txBox="1"/>
          <p:nvPr/>
        </p:nvSpPr>
        <p:spPr>
          <a:xfrm>
            <a:off x="838199" y="1260446"/>
            <a:ext cx="10876247" cy="923330"/>
          </a:xfrm>
          <a:prstGeom prst="rect">
            <a:avLst/>
          </a:prstGeom>
          <a:noFill/>
        </p:spPr>
        <p:txBody>
          <a:bodyPr wrap="none" rtlCol="0">
            <a:spAutoFit/>
          </a:bodyPr>
          <a:lstStyle/>
          <a:p>
            <a:r>
              <a:rPr lang="en-US" b="1" dirty="0"/>
              <a:t>(III) </a:t>
            </a:r>
            <a:r>
              <a:rPr lang="en-US" dirty="0"/>
              <a:t>In a MIPS multi-cycle floating point pipeline that supports operand forwarding, there will be 7 stalls between a </a:t>
            </a:r>
          </a:p>
          <a:p>
            <a:r>
              <a:rPr lang="en-US" dirty="0"/>
              <a:t>pair of adjacent MUL instructions that has a RAW dependency between them.</a:t>
            </a:r>
          </a:p>
          <a:p>
            <a:endParaRPr lang="en-IN" b="1" dirty="0"/>
          </a:p>
        </p:txBody>
      </p:sp>
    </p:spTree>
    <p:extLst>
      <p:ext uri="{BB962C8B-B14F-4D97-AF65-F5344CB8AC3E}">
        <p14:creationId xmlns:p14="http://schemas.microsoft.com/office/powerpoint/2010/main" val="133405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45074-FECC-01C4-A1AF-C9AF3E9FE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ED28D-EC99-E33C-CF08-082289529222}"/>
              </a:ext>
            </a:extLst>
          </p:cNvPr>
          <p:cNvSpPr>
            <a:spLocks noGrp="1"/>
          </p:cNvSpPr>
          <p:nvPr>
            <p:ph type="title"/>
          </p:nvPr>
        </p:nvSpPr>
        <p:spPr>
          <a:xfrm>
            <a:off x="838200" y="365126"/>
            <a:ext cx="10515600" cy="726256"/>
          </a:xfrm>
        </p:spPr>
        <p:txBody>
          <a:bodyPr>
            <a:normAutofit/>
          </a:bodyPr>
          <a:lstStyle/>
          <a:p>
            <a:r>
              <a:rPr lang="en-US" sz="3600" dirty="0"/>
              <a:t>Multi-cycle operations</a:t>
            </a:r>
            <a:endParaRPr lang="en-IN" sz="3600" dirty="0"/>
          </a:p>
        </p:txBody>
      </p:sp>
      <p:graphicFrame>
        <p:nvGraphicFramePr>
          <p:cNvPr id="4" name="Table 3">
            <a:extLst>
              <a:ext uri="{FF2B5EF4-FFF2-40B4-BE49-F238E27FC236}">
                <a16:creationId xmlns:a16="http://schemas.microsoft.com/office/drawing/2014/main" id="{C080C8EF-733C-5C47-F759-3FB05DE92081}"/>
              </a:ext>
            </a:extLst>
          </p:cNvPr>
          <p:cNvGraphicFramePr>
            <a:graphicFrameLocks noGrp="1"/>
          </p:cNvGraphicFramePr>
          <p:nvPr/>
        </p:nvGraphicFramePr>
        <p:xfrm>
          <a:off x="634182" y="2646951"/>
          <a:ext cx="10923636" cy="1302328"/>
        </p:xfrm>
        <a:graphic>
          <a:graphicData uri="http://schemas.openxmlformats.org/drawingml/2006/table">
            <a:tbl>
              <a:tblPr firstRow="1" bandRow="1">
                <a:tableStyleId>{5C22544A-7EE6-4342-B048-85BDC9FD1C3A}</a:tableStyleId>
              </a:tblPr>
              <a:tblGrid>
                <a:gridCol w="1568244">
                  <a:extLst>
                    <a:ext uri="{9D8B030D-6E8A-4147-A177-3AD203B41FA5}">
                      <a16:colId xmlns:a16="http://schemas.microsoft.com/office/drawing/2014/main" val="1347228811"/>
                    </a:ext>
                  </a:extLst>
                </a:gridCol>
                <a:gridCol w="491613">
                  <a:extLst>
                    <a:ext uri="{9D8B030D-6E8A-4147-A177-3AD203B41FA5}">
                      <a16:colId xmlns:a16="http://schemas.microsoft.com/office/drawing/2014/main" val="521863547"/>
                    </a:ext>
                  </a:extLst>
                </a:gridCol>
                <a:gridCol w="671052">
                  <a:extLst>
                    <a:ext uri="{9D8B030D-6E8A-4147-A177-3AD203B41FA5}">
                      <a16:colId xmlns:a16="http://schemas.microsoft.com/office/drawing/2014/main" val="3892012618"/>
                    </a:ext>
                  </a:extLst>
                </a:gridCol>
                <a:gridCol w="910303">
                  <a:extLst>
                    <a:ext uri="{9D8B030D-6E8A-4147-A177-3AD203B41FA5}">
                      <a16:colId xmlns:a16="http://schemas.microsoft.com/office/drawing/2014/main" val="1020755143"/>
                    </a:ext>
                  </a:extLst>
                </a:gridCol>
                <a:gridCol w="910303">
                  <a:extLst>
                    <a:ext uri="{9D8B030D-6E8A-4147-A177-3AD203B41FA5}">
                      <a16:colId xmlns:a16="http://schemas.microsoft.com/office/drawing/2014/main" val="3918174887"/>
                    </a:ext>
                  </a:extLst>
                </a:gridCol>
                <a:gridCol w="910303">
                  <a:extLst>
                    <a:ext uri="{9D8B030D-6E8A-4147-A177-3AD203B41FA5}">
                      <a16:colId xmlns:a16="http://schemas.microsoft.com/office/drawing/2014/main" val="3437044203"/>
                    </a:ext>
                  </a:extLst>
                </a:gridCol>
                <a:gridCol w="910303">
                  <a:extLst>
                    <a:ext uri="{9D8B030D-6E8A-4147-A177-3AD203B41FA5}">
                      <a16:colId xmlns:a16="http://schemas.microsoft.com/office/drawing/2014/main" val="3401221749"/>
                    </a:ext>
                  </a:extLst>
                </a:gridCol>
                <a:gridCol w="910303">
                  <a:extLst>
                    <a:ext uri="{9D8B030D-6E8A-4147-A177-3AD203B41FA5}">
                      <a16:colId xmlns:a16="http://schemas.microsoft.com/office/drawing/2014/main" val="232728217"/>
                    </a:ext>
                  </a:extLst>
                </a:gridCol>
                <a:gridCol w="910303">
                  <a:extLst>
                    <a:ext uri="{9D8B030D-6E8A-4147-A177-3AD203B41FA5}">
                      <a16:colId xmlns:a16="http://schemas.microsoft.com/office/drawing/2014/main" val="3181316589"/>
                    </a:ext>
                  </a:extLst>
                </a:gridCol>
                <a:gridCol w="910303">
                  <a:extLst>
                    <a:ext uri="{9D8B030D-6E8A-4147-A177-3AD203B41FA5}">
                      <a16:colId xmlns:a16="http://schemas.microsoft.com/office/drawing/2014/main" val="661111611"/>
                    </a:ext>
                  </a:extLst>
                </a:gridCol>
                <a:gridCol w="910303">
                  <a:extLst>
                    <a:ext uri="{9D8B030D-6E8A-4147-A177-3AD203B41FA5}">
                      <a16:colId xmlns:a16="http://schemas.microsoft.com/office/drawing/2014/main" val="2753689624"/>
                    </a:ext>
                  </a:extLst>
                </a:gridCol>
                <a:gridCol w="910303">
                  <a:extLst>
                    <a:ext uri="{9D8B030D-6E8A-4147-A177-3AD203B41FA5}">
                      <a16:colId xmlns:a16="http://schemas.microsoft.com/office/drawing/2014/main" val="2432931341"/>
                    </a:ext>
                  </a:extLst>
                </a:gridCol>
              </a:tblGrid>
              <a:tr h="609600">
                <a:tc>
                  <a:txBody>
                    <a:bodyPr/>
                    <a:lstStyle/>
                    <a:p>
                      <a:r>
                        <a:rPr lang="en-US" sz="1700" dirty="0"/>
                        <a:t>Instruction</a:t>
                      </a:r>
                      <a:endParaRPr lang="en-IN" sz="1700" dirty="0"/>
                    </a:p>
                  </a:txBody>
                  <a:tcPr marT="41564" marB="41564"/>
                </a:tc>
                <a:tc>
                  <a:txBody>
                    <a:bodyPr/>
                    <a:lstStyle/>
                    <a:p>
                      <a:r>
                        <a:rPr lang="en-US" sz="1700" dirty="0"/>
                        <a:t>1</a:t>
                      </a:r>
                      <a:endParaRPr lang="en-IN" sz="1700" dirty="0"/>
                    </a:p>
                  </a:txBody>
                  <a:tcPr marT="41564" marB="41564"/>
                </a:tc>
                <a:tc>
                  <a:txBody>
                    <a:bodyPr/>
                    <a:lstStyle/>
                    <a:p>
                      <a:r>
                        <a:rPr lang="en-US" sz="1700" dirty="0"/>
                        <a:t>2</a:t>
                      </a:r>
                      <a:endParaRPr lang="en-IN" sz="1700" dirty="0"/>
                    </a:p>
                  </a:txBody>
                  <a:tcPr marT="41564" marB="41564"/>
                </a:tc>
                <a:tc>
                  <a:txBody>
                    <a:bodyPr/>
                    <a:lstStyle/>
                    <a:p>
                      <a:r>
                        <a:rPr lang="en-US" sz="1700" dirty="0"/>
                        <a:t>3</a:t>
                      </a:r>
                      <a:endParaRPr lang="en-IN" sz="1700" dirty="0"/>
                    </a:p>
                  </a:txBody>
                  <a:tcPr marT="41564" marB="41564"/>
                </a:tc>
                <a:tc>
                  <a:txBody>
                    <a:bodyPr/>
                    <a:lstStyle/>
                    <a:p>
                      <a:r>
                        <a:rPr lang="en-US" sz="1700" dirty="0"/>
                        <a:t>4</a:t>
                      </a:r>
                      <a:endParaRPr lang="en-IN" sz="1700" dirty="0"/>
                    </a:p>
                  </a:txBody>
                  <a:tcPr marT="41564" marB="41564"/>
                </a:tc>
                <a:tc>
                  <a:txBody>
                    <a:bodyPr/>
                    <a:lstStyle/>
                    <a:p>
                      <a:r>
                        <a:rPr lang="en-US" sz="1700" dirty="0"/>
                        <a:t>6</a:t>
                      </a:r>
                      <a:endParaRPr lang="en-IN" sz="1700" dirty="0"/>
                    </a:p>
                  </a:txBody>
                  <a:tcPr marT="41564" marB="41564"/>
                </a:tc>
                <a:tc>
                  <a:txBody>
                    <a:bodyPr/>
                    <a:lstStyle/>
                    <a:p>
                      <a:r>
                        <a:rPr lang="en-US" sz="1700" dirty="0"/>
                        <a:t>7</a:t>
                      </a:r>
                      <a:endParaRPr lang="en-IN" sz="1700" dirty="0"/>
                    </a:p>
                  </a:txBody>
                  <a:tcPr marT="41564" marB="41564"/>
                </a:tc>
                <a:tc>
                  <a:txBody>
                    <a:bodyPr/>
                    <a:lstStyle/>
                    <a:p>
                      <a:r>
                        <a:rPr lang="en-US" sz="1700" dirty="0"/>
                        <a:t>8</a:t>
                      </a:r>
                      <a:endParaRPr lang="en-IN" sz="1700" dirty="0"/>
                    </a:p>
                  </a:txBody>
                  <a:tcPr marT="41564" marB="41564"/>
                </a:tc>
                <a:tc>
                  <a:txBody>
                    <a:bodyPr/>
                    <a:lstStyle/>
                    <a:p>
                      <a:r>
                        <a:rPr lang="en-US" sz="1700" dirty="0"/>
                        <a:t>9</a:t>
                      </a:r>
                      <a:endParaRPr lang="en-IN" sz="1700" dirty="0"/>
                    </a:p>
                  </a:txBody>
                  <a:tcPr marT="41564" marB="41564"/>
                </a:tc>
                <a:tc>
                  <a:txBody>
                    <a:bodyPr/>
                    <a:lstStyle/>
                    <a:p>
                      <a:r>
                        <a:rPr lang="en-US" sz="1700" dirty="0"/>
                        <a:t>10</a:t>
                      </a:r>
                      <a:endParaRPr lang="en-IN" sz="1700" dirty="0"/>
                    </a:p>
                  </a:txBody>
                  <a:tcPr marT="41564" marB="41564"/>
                </a:tc>
                <a:tc>
                  <a:txBody>
                    <a:bodyPr/>
                    <a:lstStyle/>
                    <a:p>
                      <a:r>
                        <a:rPr lang="en-US" sz="1700" dirty="0"/>
                        <a:t>11</a:t>
                      </a:r>
                      <a:endParaRPr lang="en-IN" sz="1700" dirty="0"/>
                    </a:p>
                  </a:txBody>
                  <a:tcPr marT="41564" marB="41564"/>
                </a:tc>
                <a:tc>
                  <a:txBody>
                    <a:bodyPr/>
                    <a:lstStyle/>
                    <a:p>
                      <a:r>
                        <a:rPr lang="en-US" sz="1700" dirty="0"/>
                        <a:t>12</a:t>
                      </a:r>
                      <a:endParaRPr lang="en-IN" sz="1700" dirty="0"/>
                    </a:p>
                  </a:txBody>
                  <a:tcPr marT="41564" marB="41564"/>
                </a:tc>
                <a:extLst>
                  <a:ext uri="{0D108BD9-81ED-4DB2-BD59-A6C34878D82A}">
                    <a16:rowId xmlns:a16="http://schemas.microsoft.com/office/drawing/2014/main" val="3709089441"/>
                  </a:ext>
                </a:extLst>
              </a:tr>
              <a:tr h="346364">
                <a:tc>
                  <a:txBody>
                    <a:bodyPr/>
                    <a:lstStyle/>
                    <a:p>
                      <a:r>
                        <a:rPr lang="en-US" sz="1700" dirty="0"/>
                        <a:t>MUL F1,F2,F3</a:t>
                      </a:r>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tc>
                  <a:txBody>
                    <a:bodyPr/>
                    <a:lstStyle/>
                    <a:p>
                      <a:r>
                        <a:rPr lang="en-US" sz="1700" dirty="0"/>
                        <a:t>M3</a:t>
                      </a:r>
                      <a:endParaRPr lang="en-IN" sz="1700" dirty="0"/>
                    </a:p>
                  </a:txBody>
                  <a:tcPr marT="41564" marB="41564"/>
                </a:tc>
                <a:tc>
                  <a:txBody>
                    <a:bodyPr/>
                    <a:lstStyle/>
                    <a:p>
                      <a:r>
                        <a:rPr lang="en-US" sz="1700" dirty="0"/>
                        <a:t>M4</a:t>
                      </a:r>
                      <a:endParaRPr lang="en-IN" sz="1700" dirty="0"/>
                    </a:p>
                  </a:txBody>
                  <a:tcPr marT="41564" marB="41564"/>
                </a:tc>
                <a:tc>
                  <a:txBody>
                    <a:bodyPr/>
                    <a:lstStyle/>
                    <a:p>
                      <a:r>
                        <a:rPr lang="en-US" sz="1700" dirty="0"/>
                        <a:t>M5</a:t>
                      </a:r>
                      <a:endParaRPr lang="en-IN" sz="1700" dirty="0"/>
                    </a:p>
                  </a:txBody>
                  <a:tcPr marT="41564" marB="41564"/>
                </a:tc>
                <a:tc>
                  <a:txBody>
                    <a:bodyPr/>
                    <a:lstStyle/>
                    <a:p>
                      <a:r>
                        <a:rPr lang="en-US" sz="1700" dirty="0"/>
                        <a:t>M6</a:t>
                      </a:r>
                      <a:endParaRPr lang="en-IN" sz="1700" dirty="0"/>
                    </a:p>
                  </a:txBody>
                  <a:tcPr marT="41564" marB="41564"/>
                </a:tc>
                <a:tc>
                  <a:txBody>
                    <a:bodyPr/>
                    <a:lstStyle/>
                    <a:p>
                      <a:r>
                        <a:rPr lang="en-US" sz="1700" dirty="0"/>
                        <a:t>M7</a:t>
                      </a:r>
                      <a:endParaRPr lang="en-IN" sz="1700" dirty="0"/>
                    </a:p>
                  </a:txBody>
                  <a:tcPr marT="41564" marB="41564"/>
                </a:tc>
                <a:tc>
                  <a:txBody>
                    <a:bodyPr/>
                    <a:lstStyle/>
                    <a:p>
                      <a:r>
                        <a:rPr lang="en-US" sz="1700" dirty="0"/>
                        <a:t>MEM</a:t>
                      </a:r>
                      <a:endParaRPr lang="en-IN" sz="1700" dirty="0"/>
                    </a:p>
                  </a:txBody>
                  <a:tcPr marT="41564" marB="41564"/>
                </a:tc>
                <a:tc>
                  <a:txBody>
                    <a:bodyPr/>
                    <a:lstStyle/>
                    <a:p>
                      <a:r>
                        <a:rPr lang="en-US" sz="1700" dirty="0"/>
                        <a:t>WB</a:t>
                      </a:r>
                      <a:endParaRPr lang="en-IN" sz="1700" dirty="0"/>
                    </a:p>
                  </a:txBody>
                  <a:tcPr marT="41564" marB="41564"/>
                </a:tc>
                <a:extLst>
                  <a:ext uri="{0D108BD9-81ED-4DB2-BD59-A6C34878D82A}">
                    <a16:rowId xmlns:a16="http://schemas.microsoft.com/office/drawing/2014/main" val="3250050451"/>
                  </a:ext>
                </a:extLst>
              </a:tr>
              <a:tr h="346364">
                <a:tc>
                  <a:txBody>
                    <a:bodyPr/>
                    <a:lstStyle/>
                    <a:p>
                      <a:r>
                        <a:rPr lang="en-US" sz="1700" dirty="0"/>
                        <a:t>MUL F0, F1, F3</a:t>
                      </a:r>
                      <a:endParaRPr lang="en-IN" sz="1700" dirty="0"/>
                    </a:p>
                  </a:txBody>
                  <a:tcPr marT="41564" marB="41564"/>
                </a:tc>
                <a:tc>
                  <a:txBody>
                    <a:bodyPr/>
                    <a:lstStyle/>
                    <a:p>
                      <a:endParaRPr lang="en-IN" sz="1700" dirty="0"/>
                    </a:p>
                  </a:txBody>
                  <a:tcPr marT="41564" marB="41564"/>
                </a:tc>
                <a:tc>
                  <a:txBody>
                    <a:bodyPr/>
                    <a:lstStyle/>
                    <a:p>
                      <a:r>
                        <a:rPr lang="en-US" sz="1700" dirty="0"/>
                        <a:t>IF</a:t>
                      </a:r>
                      <a:endParaRPr lang="en-IN" sz="1700" dirty="0"/>
                    </a:p>
                  </a:txBody>
                  <a:tcPr marT="41564" marB="41564"/>
                </a:tc>
                <a:tc>
                  <a:txBody>
                    <a:bodyPr/>
                    <a:lstStyle/>
                    <a:p>
                      <a:r>
                        <a:rPr lang="en-US" sz="1700" dirty="0"/>
                        <a:t>ID</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dirty="0"/>
                        <a:t>*</a:t>
                      </a:r>
                      <a:endParaRPr lang="en-IN" sz="1700" dirty="0"/>
                    </a:p>
                  </a:txBody>
                  <a:tcPr marT="41564" marB="41564"/>
                </a:tc>
                <a:tc>
                  <a:txBody>
                    <a:bodyPr/>
                    <a:lstStyle/>
                    <a:p>
                      <a:r>
                        <a:rPr lang="en-US" sz="1700" b="1" dirty="0"/>
                        <a:t>*</a:t>
                      </a:r>
                      <a:endParaRPr lang="en-IN" sz="1700" b="1" dirty="0"/>
                    </a:p>
                  </a:txBody>
                  <a:tcPr marT="41564" marB="41564"/>
                </a:tc>
                <a:tc>
                  <a:txBody>
                    <a:bodyPr/>
                    <a:lstStyle/>
                    <a:p>
                      <a:r>
                        <a:rPr lang="en-US" sz="1700" dirty="0"/>
                        <a:t>*</a:t>
                      </a:r>
                      <a:endParaRPr lang="en-IN" sz="1700" dirty="0"/>
                    </a:p>
                  </a:txBody>
                  <a:tcPr marT="41564" marB="41564"/>
                </a:tc>
                <a:tc>
                  <a:txBody>
                    <a:bodyPr/>
                    <a:lstStyle/>
                    <a:p>
                      <a:r>
                        <a:rPr lang="en-US" sz="1700" dirty="0"/>
                        <a:t>M1</a:t>
                      </a:r>
                      <a:endParaRPr lang="en-IN" sz="1700" dirty="0"/>
                    </a:p>
                  </a:txBody>
                  <a:tcPr marT="41564" marB="41564"/>
                </a:tc>
                <a:tc>
                  <a:txBody>
                    <a:bodyPr/>
                    <a:lstStyle/>
                    <a:p>
                      <a:r>
                        <a:rPr lang="en-US" sz="1700" dirty="0"/>
                        <a:t>M2</a:t>
                      </a:r>
                      <a:endParaRPr lang="en-IN" sz="1700" dirty="0"/>
                    </a:p>
                  </a:txBody>
                  <a:tcPr marT="41564" marB="41564"/>
                </a:tc>
                <a:extLst>
                  <a:ext uri="{0D108BD9-81ED-4DB2-BD59-A6C34878D82A}">
                    <a16:rowId xmlns:a16="http://schemas.microsoft.com/office/drawing/2014/main" val="2581064975"/>
                  </a:ext>
                </a:extLst>
              </a:tr>
            </a:tbl>
          </a:graphicData>
        </a:graphic>
      </p:graphicFrame>
      <p:sp>
        <p:nvSpPr>
          <p:cNvPr id="5" name="TextBox 4">
            <a:extLst>
              <a:ext uri="{FF2B5EF4-FFF2-40B4-BE49-F238E27FC236}">
                <a16:creationId xmlns:a16="http://schemas.microsoft.com/office/drawing/2014/main" id="{41AF86FC-5112-DEA5-897C-1308C91D8B08}"/>
              </a:ext>
            </a:extLst>
          </p:cNvPr>
          <p:cNvSpPr txBox="1"/>
          <p:nvPr/>
        </p:nvSpPr>
        <p:spPr>
          <a:xfrm>
            <a:off x="838199" y="1260446"/>
            <a:ext cx="10876247" cy="923330"/>
          </a:xfrm>
          <a:prstGeom prst="rect">
            <a:avLst/>
          </a:prstGeom>
          <a:noFill/>
        </p:spPr>
        <p:txBody>
          <a:bodyPr wrap="none" rtlCol="0">
            <a:spAutoFit/>
          </a:bodyPr>
          <a:lstStyle/>
          <a:p>
            <a:r>
              <a:rPr lang="en-US" b="1" dirty="0"/>
              <a:t>(III) </a:t>
            </a:r>
            <a:r>
              <a:rPr lang="en-US" dirty="0"/>
              <a:t>In a MIPS multi-cycle floating point pipeline that supports operand forwarding, there will be 7 stalls between a </a:t>
            </a:r>
          </a:p>
          <a:p>
            <a:r>
              <a:rPr lang="en-US" dirty="0"/>
              <a:t>pair of adjacent MUL instructions that has a RAW dependency between them. </a:t>
            </a:r>
            <a:r>
              <a:rPr lang="en-US" b="1" dirty="0"/>
              <a:t>FALSE</a:t>
            </a:r>
            <a:endParaRPr lang="en-US" dirty="0"/>
          </a:p>
          <a:p>
            <a:endParaRPr lang="en-IN" b="1" dirty="0"/>
          </a:p>
        </p:txBody>
      </p:sp>
    </p:spTree>
    <p:extLst>
      <p:ext uri="{BB962C8B-B14F-4D97-AF65-F5344CB8AC3E}">
        <p14:creationId xmlns:p14="http://schemas.microsoft.com/office/powerpoint/2010/main" val="1737272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C234-0A45-6515-9AB9-6F8AD7456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D52DD-D1C6-FD82-EC7B-AEE4CFE0A5EA}"/>
              </a:ext>
            </a:extLst>
          </p:cNvPr>
          <p:cNvSpPr>
            <a:spLocks noGrp="1"/>
          </p:cNvSpPr>
          <p:nvPr>
            <p:ph type="title"/>
          </p:nvPr>
        </p:nvSpPr>
        <p:spPr>
          <a:xfrm>
            <a:off x="838200" y="365126"/>
            <a:ext cx="10515600" cy="726256"/>
          </a:xfrm>
        </p:spPr>
        <p:txBody>
          <a:bodyPr>
            <a:normAutofit/>
          </a:bodyPr>
          <a:lstStyle/>
          <a:p>
            <a:r>
              <a:rPr lang="en-US" sz="3600" dirty="0"/>
              <a:t>(</a:t>
            </a:r>
            <a:r>
              <a:rPr lang="en-US" sz="3600" dirty="0" err="1"/>
              <a:t>p,q</a:t>
            </a:r>
            <a:r>
              <a:rPr lang="en-US" sz="3600" dirty="0"/>
              <a:t>) Type Branch Predictor</a:t>
            </a:r>
            <a:endParaRPr lang="en-IN" sz="3600" dirty="0"/>
          </a:p>
        </p:txBody>
      </p:sp>
      <p:sp>
        <p:nvSpPr>
          <p:cNvPr id="5" name="TextBox 4">
            <a:extLst>
              <a:ext uri="{FF2B5EF4-FFF2-40B4-BE49-F238E27FC236}">
                <a16:creationId xmlns:a16="http://schemas.microsoft.com/office/drawing/2014/main" id="{E8E12135-8EB4-A201-9DCB-2ABE3B67EDA5}"/>
              </a:ext>
            </a:extLst>
          </p:cNvPr>
          <p:cNvSpPr txBox="1"/>
          <p:nvPr/>
        </p:nvSpPr>
        <p:spPr>
          <a:xfrm>
            <a:off x="838199" y="1260446"/>
            <a:ext cx="11231729" cy="646331"/>
          </a:xfrm>
          <a:prstGeom prst="rect">
            <a:avLst/>
          </a:prstGeom>
          <a:noFill/>
        </p:spPr>
        <p:txBody>
          <a:bodyPr wrap="none" rtlCol="0">
            <a:spAutoFit/>
          </a:bodyPr>
          <a:lstStyle/>
          <a:p>
            <a:r>
              <a:rPr lang="en-US" b="1" dirty="0"/>
              <a:t>(IV) </a:t>
            </a:r>
            <a:r>
              <a:rPr lang="en-US" dirty="0"/>
              <a:t>A (2,3) type branch predictor uses the outcome of the last 2</a:t>
            </a:r>
            <a:r>
              <a:rPr lang="en-US" baseline="30000" dirty="0"/>
              <a:t>3</a:t>
            </a:r>
            <a:r>
              <a:rPr lang="en-US" dirty="0"/>
              <a:t> (8) branches to index into the BPB where each entry </a:t>
            </a:r>
          </a:p>
          <a:p>
            <a:r>
              <a:rPr lang="en-US" dirty="0"/>
              <a:t>has a 3-bit predictor.</a:t>
            </a:r>
          </a:p>
        </p:txBody>
      </p:sp>
    </p:spTree>
    <p:extLst>
      <p:ext uri="{BB962C8B-B14F-4D97-AF65-F5344CB8AC3E}">
        <p14:creationId xmlns:p14="http://schemas.microsoft.com/office/powerpoint/2010/main" val="1576180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5644-F6A5-33F5-F7F3-24D9EEAA0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B1EE8-6E15-0FC0-6D84-78327C32BB09}"/>
              </a:ext>
            </a:extLst>
          </p:cNvPr>
          <p:cNvSpPr>
            <a:spLocks noGrp="1"/>
          </p:cNvSpPr>
          <p:nvPr>
            <p:ph type="title"/>
          </p:nvPr>
        </p:nvSpPr>
        <p:spPr>
          <a:xfrm>
            <a:off x="838200" y="365126"/>
            <a:ext cx="10515600" cy="726256"/>
          </a:xfrm>
        </p:spPr>
        <p:txBody>
          <a:bodyPr>
            <a:normAutofit/>
          </a:bodyPr>
          <a:lstStyle/>
          <a:p>
            <a:pPr algn="just"/>
            <a:r>
              <a:rPr lang="en-US" sz="3600" dirty="0"/>
              <a:t>(</a:t>
            </a:r>
            <a:r>
              <a:rPr lang="en-US" sz="3600" dirty="0" err="1"/>
              <a:t>p,q</a:t>
            </a:r>
            <a:r>
              <a:rPr lang="en-US" sz="3600" dirty="0"/>
              <a:t>) Type Branch Predictor</a:t>
            </a:r>
            <a:endParaRPr lang="en-IN" sz="3600" dirty="0"/>
          </a:p>
        </p:txBody>
      </p:sp>
      <p:sp>
        <p:nvSpPr>
          <p:cNvPr id="5" name="TextBox 4">
            <a:extLst>
              <a:ext uri="{FF2B5EF4-FFF2-40B4-BE49-F238E27FC236}">
                <a16:creationId xmlns:a16="http://schemas.microsoft.com/office/drawing/2014/main" id="{D1CCA570-6542-1714-362F-79AD17CFB38C}"/>
              </a:ext>
            </a:extLst>
          </p:cNvPr>
          <p:cNvSpPr txBox="1"/>
          <p:nvPr/>
        </p:nvSpPr>
        <p:spPr>
          <a:xfrm>
            <a:off x="480134" y="1289943"/>
            <a:ext cx="11231729" cy="646331"/>
          </a:xfrm>
          <a:prstGeom prst="rect">
            <a:avLst/>
          </a:prstGeom>
          <a:noFill/>
        </p:spPr>
        <p:txBody>
          <a:bodyPr wrap="none" rtlCol="0">
            <a:spAutoFit/>
          </a:bodyPr>
          <a:lstStyle/>
          <a:p>
            <a:pPr algn="just"/>
            <a:r>
              <a:rPr lang="en-US" b="1" dirty="0"/>
              <a:t>(IV) </a:t>
            </a:r>
            <a:r>
              <a:rPr lang="en-US" dirty="0"/>
              <a:t>A (2,3) type branch predictor uses the outcome of the last 2</a:t>
            </a:r>
            <a:r>
              <a:rPr lang="en-US" baseline="30000" dirty="0"/>
              <a:t>3</a:t>
            </a:r>
            <a:r>
              <a:rPr lang="en-US" dirty="0"/>
              <a:t> (8) branches to index into the BPB where each entry </a:t>
            </a:r>
          </a:p>
          <a:p>
            <a:pPr algn="just"/>
            <a:r>
              <a:rPr lang="en-US" dirty="0"/>
              <a:t>has a 3-bit predictor. </a:t>
            </a:r>
            <a:r>
              <a:rPr lang="en-US" b="1" dirty="0"/>
              <a:t>FALSE</a:t>
            </a:r>
            <a:endParaRPr lang="en-US" dirty="0"/>
          </a:p>
        </p:txBody>
      </p:sp>
      <p:sp>
        <p:nvSpPr>
          <p:cNvPr id="4" name="Rectangle 1">
            <a:extLst>
              <a:ext uri="{FF2B5EF4-FFF2-40B4-BE49-F238E27FC236}">
                <a16:creationId xmlns:a16="http://schemas.microsoft.com/office/drawing/2014/main" id="{52043ADB-73D0-4134-9E49-7513C0874428}"/>
              </a:ext>
            </a:extLst>
          </p:cNvPr>
          <p:cNvSpPr>
            <a:spLocks noChangeArrowheads="1"/>
          </p:cNvSpPr>
          <p:nvPr/>
        </p:nvSpPr>
        <p:spPr bwMode="auto">
          <a:xfrm>
            <a:off x="600996" y="2345377"/>
            <a:ext cx="10990007"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B1C1D"/>
                </a:solidFill>
                <a:effectLst/>
                <a:latin typeface="Google Sans Text"/>
              </a:rPr>
              <a:t>A (</a:t>
            </a:r>
            <a:r>
              <a:rPr kumimoji="0" lang="en-US" altLang="en-US" sz="2000" b="0" i="0" u="none" strike="noStrike" cap="none" normalizeH="0" baseline="0" dirty="0" err="1">
                <a:ln>
                  <a:noFill/>
                </a:ln>
                <a:solidFill>
                  <a:srgbClr val="1B1C1D"/>
                </a:solidFill>
                <a:effectLst/>
                <a:latin typeface="Google Sans Text"/>
              </a:rPr>
              <a:t>p,q</a:t>
            </a:r>
            <a:r>
              <a:rPr kumimoji="0" lang="en-US" altLang="en-US" sz="2000" b="0" i="0" u="none" strike="noStrike" cap="none" normalizeH="0" baseline="0" dirty="0">
                <a:ln>
                  <a:noFill/>
                </a:ln>
                <a:solidFill>
                  <a:srgbClr val="1B1C1D"/>
                </a:solidFill>
                <a:effectLst/>
                <a:latin typeface="Google Sans Text"/>
              </a:rPr>
              <a:t>) type predictor uses the outcome of the last 'p' branches to index into the BPB.</a:t>
            </a:r>
            <a:r>
              <a:rPr kumimoji="0" lang="en-US" altLang="en-US" sz="2000" b="0" i="0" u="none" strike="noStrike" cap="none" normalizeH="0" dirty="0">
                <a:ln>
                  <a:noFill/>
                </a:ln>
                <a:solidFill>
                  <a:srgbClr val="1B1C1D"/>
                </a:solidFill>
                <a:effectLst/>
                <a:latin typeface="Google Sans Text"/>
              </a:rPr>
              <a:t> </a:t>
            </a:r>
            <a:br>
              <a:rPr kumimoji="0" lang="en-US" altLang="en-US" sz="2000" b="0" i="0" u="none" strike="noStrike" cap="none" normalizeH="0" dirty="0">
                <a:ln>
                  <a:noFill/>
                </a:ln>
                <a:solidFill>
                  <a:srgbClr val="1B1C1D"/>
                </a:solidFill>
                <a:effectLst/>
                <a:latin typeface="Google Sans Text"/>
              </a:rPr>
            </a:br>
            <a:r>
              <a:rPr kumimoji="0" lang="en-US" altLang="en-US" sz="2000" b="0" i="0" u="none" strike="noStrike" cap="none" normalizeH="0" baseline="0" dirty="0">
                <a:ln>
                  <a:noFill/>
                </a:ln>
                <a:solidFill>
                  <a:srgbClr val="1B1C1D"/>
                </a:solidFill>
                <a:effectLst/>
                <a:latin typeface="Google Sans Text"/>
              </a:rPr>
              <a:t>Each of the entries will be a q-bit predictor updated by a 2</a:t>
            </a:r>
            <a:r>
              <a:rPr kumimoji="0" lang="en-US" altLang="en-US" sz="2000" b="0" i="0" u="none" strike="noStrike" cap="none" normalizeH="0" baseline="30000" dirty="0">
                <a:ln>
                  <a:noFill/>
                </a:ln>
                <a:solidFill>
                  <a:srgbClr val="1B1C1D"/>
                </a:solidFill>
                <a:effectLst/>
                <a:latin typeface="Google Sans Text"/>
              </a:rPr>
              <a:t>q</a:t>
            </a:r>
            <a:r>
              <a:rPr kumimoji="0" lang="en-US" altLang="en-US" sz="2000" b="0" i="0" u="none" strike="noStrike" cap="none" normalizeH="0" baseline="0" dirty="0">
                <a:ln>
                  <a:noFill/>
                </a:ln>
                <a:solidFill>
                  <a:srgbClr val="1B1C1D"/>
                </a:solidFill>
                <a:effectLst/>
                <a:latin typeface="Google Sans Text"/>
              </a:rPr>
              <a:t> state finite state machine.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B1C1D"/>
              </a:solidFill>
              <a:effectLst/>
              <a:latin typeface="Google Sans Tex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B1C1D"/>
                </a:solidFill>
                <a:effectLst/>
                <a:latin typeface="Google Sans Text"/>
              </a:rPr>
              <a:t>Therefore, (2, 3) type branch predictor uses the outcome of the last 2 branches to index </a:t>
            </a:r>
            <a:br>
              <a:rPr kumimoji="0" lang="en-US" altLang="en-US" sz="2000" b="0" i="0" u="none" strike="noStrike" cap="none" normalizeH="0" baseline="0" dirty="0">
                <a:ln>
                  <a:noFill/>
                </a:ln>
                <a:solidFill>
                  <a:srgbClr val="1B1C1D"/>
                </a:solidFill>
                <a:effectLst/>
                <a:latin typeface="Google Sans Text"/>
              </a:rPr>
            </a:br>
            <a:r>
              <a:rPr kumimoji="0" lang="en-US" altLang="en-US" sz="2000" b="0" i="0" u="none" strike="noStrike" cap="none" normalizeH="0" baseline="0" dirty="0">
                <a:ln>
                  <a:noFill/>
                </a:ln>
                <a:solidFill>
                  <a:srgbClr val="1B1C1D"/>
                </a:solidFill>
                <a:effectLst/>
                <a:latin typeface="Google Sans Text"/>
              </a:rPr>
              <a:t>into the BPB where each entry has a 3-bit predictor. (NN, NT, TN, TT)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1B1C1D"/>
              </a:solidFill>
              <a:effectLst/>
              <a:latin typeface="Google Sans Tex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B1C1D"/>
                </a:solidFill>
                <a:effectLst/>
                <a:latin typeface="Google Sans Text"/>
              </a:rPr>
              <a:t>Hence the statement: "A (2,3) type branch predictor uses the outcome of the last </a:t>
            </a:r>
            <a:r>
              <a:rPr kumimoji="0" lang="en-US" altLang="en-US" sz="2000" b="0" i="0" u="none" strike="noStrike" cap="none" normalizeH="0" baseline="0" dirty="0">
                <a:ln>
                  <a:noFill/>
                </a:ln>
                <a:solidFill>
                  <a:srgbClr val="FF0000"/>
                </a:solidFill>
                <a:effectLst/>
                <a:latin typeface="Google Sans Text"/>
              </a:rPr>
              <a:t>2</a:t>
            </a:r>
            <a:r>
              <a:rPr kumimoji="0" lang="en-US" altLang="en-US" sz="2000" b="0" i="0" u="none" strike="noStrike" cap="none" normalizeH="0" baseline="30000" dirty="0">
                <a:ln>
                  <a:noFill/>
                </a:ln>
                <a:solidFill>
                  <a:srgbClr val="FF0000"/>
                </a:solidFill>
                <a:effectLst/>
                <a:latin typeface="Google Sans Text"/>
              </a:rPr>
              <a:t>3</a:t>
            </a:r>
            <a:r>
              <a:rPr kumimoji="0" lang="en-US" altLang="en-US" sz="2000" b="0" i="0" u="none" strike="noStrike" cap="none" normalizeH="0" baseline="0" dirty="0">
                <a:ln>
                  <a:noFill/>
                </a:ln>
                <a:solidFill>
                  <a:srgbClr val="FF0000"/>
                </a:solidFill>
                <a:effectLst/>
                <a:latin typeface="Google Sans Text"/>
              </a:rPr>
              <a:t> (8)</a:t>
            </a:r>
            <a:r>
              <a:rPr kumimoji="0" lang="en-US" altLang="en-US" sz="2000" b="0" i="0" u="none" strike="noStrike" cap="none" normalizeH="0" baseline="0" dirty="0">
                <a:ln>
                  <a:noFill/>
                </a:ln>
                <a:solidFill>
                  <a:srgbClr val="1B1C1D"/>
                </a:solidFill>
                <a:effectLst/>
                <a:latin typeface="Google Sans Text"/>
              </a:rPr>
              <a:t> </a:t>
            </a:r>
            <a:br>
              <a:rPr kumimoji="0" lang="en-US" altLang="en-US" sz="2000" b="0" i="0" u="none" strike="noStrike" cap="none" normalizeH="0" baseline="0" dirty="0">
                <a:ln>
                  <a:noFill/>
                </a:ln>
                <a:solidFill>
                  <a:srgbClr val="1B1C1D"/>
                </a:solidFill>
                <a:effectLst/>
                <a:latin typeface="Google Sans Text"/>
              </a:rPr>
            </a:br>
            <a:r>
              <a:rPr kumimoji="0" lang="en-US" altLang="en-US" sz="2000" b="0" i="0" u="none" strike="noStrike" cap="none" normalizeH="0" baseline="0" dirty="0">
                <a:ln>
                  <a:noFill/>
                </a:ln>
                <a:solidFill>
                  <a:srgbClr val="1B1C1D"/>
                </a:solidFill>
                <a:effectLst/>
                <a:latin typeface="Google Sans Text"/>
              </a:rPr>
              <a:t>branches to index into the BPB where each entry has a 3-bit predictor" </a:t>
            </a:r>
            <a:r>
              <a:rPr kumimoji="0" lang="en-US" altLang="en-US" sz="2000" b="0" i="0" u="none" strike="noStrike" cap="none" normalizeH="0" baseline="0" dirty="0">
                <a:ln>
                  <a:noFill/>
                </a:ln>
                <a:solidFill>
                  <a:srgbClr val="FF0000"/>
                </a:solidFill>
                <a:effectLst/>
                <a:latin typeface="Google Sans Text"/>
              </a:rPr>
              <a:t>is wrong</a:t>
            </a:r>
            <a:r>
              <a:rPr kumimoji="0" lang="en-US" altLang="en-US" sz="2000" b="0" i="0" u="none" strike="noStrike" cap="none" normalizeH="0" baseline="0" dirty="0">
                <a:ln>
                  <a:noFill/>
                </a:ln>
                <a:solidFill>
                  <a:srgbClr val="1B1C1D"/>
                </a:solidFill>
                <a:effectLst/>
                <a:latin typeface="Google Sans Tex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1733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629F-FAE0-5F66-0BD8-64FBFF302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5B119-521C-7553-D56F-6DE92A84653E}"/>
              </a:ext>
            </a:extLst>
          </p:cNvPr>
          <p:cNvSpPr>
            <a:spLocks noGrp="1"/>
          </p:cNvSpPr>
          <p:nvPr>
            <p:ph type="title"/>
          </p:nvPr>
        </p:nvSpPr>
        <p:spPr/>
        <p:txBody>
          <a:bodyPr/>
          <a:lstStyle/>
          <a:p>
            <a:r>
              <a:rPr lang="en-US" dirty="0"/>
              <a:t>TRUE/FALSE</a:t>
            </a:r>
            <a:endParaRPr lang="en-IN" dirty="0"/>
          </a:p>
        </p:txBody>
      </p:sp>
      <p:sp>
        <p:nvSpPr>
          <p:cNvPr id="3" name="Content Placeholder 2">
            <a:extLst>
              <a:ext uri="{FF2B5EF4-FFF2-40B4-BE49-F238E27FC236}">
                <a16:creationId xmlns:a16="http://schemas.microsoft.com/office/drawing/2014/main" id="{2DC7A985-A057-B72B-5E9F-2A05E2F7EE2D}"/>
              </a:ext>
            </a:extLst>
          </p:cNvPr>
          <p:cNvSpPr>
            <a:spLocks noGrp="1"/>
          </p:cNvSpPr>
          <p:nvPr>
            <p:ph idx="1"/>
          </p:nvPr>
        </p:nvSpPr>
        <p:spPr/>
        <p:txBody>
          <a:bodyPr>
            <a:noAutofit/>
          </a:bodyPr>
          <a:lstStyle/>
          <a:p>
            <a:pPr marL="0" indent="0">
              <a:buNone/>
            </a:pPr>
            <a:r>
              <a:rPr lang="en-US" sz="1600" dirty="0"/>
              <a:t>Which of the following statements is/are FALSE?</a:t>
            </a:r>
          </a:p>
          <a:p>
            <a:pPr marL="0" indent="0">
              <a:buNone/>
            </a:pPr>
            <a:r>
              <a:rPr lang="en-US" sz="1600" dirty="0"/>
              <a:t>(I) For a MIPS multi-cycle floating point pipeline the initiation interval of FP-</a:t>
            </a:r>
            <a:r>
              <a:rPr lang="en-US" sz="1600" dirty="0" err="1"/>
              <a:t>mul</a:t>
            </a:r>
            <a:r>
              <a:rPr lang="en-US" sz="1600" dirty="0"/>
              <a:t> is larger than that of FP-add</a:t>
            </a:r>
          </a:p>
          <a:p>
            <a:pPr marL="0" indent="0">
              <a:buNone/>
            </a:pPr>
            <a:r>
              <a:rPr lang="en-US" sz="1600" dirty="0"/>
              <a:t>(II) WAW hazard cannot happen in a MIPS multi-cycle floating point pipeline.</a:t>
            </a:r>
          </a:p>
          <a:p>
            <a:pPr marL="0" indent="0">
              <a:buNone/>
            </a:pPr>
            <a:r>
              <a:rPr lang="en-US" sz="1600" dirty="0"/>
              <a:t>(III) In a MIPS multi-cycle floating point pipeline that supports operand forwarding, there will be 7 stalls between a pair of adjacent MUL instructions that has a RAW dependency between them.</a:t>
            </a:r>
          </a:p>
          <a:p>
            <a:pPr marL="0" indent="0">
              <a:buNone/>
            </a:pPr>
            <a:r>
              <a:rPr lang="en-US" sz="1600" dirty="0"/>
              <a:t>(IV) A (2,3) type branch predictor uses the outcome of the last 2</a:t>
            </a:r>
            <a:r>
              <a:rPr lang="en-US" sz="1600" baseline="30000" dirty="0"/>
              <a:t>3</a:t>
            </a:r>
            <a:r>
              <a:rPr lang="en-US" sz="1600" dirty="0"/>
              <a:t> (8) branches to index into the BPB where each entry has a 3-bit predictor.</a:t>
            </a:r>
          </a:p>
          <a:p>
            <a:pPr marL="0" indent="0">
              <a:buNone/>
            </a:pPr>
            <a:endParaRPr lang="en-US" sz="1600" dirty="0"/>
          </a:p>
          <a:p>
            <a:pPr marL="0" indent="0">
              <a:buNone/>
            </a:pPr>
            <a:r>
              <a:rPr lang="en-US" sz="1600" dirty="0"/>
              <a:t>(A) III only</a:t>
            </a:r>
          </a:p>
          <a:p>
            <a:pPr marL="0" indent="0">
              <a:buNone/>
            </a:pPr>
            <a:r>
              <a:rPr lang="en-US" sz="1600" dirty="0"/>
              <a:t>(B) I only</a:t>
            </a:r>
          </a:p>
          <a:p>
            <a:pPr marL="0" indent="0">
              <a:buNone/>
            </a:pPr>
            <a:r>
              <a:rPr lang="en-US" sz="1600" dirty="0"/>
              <a:t>(C) I &amp; IV only</a:t>
            </a:r>
          </a:p>
          <a:p>
            <a:pPr marL="0" indent="0">
              <a:buNone/>
            </a:pPr>
            <a:r>
              <a:rPr lang="en-US" sz="1600" dirty="0"/>
              <a:t>(D) </a:t>
            </a:r>
            <a:r>
              <a:rPr lang="en-US" sz="1600" dirty="0">
                <a:solidFill>
                  <a:schemeClr val="accent6"/>
                </a:solidFill>
              </a:rPr>
              <a:t>I, II, III &amp; IV</a:t>
            </a:r>
            <a:endParaRPr lang="en-IN" sz="1600" dirty="0">
              <a:solidFill>
                <a:schemeClr val="accent6"/>
              </a:solidFill>
            </a:endParaRPr>
          </a:p>
        </p:txBody>
      </p:sp>
    </p:spTree>
    <p:extLst>
      <p:ext uri="{BB962C8B-B14F-4D97-AF65-F5344CB8AC3E}">
        <p14:creationId xmlns:p14="http://schemas.microsoft.com/office/powerpoint/2010/main" val="166637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C0DA2-9A03-5E27-629E-8472201A5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5A657-CB96-118A-969B-1F48332B47EF}"/>
              </a:ext>
            </a:extLst>
          </p:cNvPr>
          <p:cNvSpPr>
            <a:spLocks noGrp="1"/>
          </p:cNvSpPr>
          <p:nvPr>
            <p:ph type="title"/>
          </p:nvPr>
        </p:nvSpPr>
        <p:spPr/>
        <p:txBody>
          <a:bodyPr/>
          <a:lstStyle/>
          <a:p>
            <a:r>
              <a:rPr lang="en-US" dirty="0"/>
              <a:t>Branch Prediction</a:t>
            </a:r>
            <a:endParaRPr lang="en-IN" dirty="0"/>
          </a:p>
        </p:txBody>
      </p:sp>
      <p:sp>
        <p:nvSpPr>
          <p:cNvPr id="3" name="Content Placeholder 2">
            <a:extLst>
              <a:ext uri="{FF2B5EF4-FFF2-40B4-BE49-F238E27FC236}">
                <a16:creationId xmlns:a16="http://schemas.microsoft.com/office/drawing/2014/main" id="{77B0A543-88C6-10A2-1A02-7B42224BAFA8}"/>
              </a:ext>
            </a:extLst>
          </p:cNvPr>
          <p:cNvSpPr>
            <a:spLocks noGrp="1"/>
          </p:cNvSpPr>
          <p:nvPr>
            <p:ph idx="1"/>
          </p:nvPr>
        </p:nvSpPr>
        <p:spPr/>
        <p:txBody>
          <a:bodyPr>
            <a:noAutofit/>
          </a:bodyPr>
          <a:lstStyle/>
          <a:p>
            <a:pPr marL="0" indent="0" algn="just">
              <a:buNone/>
            </a:pPr>
            <a:r>
              <a:rPr lang="en-US" sz="2000" dirty="0"/>
              <a:t>Consider the last 16 actual outcomes of a single static branch. T means branch is taken and N means not taken.</a:t>
            </a:r>
          </a:p>
          <a:p>
            <a:pPr marL="0" indent="0" algn="just">
              <a:buNone/>
            </a:pPr>
            <a:r>
              <a:rPr lang="en-US" sz="2000" dirty="0"/>
              <a:t>{oldest -&gt; T </a:t>
            </a:r>
            <a:r>
              <a:rPr lang="en-US" sz="2000" dirty="0" err="1"/>
              <a:t>T</a:t>
            </a:r>
            <a:r>
              <a:rPr lang="en-US" sz="2000" dirty="0"/>
              <a:t> N </a:t>
            </a:r>
            <a:r>
              <a:rPr lang="en-US" sz="2000" dirty="0" err="1"/>
              <a:t>N</a:t>
            </a:r>
            <a:r>
              <a:rPr lang="en-US" sz="2000" dirty="0"/>
              <a:t> T N T </a:t>
            </a:r>
            <a:r>
              <a:rPr lang="en-US" sz="2000" dirty="0" err="1"/>
              <a:t>T</a:t>
            </a:r>
            <a:r>
              <a:rPr lang="en-US" sz="2000" dirty="0"/>
              <a:t> </a:t>
            </a:r>
            <a:r>
              <a:rPr lang="en-US" sz="2000" dirty="0" err="1"/>
              <a:t>T</a:t>
            </a:r>
            <a:r>
              <a:rPr lang="en-US" sz="2000" dirty="0"/>
              <a:t> N T N T </a:t>
            </a:r>
            <a:r>
              <a:rPr lang="en-US" sz="2000" dirty="0" err="1"/>
              <a:t>T</a:t>
            </a:r>
            <a:r>
              <a:rPr lang="en-US" sz="2000" dirty="0"/>
              <a:t> N T &lt;- latest}</a:t>
            </a:r>
          </a:p>
          <a:p>
            <a:pPr marL="0" indent="0" algn="just">
              <a:buNone/>
            </a:pPr>
            <a:r>
              <a:rPr lang="en-US" sz="2000" dirty="0"/>
              <a:t>A two level branch predictor of (1,2) type is used. Since there is only one branch in the program indexing to BHT with PC is irrelevant. Hence only last branch outcome only is used to index to the BHT. How many mis-predictions are there and which of the branches in this sequence would be mis-predicted? Fill up the table for 16 branch outcomes.</a:t>
            </a:r>
            <a:endParaRPr lang="en-IN" sz="2000" dirty="0"/>
          </a:p>
        </p:txBody>
      </p:sp>
    </p:spTree>
    <p:extLst>
      <p:ext uri="{BB962C8B-B14F-4D97-AF65-F5344CB8AC3E}">
        <p14:creationId xmlns:p14="http://schemas.microsoft.com/office/powerpoint/2010/main" val="1835584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417DB-2D97-B547-11CB-CFC442D0D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889B0-C963-2B11-565E-8DCE892E9494}"/>
              </a:ext>
            </a:extLst>
          </p:cNvPr>
          <p:cNvSpPr>
            <a:spLocks noGrp="1"/>
          </p:cNvSpPr>
          <p:nvPr>
            <p:ph type="title"/>
          </p:nvPr>
        </p:nvSpPr>
        <p:spPr/>
        <p:txBody>
          <a:bodyPr/>
          <a:lstStyle/>
          <a:p>
            <a:r>
              <a:rPr lang="en-US" dirty="0"/>
              <a:t>Branch Prediction</a:t>
            </a:r>
            <a:endParaRPr lang="en-IN" dirty="0"/>
          </a:p>
        </p:txBody>
      </p:sp>
      <p:sp>
        <p:nvSpPr>
          <p:cNvPr id="3" name="Content Placeholder 2">
            <a:extLst>
              <a:ext uri="{FF2B5EF4-FFF2-40B4-BE49-F238E27FC236}">
                <a16:creationId xmlns:a16="http://schemas.microsoft.com/office/drawing/2014/main" id="{3D1E6824-1FBE-B4AF-438B-5199FDBABE1B}"/>
              </a:ext>
            </a:extLst>
          </p:cNvPr>
          <p:cNvSpPr>
            <a:spLocks noGrp="1"/>
          </p:cNvSpPr>
          <p:nvPr>
            <p:ph idx="1"/>
          </p:nvPr>
        </p:nvSpPr>
        <p:spPr/>
        <p:txBody>
          <a:bodyPr>
            <a:noAutofit/>
          </a:bodyPr>
          <a:lstStyle/>
          <a:p>
            <a:pPr marL="0" indent="0" algn="just">
              <a:buNone/>
            </a:pPr>
            <a:r>
              <a:rPr lang="en-US" sz="2000" dirty="0"/>
              <a:t>Consider the last 16 actual outcomes of a single static branch. T means branch is taken and N means not taken.</a:t>
            </a:r>
          </a:p>
          <a:p>
            <a:pPr marL="0" indent="0" algn="just">
              <a:buNone/>
            </a:pPr>
            <a:r>
              <a:rPr lang="en-US" sz="2000" dirty="0"/>
              <a:t>{oldest -&gt; T </a:t>
            </a:r>
            <a:r>
              <a:rPr lang="en-US" sz="2000" dirty="0" err="1"/>
              <a:t>T</a:t>
            </a:r>
            <a:r>
              <a:rPr lang="en-US" sz="2000" dirty="0"/>
              <a:t> N </a:t>
            </a:r>
            <a:r>
              <a:rPr lang="en-US" sz="2000" dirty="0" err="1"/>
              <a:t>N</a:t>
            </a:r>
            <a:r>
              <a:rPr lang="en-US" sz="2000" dirty="0"/>
              <a:t> T N T </a:t>
            </a:r>
            <a:r>
              <a:rPr lang="en-US" sz="2000" dirty="0" err="1"/>
              <a:t>T</a:t>
            </a:r>
            <a:r>
              <a:rPr lang="en-US" sz="2000" dirty="0"/>
              <a:t> </a:t>
            </a:r>
            <a:r>
              <a:rPr lang="en-US" sz="2000" dirty="0" err="1"/>
              <a:t>T</a:t>
            </a:r>
            <a:r>
              <a:rPr lang="en-US" sz="2000" dirty="0"/>
              <a:t> N T N T </a:t>
            </a:r>
            <a:r>
              <a:rPr lang="en-US" sz="2000" dirty="0" err="1"/>
              <a:t>T</a:t>
            </a:r>
            <a:r>
              <a:rPr lang="en-US" sz="2000" dirty="0"/>
              <a:t> N T &lt;- latest}</a:t>
            </a:r>
          </a:p>
          <a:p>
            <a:pPr marL="0" indent="0" algn="just">
              <a:buNone/>
            </a:pPr>
            <a:r>
              <a:rPr lang="en-US" sz="2000" dirty="0"/>
              <a:t>A two level branch predictor of (1,2) type is used. Since there is only one branch in the program indexing to BHT with PC is irrelevant. Hence only last branch outcome only is used to index to the BHT. How many mis-predictions are there and which of the branches in this sequence would be mis-predicted? Fill up the table for 16 branch outcomes.</a:t>
            </a:r>
            <a:endParaRPr lang="en-IN" sz="2000" dirty="0"/>
          </a:p>
        </p:txBody>
      </p:sp>
      <p:pic>
        <p:nvPicPr>
          <p:cNvPr id="6" name="Picture 5">
            <a:extLst>
              <a:ext uri="{FF2B5EF4-FFF2-40B4-BE49-F238E27FC236}">
                <a16:creationId xmlns:a16="http://schemas.microsoft.com/office/drawing/2014/main" id="{7E4AA9EB-F750-6BC4-F064-C8649F5D5BEA}"/>
              </a:ext>
            </a:extLst>
          </p:cNvPr>
          <p:cNvPicPr>
            <a:picLocks noChangeAspect="1"/>
          </p:cNvPicPr>
          <p:nvPr/>
        </p:nvPicPr>
        <p:blipFill>
          <a:blip r:embed="rId2"/>
          <a:stretch>
            <a:fillRect/>
          </a:stretch>
        </p:blipFill>
        <p:spPr>
          <a:xfrm>
            <a:off x="3506672" y="4159966"/>
            <a:ext cx="5178656" cy="2332909"/>
          </a:xfrm>
          <a:prstGeom prst="rect">
            <a:avLst/>
          </a:prstGeom>
        </p:spPr>
      </p:pic>
    </p:spTree>
    <p:extLst>
      <p:ext uri="{BB962C8B-B14F-4D97-AF65-F5344CB8AC3E}">
        <p14:creationId xmlns:p14="http://schemas.microsoft.com/office/powerpoint/2010/main" val="3186741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272B5-2D88-087D-E883-8EBC55AC23B1}"/>
            </a:ext>
          </a:extLst>
        </p:cNvPr>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0BD8FF9E-3F2C-BEA3-B1D6-1B81170F5432}"/>
              </a:ext>
            </a:extLst>
          </p:cNvPr>
          <p:cNvGraphicFramePr>
            <a:graphicFrameLocks noGrp="1"/>
          </p:cNvGraphicFramePr>
          <p:nvPr>
            <p:ph idx="1"/>
            <p:extLst>
              <p:ext uri="{D42A27DB-BD31-4B8C-83A1-F6EECF244321}">
                <p14:modId xmlns:p14="http://schemas.microsoft.com/office/powerpoint/2010/main" val="1863438019"/>
              </p:ext>
            </p:extLst>
          </p:nvPr>
        </p:nvGraphicFramePr>
        <p:xfrm>
          <a:off x="822222" y="276860"/>
          <a:ext cx="10547556" cy="6304280"/>
        </p:xfrm>
        <a:graphic>
          <a:graphicData uri="http://schemas.openxmlformats.org/drawingml/2006/table">
            <a:tbl>
              <a:tblPr firstRow="1" bandRow="1">
                <a:tableStyleId>{5C22544A-7EE6-4342-B048-85BDC9FD1C3A}</a:tableStyleId>
              </a:tblPr>
              <a:tblGrid>
                <a:gridCol w="1757926">
                  <a:extLst>
                    <a:ext uri="{9D8B030D-6E8A-4147-A177-3AD203B41FA5}">
                      <a16:colId xmlns:a16="http://schemas.microsoft.com/office/drawing/2014/main" val="1489556079"/>
                    </a:ext>
                  </a:extLst>
                </a:gridCol>
                <a:gridCol w="1757926">
                  <a:extLst>
                    <a:ext uri="{9D8B030D-6E8A-4147-A177-3AD203B41FA5}">
                      <a16:colId xmlns:a16="http://schemas.microsoft.com/office/drawing/2014/main" val="671980995"/>
                    </a:ext>
                  </a:extLst>
                </a:gridCol>
                <a:gridCol w="1757926">
                  <a:extLst>
                    <a:ext uri="{9D8B030D-6E8A-4147-A177-3AD203B41FA5}">
                      <a16:colId xmlns:a16="http://schemas.microsoft.com/office/drawing/2014/main" val="299270352"/>
                    </a:ext>
                  </a:extLst>
                </a:gridCol>
                <a:gridCol w="1757926">
                  <a:extLst>
                    <a:ext uri="{9D8B030D-6E8A-4147-A177-3AD203B41FA5}">
                      <a16:colId xmlns:a16="http://schemas.microsoft.com/office/drawing/2014/main" val="3912483259"/>
                    </a:ext>
                  </a:extLst>
                </a:gridCol>
                <a:gridCol w="1757926">
                  <a:extLst>
                    <a:ext uri="{9D8B030D-6E8A-4147-A177-3AD203B41FA5}">
                      <a16:colId xmlns:a16="http://schemas.microsoft.com/office/drawing/2014/main" val="357101472"/>
                    </a:ext>
                  </a:extLst>
                </a:gridCol>
                <a:gridCol w="1757926">
                  <a:extLst>
                    <a:ext uri="{9D8B030D-6E8A-4147-A177-3AD203B41FA5}">
                      <a16:colId xmlns:a16="http://schemas.microsoft.com/office/drawing/2014/main" val="2517560705"/>
                    </a:ext>
                  </a:extLst>
                </a:gridCol>
              </a:tblGrid>
              <a:tr h="370840">
                <a:tc>
                  <a:txBody>
                    <a:bodyPr/>
                    <a:lstStyle/>
                    <a:p>
                      <a:r>
                        <a:rPr lang="en-US" dirty="0"/>
                        <a:t>Sl. No</a:t>
                      </a:r>
                      <a:endParaRPr lang="en-IN" dirty="0"/>
                    </a:p>
                  </a:txBody>
                  <a:tcPr/>
                </a:tc>
                <a:tc>
                  <a:txBody>
                    <a:bodyPr/>
                    <a:lstStyle/>
                    <a:p>
                      <a:r>
                        <a:rPr lang="en-US" dirty="0"/>
                        <a:t>Last Outcome</a:t>
                      </a:r>
                      <a:endParaRPr lang="en-IN" dirty="0"/>
                    </a:p>
                  </a:txBody>
                  <a:tcPr/>
                </a:tc>
                <a:tc>
                  <a:txBody>
                    <a:bodyPr/>
                    <a:lstStyle/>
                    <a:p>
                      <a:r>
                        <a:rPr lang="en-US" dirty="0"/>
                        <a:t>BHT N/T</a:t>
                      </a:r>
                      <a:endParaRPr lang="en-IN" dirty="0"/>
                    </a:p>
                  </a:txBody>
                  <a:tcPr/>
                </a:tc>
                <a:tc>
                  <a:txBody>
                    <a:bodyPr/>
                    <a:lstStyle/>
                    <a:p>
                      <a:r>
                        <a:rPr lang="en-US" dirty="0"/>
                        <a:t>Prediction</a:t>
                      </a:r>
                      <a:endParaRPr lang="en-IN" dirty="0"/>
                    </a:p>
                  </a:txBody>
                  <a:tcPr/>
                </a:tc>
                <a:tc>
                  <a:txBody>
                    <a:bodyPr/>
                    <a:lstStyle/>
                    <a:p>
                      <a:r>
                        <a:rPr lang="en-US" dirty="0"/>
                        <a:t>Outcome</a:t>
                      </a:r>
                      <a:endParaRPr lang="en-IN" dirty="0"/>
                    </a:p>
                  </a:txBody>
                  <a:tcPr/>
                </a:tc>
                <a:tc>
                  <a:txBody>
                    <a:bodyPr/>
                    <a:lstStyle/>
                    <a:p>
                      <a:r>
                        <a:rPr lang="en-US" dirty="0"/>
                        <a:t>Mis-Pre Y/N ?</a:t>
                      </a:r>
                      <a:endParaRPr lang="en-IN" dirty="0"/>
                    </a:p>
                  </a:txBody>
                  <a:tcPr/>
                </a:tc>
                <a:extLst>
                  <a:ext uri="{0D108BD9-81ED-4DB2-BD59-A6C34878D82A}">
                    <a16:rowId xmlns:a16="http://schemas.microsoft.com/office/drawing/2014/main" val="3311626821"/>
                  </a:ext>
                </a:extLst>
              </a:tr>
              <a:tr h="370840">
                <a:tc>
                  <a:txBody>
                    <a:bodyPr/>
                    <a:lstStyle/>
                    <a:p>
                      <a:r>
                        <a:rPr lang="en-US" dirty="0"/>
                        <a:t>1</a:t>
                      </a:r>
                      <a:endParaRPr lang="en-IN" dirty="0"/>
                    </a:p>
                  </a:txBody>
                  <a:tcPr/>
                </a:tc>
                <a:tc>
                  <a:txBody>
                    <a:bodyPr/>
                    <a:lstStyle/>
                    <a:p>
                      <a:r>
                        <a:rPr lang="en-US" dirty="0"/>
                        <a:t>N (initial)</a:t>
                      </a:r>
                      <a:endParaRPr lang="en-IN" dirty="0"/>
                    </a:p>
                  </a:txBody>
                  <a:tcPr/>
                </a:tc>
                <a:tc>
                  <a:txBody>
                    <a:bodyPr/>
                    <a:lstStyle/>
                    <a:p>
                      <a:r>
                        <a:rPr lang="en-US" dirty="0">
                          <a:solidFill>
                            <a:srgbClr val="FF0000"/>
                          </a:solidFill>
                        </a:rPr>
                        <a:t>00</a:t>
                      </a:r>
                      <a:r>
                        <a:rPr lang="en-US" dirty="0"/>
                        <a:t> / 01</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3333663344"/>
                  </a:ext>
                </a:extLst>
              </a:tr>
              <a:tr h="370840">
                <a:tc>
                  <a:txBody>
                    <a:bodyPr/>
                    <a:lstStyle/>
                    <a:p>
                      <a:r>
                        <a:rPr lang="en-US" dirty="0"/>
                        <a:t>2</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3857396969"/>
                  </a:ext>
                </a:extLst>
              </a:tr>
              <a:tr h="370840">
                <a:tc>
                  <a:txBody>
                    <a:bodyPr/>
                    <a:lstStyle/>
                    <a:p>
                      <a:r>
                        <a:rPr lang="en-US" dirty="0"/>
                        <a:t>3</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547093189"/>
                  </a:ext>
                </a:extLst>
              </a:tr>
              <a:tr h="370840">
                <a:tc>
                  <a:txBody>
                    <a:bodyPr/>
                    <a:lstStyle/>
                    <a:p>
                      <a:r>
                        <a:rPr lang="en-US" dirty="0"/>
                        <a:t>4</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3862912498"/>
                  </a:ext>
                </a:extLst>
              </a:tr>
              <a:tr h="370840">
                <a:tc>
                  <a:txBody>
                    <a:bodyPr/>
                    <a:lstStyle/>
                    <a:p>
                      <a:r>
                        <a:rPr lang="en-US" dirty="0"/>
                        <a:t>5</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772775599"/>
                  </a:ext>
                </a:extLst>
              </a:tr>
              <a:tr h="370840">
                <a:tc>
                  <a:txBody>
                    <a:bodyPr/>
                    <a:lstStyle/>
                    <a:p>
                      <a:r>
                        <a:rPr lang="en-US" dirty="0"/>
                        <a:t>6</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8546496"/>
                  </a:ext>
                </a:extLst>
              </a:tr>
              <a:tr h="370840">
                <a:tc>
                  <a:txBody>
                    <a:bodyPr/>
                    <a:lstStyle/>
                    <a:p>
                      <a:r>
                        <a:rPr lang="en-US" dirty="0"/>
                        <a:t>7</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70587842"/>
                  </a:ext>
                </a:extLst>
              </a:tr>
              <a:tr h="370840">
                <a:tc>
                  <a:txBody>
                    <a:bodyPr/>
                    <a:lstStyle/>
                    <a:p>
                      <a:r>
                        <a:rPr lang="en-US" dirty="0"/>
                        <a:t>8</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895641581"/>
                  </a:ext>
                </a:extLst>
              </a:tr>
              <a:tr h="370840">
                <a:tc>
                  <a:txBody>
                    <a:bodyPr/>
                    <a:lstStyle/>
                    <a:p>
                      <a:r>
                        <a:rPr lang="en-US" dirty="0"/>
                        <a:t>9</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819919453"/>
                  </a:ext>
                </a:extLst>
              </a:tr>
              <a:tr h="370840">
                <a:tc>
                  <a:txBody>
                    <a:bodyPr/>
                    <a:lstStyle/>
                    <a:p>
                      <a:r>
                        <a:rPr lang="en-US" dirty="0"/>
                        <a:t>10</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9680503"/>
                  </a:ext>
                </a:extLst>
              </a:tr>
              <a:tr h="370840">
                <a:tc>
                  <a:txBody>
                    <a:bodyPr/>
                    <a:lstStyle/>
                    <a:p>
                      <a:r>
                        <a:rPr lang="en-US" dirty="0"/>
                        <a:t>11</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2882846958"/>
                  </a:ext>
                </a:extLst>
              </a:tr>
              <a:tr h="370840">
                <a:tc>
                  <a:txBody>
                    <a:bodyPr/>
                    <a:lstStyle/>
                    <a:p>
                      <a:r>
                        <a:rPr lang="en-US" dirty="0"/>
                        <a:t>12</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929993789"/>
                  </a:ext>
                </a:extLst>
              </a:tr>
              <a:tr h="370840">
                <a:tc>
                  <a:txBody>
                    <a:bodyPr/>
                    <a:lstStyle/>
                    <a:p>
                      <a:r>
                        <a:rPr lang="en-US" dirty="0"/>
                        <a:t>13</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1360394592"/>
                  </a:ext>
                </a:extLst>
              </a:tr>
              <a:tr h="370840">
                <a:tc>
                  <a:txBody>
                    <a:bodyPr/>
                    <a:lstStyle/>
                    <a:p>
                      <a:r>
                        <a:rPr lang="en-US" dirty="0"/>
                        <a:t>14</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57701709"/>
                  </a:ext>
                </a:extLst>
              </a:tr>
              <a:tr h="370840">
                <a:tc>
                  <a:txBody>
                    <a:bodyPr/>
                    <a:lstStyle/>
                    <a:p>
                      <a:r>
                        <a:rPr lang="en-US" dirty="0"/>
                        <a:t>15</a:t>
                      </a:r>
                      <a:endParaRPr lang="en-IN" dirty="0"/>
                    </a:p>
                  </a:txBody>
                  <a:tcPr/>
                </a:tc>
                <a:tc>
                  <a:txBody>
                    <a:bodyPr/>
                    <a:lstStyle/>
                    <a:p>
                      <a:endParaRPr lang="en-IN" dirty="0"/>
                    </a:p>
                  </a:txBody>
                  <a:tcPr/>
                </a:tc>
                <a:tc>
                  <a:txBody>
                    <a:bodyPr/>
                    <a:lstStyle/>
                    <a:p>
                      <a:endParaRPr lang="en-IN" dirty="0">
                        <a:solidFill>
                          <a:srgbClr val="FF0000"/>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3200573134"/>
                  </a:ext>
                </a:extLst>
              </a:tr>
              <a:tr h="370840">
                <a:tc>
                  <a:txBody>
                    <a:bodyPr/>
                    <a:lstStyle/>
                    <a:p>
                      <a:r>
                        <a:rPr lang="en-US" dirty="0"/>
                        <a:t>16</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tc>
                  <a:txBody>
                    <a:bodyPr/>
                    <a:lstStyle/>
                    <a:p>
                      <a:endParaRPr lang="en-IN" dirty="0">
                        <a:solidFill>
                          <a:schemeClr val="accent6"/>
                        </a:solidFill>
                      </a:endParaRPr>
                    </a:p>
                  </a:txBody>
                  <a:tcPr/>
                </a:tc>
                <a:extLst>
                  <a:ext uri="{0D108BD9-81ED-4DB2-BD59-A6C34878D82A}">
                    <a16:rowId xmlns:a16="http://schemas.microsoft.com/office/drawing/2014/main" val="3138708302"/>
                  </a:ext>
                </a:extLst>
              </a:tr>
            </a:tbl>
          </a:graphicData>
        </a:graphic>
      </p:graphicFrame>
    </p:spTree>
    <p:extLst>
      <p:ext uri="{BB962C8B-B14F-4D97-AF65-F5344CB8AC3E}">
        <p14:creationId xmlns:p14="http://schemas.microsoft.com/office/powerpoint/2010/main" val="2648154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3C008-57B8-A58F-8648-CE1889149F91}"/>
            </a:ext>
          </a:extLst>
        </p:cNvPr>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35EA1B98-0503-6D92-6B2A-25776E15430A}"/>
              </a:ext>
            </a:extLst>
          </p:cNvPr>
          <p:cNvGraphicFramePr>
            <a:graphicFrameLocks noGrp="1"/>
          </p:cNvGraphicFramePr>
          <p:nvPr>
            <p:ph idx="1"/>
          </p:nvPr>
        </p:nvGraphicFramePr>
        <p:xfrm>
          <a:off x="822222" y="276860"/>
          <a:ext cx="10547556" cy="6304280"/>
        </p:xfrm>
        <a:graphic>
          <a:graphicData uri="http://schemas.openxmlformats.org/drawingml/2006/table">
            <a:tbl>
              <a:tblPr firstRow="1" bandRow="1">
                <a:tableStyleId>{5C22544A-7EE6-4342-B048-85BDC9FD1C3A}</a:tableStyleId>
              </a:tblPr>
              <a:tblGrid>
                <a:gridCol w="1757926">
                  <a:extLst>
                    <a:ext uri="{9D8B030D-6E8A-4147-A177-3AD203B41FA5}">
                      <a16:colId xmlns:a16="http://schemas.microsoft.com/office/drawing/2014/main" val="1489556079"/>
                    </a:ext>
                  </a:extLst>
                </a:gridCol>
                <a:gridCol w="1757926">
                  <a:extLst>
                    <a:ext uri="{9D8B030D-6E8A-4147-A177-3AD203B41FA5}">
                      <a16:colId xmlns:a16="http://schemas.microsoft.com/office/drawing/2014/main" val="671980995"/>
                    </a:ext>
                  </a:extLst>
                </a:gridCol>
                <a:gridCol w="1757926">
                  <a:extLst>
                    <a:ext uri="{9D8B030D-6E8A-4147-A177-3AD203B41FA5}">
                      <a16:colId xmlns:a16="http://schemas.microsoft.com/office/drawing/2014/main" val="299270352"/>
                    </a:ext>
                  </a:extLst>
                </a:gridCol>
                <a:gridCol w="1757926">
                  <a:extLst>
                    <a:ext uri="{9D8B030D-6E8A-4147-A177-3AD203B41FA5}">
                      <a16:colId xmlns:a16="http://schemas.microsoft.com/office/drawing/2014/main" val="3912483259"/>
                    </a:ext>
                  </a:extLst>
                </a:gridCol>
                <a:gridCol w="1757926">
                  <a:extLst>
                    <a:ext uri="{9D8B030D-6E8A-4147-A177-3AD203B41FA5}">
                      <a16:colId xmlns:a16="http://schemas.microsoft.com/office/drawing/2014/main" val="357101472"/>
                    </a:ext>
                  </a:extLst>
                </a:gridCol>
                <a:gridCol w="1757926">
                  <a:extLst>
                    <a:ext uri="{9D8B030D-6E8A-4147-A177-3AD203B41FA5}">
                      <a16:colId xmlns:a16="http://schemas.microsoft.com/office/drawing/2014/main" val="2517560705"/>
                    </a:ext>
                  </a:extLst>
                </a:gridCol>
              </a:tblGrid>
              <a:tr h="370840">
                <a:tc>
                  <a:txBody>
                    <a:bodyPr/>
                    <a:lstStyle/>
                    <a:p>
                      <a:r>
                        <a:rPr lang="en-US" dirty="0"/>
                        <a:t>Sl. No</a:t>
                      </a:r>
                      <a:endParaRPr lang="en-IN" dirty="0"/>
                    </a:p>
                  </a:txBody>
                  <a:tcPr/>
                </a:tc>
                <a:tc>
                  <a:txBody>
                    <a:bodyPr/>
                    <a:lstStyle/>
                    <a:p>
                      <a:r>
                        <a:rPr lang="en-US" dirty="0"/>
                        <a:t>Last Outcome</a:t>
                      </a:r>
                      <a:endParaRPr lang="en-IN" dirty="0"/>
                    </a:p>
                  </a:txBody>
                  <a:tcPr/>
                </a:tc>
                <a:tc>
                  <a:txBody>
                    <a:bodyPr/>
                    <a:lstStyle/>
                    <a:p>
                      <a:r>
                        <a:rPr lang="en-US" dirty="0"/>
                        <a:t>BHT N/T</a:t>
                      </a:r>
                      <a:endParaRPr lang="en-IN" dirty="0"/>
                    </a:p>
                  </a:txBody>
                  <a:tcPr/>
                </a:tc>
                <a:tc>
                  <a:txBody>
                    <a:bodyPr/>
                    <a:lstStyle/>
                    <a:p>
                      <a:r>
                        <a:rPr lang="en-US" dirty="0"/>
                        <a:t>Prediction</a:t>
                      </a:r>
                      <a:endParaRPr lang="en-IN" dirty="0"/>
                    </a:p>
                  </a:txBody>
                  <a:tcPr/>
                </a:tc>
                <a:tc>
                  <a:txBody>
                    <a:bodyPr/>
                    <a:lstStyle/>
                    <a:p>
                      <a:r>
                        <a:rPr lang="en-US" dirty="0"/>
                        <a:t>Outcome</a:t>
                      </a:r>
                      <a:endParaRPr lang="en-IN" dirty="0"/>
                    </a:p>
                  </a:txBody>
                  <a:tcPr/>
                </a:tc>
                <a:tc>
                  <a:txBody>
                    <a:bodyPr/>
                    <a:lstStyle/>
                    <a:p>
                      <a:r>
                        <a:rPr lang="en-US" dirty="0"/>
                        <a:t>Mis-Pre Y/N ?</a:t>
                      </a:r>
                      <a:endParaRPr lang="en-IN" dirty="0"/>
                    </a:p>
                  </a:txBody>
                  <a:tcPr/>
                </a:tc>
                <a:extLst>
                  <a:ext uri="{0D108BD9-81ED-4DB2-BD59-A6C34878D82A}">
                    <a16:rowId xmlns:a16="http://schemas.microsoft.com/office/drawing/2014/main" val="3311626821"/>
                  </a:ext>
                </a:extLst>
              </a:tr>
              <a:tr h="370840">
                <a:tc>
                  <a:txBody>
                    <a:bodyPr/>
                    <a:lstStyle/>
                    <a:p>
                      <a:r>
                        <a:rPr lang="en-US" dirty="0"/>
                        <a:t>1</a:t>
                      </a:r>
                      <a:endParaRPr lang="en-IN" dirty="0"/>
                    </a:p>
                  </a:txBody>
                  <a:tcPr/>
                </a:tc>
                <a:tc>
                  <a:txBody>
                    <a:bodyPr/>
                    <a:lstStyle/>
                    <a:p>
                      <a:r>
                        <a:rPr lang="en-US" dirty="0"/>
                        <a:t>N (initial)</a:t>
                      </a:r>
                      <a:endParaRPr lang="en-IN" dirty="0"/>
                    </a:p>
                  </a:txBody>
                  <a:tcPr/>
                </a:tc>
                <a:tc>
                  <a:txBody>
                    <a:bodyPr/>
                    <a:lstStyle/>
                    <a:p>
                      <a:r>
                        <a:rPr lang="en-US" dirty="0">
                          <a:solidFill>
                            <a:srgbClr val="FF0000"/>
                          </a:solidFill>
                        </a:rPr>
                        <a:t>00</a:t>
                      </a:r>
                      <a:r>
                        <a:rPr lang="en-US" dirty="0"/>
                        <a:t> / 01</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3333663344"/>
                  </a:ext>
                </a:extLst>
              </a:tr>
              <a:tr h="370840">
                <a:tc>
                  <a:txBody>
                    <a:bodyPr/>
                    <a:lstStyle/>
                    <a:p>
                      <a:r>
                        <a:rPr lang="en-US" dirty="0"/>
                        <a:t>2</a:t>
                      </a:r>
                      <a:endParaRPr lang="en-IN" dirty="0"/>
                    </a:p>
                  </a:txBody>
                  <a:tcPr/>
                </a:tc>
                <a:tc>
                  <a:txBody>
                    <a:bodyPr/>
                    <a:lstStyle/>
                    <a:p>
                      <a:r>
                        <a:rPr lang="en-US" dirty="0"/>
                        <a:t>T</a:t>
                      </a:r>
                      <a:endParaRPr lang="en-IN" dirty="0"/>
                    </a:p>
                  </a:txBody>
                  <a:tcPr/>
                </a:tc>
                <a:tc>
                  <a:txBody>
                    <a:bodyPr/>
                    <a:lstStyle/>
                    <a:p>
                      <a:r>
                        <a:rPr lang="en-US" dirty="0"/>
                        <a:t>01 / </a:t>
                      </a:r>
                      <a:r>
                        <a:rPr lang="en-US" dirty="0">
                          <a:solidFill>
                            <a:srgbClr val="FF0000"/>
                          </a:solidFill>
                        </a:rPr>
                        <a:t>11</a:t>
                      </a:r>
                      <a:endParaRPr lang="en-IN" dirty="0">
                        <a:solidFill>
                          <a:srgbClr val="FF0000"/>
                        </a:solidFill>
                      </a:endParaRPr>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3857396969"/>
                  </a:ext>
                </a:extLst>
              </a:tr>
              <a:tr h="370840">
                <a:tc>
                  <a:txBody>
                    <a:bodyPr/>
                    <a:lstStyle/>
                    <a:p>
                      <a:r>
                        <a:rPr lang="en-US" dirty="0"/>
                        <a:t>3</a:t>
                      </a:r>
                      <a:endParaRPr lang="en-IN" dirty="0"/>
                    </a:p>
                  </a:txBody>
                  <a:tcPr/>
                </a:tc>
                <a:tc>
                  <a:txBody>
                    <a:bodyPr/>
                    <a:lstStyle/>
                    <a:p>
                      <a:r>
                        <a:rPr lang="en-US" dirty="0"/>
                        <a:t>T</a:t>
                      </a:r>
                      <a:endParaRPr lang="en-IN" dirty="0"/>
                    </a:p>
                  </a:txBody>
                  <a:tcPr/>
                </a:tc>
                <a:tc>
                  <a:txBody>
                    <a:bodyPr/>
                    <a:lstStyle/>
                    <a:p>
                      <a:r>
                        <a:rPr lang="en-US" dirty="0"/>
                        <a:t>01 / </a:t>
                      </a:r>
                      <a:r>
                        <a:rPr lang="en-US" dirty="0">
                          <a:solidFill>
                            <a:srgbClr val="FF0000"/>
                          </a:solidFill>
                        </a:rPr>
                        <a:t>11</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1547093189"/>
                  </a:ext>
                </a:extLst>
              </a:tr>
              <a:tr h="370840">
                <a:tc>
                  <a:txBody>
                    <a:bodyPr/>
                    <a:lstStyle/>
                    <a:p>
                      <a:r>
                        <a:rPr lang="en-US" dirty="0"/>
                        <a:t>4</a:t>
                      </a:r>
                      <a:endParaRPr lang="en-IN" dirty="0"/>
                    </a:p>
                  </a:txBody>
                  <a:tcPr/>
                </a:tc>
                <a:tc>
                  <a:txBody>
                    <a:bodyPr/>
                    <a:lstStyle/>
                    <a:p>
                      <a:r>
                        <a:rPr lang="en-US" dirty="0"/>
                        <a:t>N</a:t>
                      </a:r>
                      <a:endParaRPr lang="en-IN" dirty="0"/>
                    </a:p>
                  </a:txBody>
                  <a:tcPr/>
                </a:tc>
                <a:tc>
                  <a:txBody>
                    <a:bodyPr/>
                    <a:lstStyle/>
                    <a:p>
                      <a:r>
                        <a:rPr lang="en-US" dirty="0">
                          <a:solidFill>
                            <a:srgbClr val="FF0000"/>
                          </a:solidFill>
                        </a:rPr>
                        <a:t>01</a:t>
                      </a:r>
                      <a:r>
                        <a:rPr lang="en-US" dirty="0"/>
                        <a:t> / 10</a:t>
                      </a:r>
                      <a:endParaRPr lang="en-IN" dirty="0"/>
                    </a:p>
                  </a:txBody>
                  <a:tcPr/>
                </a:tc>
                <a:tc>
                  <a:txBody>
                    <a:bodyPr/>
                    <a:lstStyle/>
                    <a:p>
                      <a:r>
                        <a:rPr lang="en-US" dirty="0">
                          <a:solidFill>
                            <a:schemeClr val="accent6"/>
                          </a:solidFill>
                        </a:rPr>
                        <a:t>N</a:t>
                      </a:r>
                      <a:endParaRPr lang="en-IN" dirty="0">
                        <a:solidFill>
                          <a:schemeClr val="accent6"/>
                        </a:solidFill>
                      </a:endParaRPr>
                    </a:p>
                  </a:txBody>
                  <a:tcPr/>
                </a:tc>
                <a:tc>
                  <a:txBody>
                    <a:bodyPr/>
                    <a:lstStyle/>
                    <a:p>
                      <a:r>
                        <a:rPr lang="en-US" dirty="0">
                          <a:solidFill>
                            <a:schemeClr val="accent6"/>
                          </a:solidFill>
                        </a:rPr>
                        <a:t>N</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3862912498"/>
                  </a:ext>
                </a:extLst>
              </a:tr>
              <a:tr h="370840">
                <a:tc>
                  <a:txBody>
                    <a:bodyPr/>
                    <a:lstStyle/>
                    <a:p>
                      <a:r>
                        <a:rPr lang="en-US" dirty="0"/>
                        <a:t>5</a:t>
                      </a:r>
                      <a:endParaRPr lang="en-IN" dirty="0"/>
                    </a:p>
                  </a:txBody>
                  <a:tcPr/>
                </a:tc>
                <a:tc>
                  <a:txBody>
                    <a:bodyPr/>
                    <a:lstStyle/>
                    <a:p>
                      <a:r>
                        <a:rPr lang="en-US" dirty="0"/>
                        <a:t>N</a:t>
                      </a:r>
                      <a:endParaRPr lang="en-IN" dirty="0"/>
                    </a:p>
                  </a:txBody>
                  <a:tcPr/>
                </a:tc>
                <a:tc>
                  <a:txBody>
                    <a:bodyPr/>
                    <a:lstStyle/>
                    <a:p>
                      <a:r>
                        <a:rPr lang="en-US" dirty="0">
                          <a:solidFill>
                            <a:srgbClr val="FF0000"/>
                          </a:solidFill>
                        </a:rPr>
                        <a:t>00</a:t>
                      </a:r>
                      <a:r>
                        <a:rPr lang="en-US" dirty="0"/>
                        <a:t> / 10</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3772775599"/>
                  </a:ext>
                </a:extLst>
              </a:tr>
              <a:tr h="370840">
                <a:tc>
                  <a:txBody>
                    <a:bodyPr/>
                    <a:lstStyle/>
                    <a:p>
                      <a:r>
                        <a:rPr lang="en-US" dirty="0"/>
                        <a:t>6</a:t>
                      </a:r>
                      <a:endParaRPr lang="en-IN" dirty="0"/>
                    </a:p>
                  </a:txBody>
                  <a:tcPr/>
                </a:tc>
                <a:tc>
                  <a:txBody>
                    <a:bodyPr/>
                    <a:lstStyle/>
                    <a:p>
                      <a:r>
                        <a:rPr lang="en-US" dirty="0"/>
                        <a:t>T</a:t>
                      </a:r>
                      <a:endParaRPr lang="en-IN" dirty="0"/>
                    </a:p>
                  </a:txBody>
                  <a:tcPr/>
                </a:tc>
                <a:tc>
                  <a:txBody>
                    <a:bodyPr/>
                    <a:lstStyle/>
                    <a:p>
                      <a:r>
                        <a:rPr lang="en-US" dirty="0"/>
                        <a:t>01 / </a:t>
                      </a:r>
                      <a:r>
                        <a:rPr lang="en-US" dirty="0">
                          <a:solidFill>
                            <a:srgbClr val="FF0000"/>
                          </a:solidFill>
                        </a:rPr>
                        <a:t>10</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108546496"/>
                  </a:ext>
                </a:extLst>
              </a:tr>
              <a:tr h="370840">
                <a:tc>
                  <a:txBody>
                    <a:bodyPr/>
                    <a:lstStyle/>
                    <a:p>
                      <a:r>
                        <a:rPr lang="en-US" dirty="0"/>
                        <a:t>7</a:t>
                      </a:r>
                      <a:endParaRPr lang="en-IN" dirty="0"/>
                    </a:p>
                  </a:txBody>
                  <a:tcPr/>
                </a:tc>
                <a:tc>
                  <a:txBody>
                    <a:bodyPr/>
                    <a:lstStyle/>
                    <a:p>
                      <a:r>
                        <a:rPr lang="en-US" dirty="0"/>
                        <a:t>N</a:t>
                      </a:r>
                      <a:endParaRPr lang="en-IN" dirty="0"/>
                    </a:p>
                  </a:txBody>
                  <a:tcPr/>
                </a:tc>
                <a:tc>
                  <a:txBody>
                    <a:bodyPr/>
                    <a:lstStyle/>
                    <a:p>
                      <a:r>
                        <a:rPr lang="en-US" dirty="0">
                          <a:solidFill>
                            <a:srgbClr val="FF0000"/>
                          </a:solidFill>
                        </a:rPr>
                        <a:t>01</a:t>
                      </a:r>
                      <a:r>
                        <a:rPr lang="en-US" dirty="0"/>
                        <a:t> / 00</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970587842"/>
                  </a:ext>
                </a:extLst>
              </a:tr>
              <a:tr h="370840">
                <a:tc>
                  <a:txBody>
                    <a:bodyPr/>
                    <a:lstStyle/>
                    <a:p>
                      <a:r>
                        <a:rPr lang="en-US" dirty="0"/>
                        <a:t>8</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00</a:t>
                      </a:r>
                      <a:endParaRPr lang="en-IN" dirty="0">
                        <a:solidFill>
                          <a:srgbClr val="FF0000"/>
                        </a:solidFill>
                      </a:endParaRPr>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895641581"/>
                  </a:ext>
                </a:extLst>
              </a:tr>
              <a:tr h="370840">
                <a:tc>
                  <a:txBody>
                    <a:bodyPr/>
                    <a:lstStyle/>
                    <a:p>
                      <a:r>
                        <a:rPr lang="en-US" dirty="0"/>
                        <a:t>9</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01</a:t>
                      </a:r>
                      <a:endParaRPr lang="en-IN" dirty="0">
                        <a:solidFill>
                          <a:srgbClr val="FF0000"/>
                        </a:solidFill>
                      </a:endParaRPr>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819919453"/>
                  </a:ext>
                </a:extLst>
              </a:tr>
              <a:tr h="370840">
                <a:tc>
                  <a:txBody>
                    <a:bodyPr/>
                    <a:lstStyle/>
                    <a:p>
                      <a:r>
                        <a:rPr lang="en-US" dirty="0"/>
                        <a:t>10</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11</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3669680503"/>
                  </a:ext>
                </a:extLst>
              </a:tr>
              <a:tr h="370840">
                <a:tc>
                  <a:txBody>
                    <a:bodyPr/>
                    <a:lstStyle/>
                    <a:p>
                      <a:r>
                        <a:rPr lang="en-US" dirty="0"/>
                        <a:t>11</a:t>
                      </a:r>
                      <a:endParaRPr lang="en-IN" dirty="0"/>
                    </a:p>
                  </a:txBody>
                  <a:tcPr/>
                </a:tc>
                <a:tc>
                  <a:txBody>
                    <a:bodyPr/>
                    <a:lstStyle/>
                    <a:p>
                      <a:r>
                        <a:rPr lang="en-US" dirty="0"/>
                        <a:t>N</a:t>
                      </a:r>
                      <a:endParaRPr lang="en-IN" dirty="0"/>
                    </a:p>
                  </a:txBody>
                  <a:tcPr/>
                </a:tc>
                <a:tc>
                  <a:txBody>
                    <a:bodyPr/>
                    <a:lstStyle/>
                    <a:p>
                      <a:r>
                        <a:rPr lang="en-US" dirty="0">
                          <a:solidFill>
                            <a:srgbClr val="FF0000"/>
                          </a:solidFill>
                        </a:rPr>
                        <a:t>11</a:t>
                      </a:r>
                      <a:r>
                        <a:rPr lang="en-US" dirty="0"/>
                        <a:t> / 10</a:t>
                      </a:r>
                      <a:endParaRPr lang="en-IN" dirty="0"/>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2882846958"/>
                  </a:ext>
                </a:extLst>
              </a:tr>
              <a:tr h="370840">
                <a:tc>
                  <a:txBody>
                    <a:bodyPr/>
                    <a:lstStyle/>
                    <a:p>
                      <a:r>
                        <a:rPr lang="en-US" dirty="0"/>
                        <a:t>12</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10</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3929993789"/>
                  </a:ext>
                </a:extLst>
              </a:tr>
              <a:tr h="370840">
                <a:tc>
                  <a:txBody>
                    <a:bodyPr/>
                    <a:lstStyle/>
                    <a:p>
                      <a:r>
                        <a:rPr lang="en-US" dirty="0"/>
                        <a:t>13</a:t>
                      </a:r>
                      <a:endParaRPr lang="en-IN" dirty="0"/>
                    </a:p>
                  </a:txBody>
                  <a:tcPr/>
                </a:tc>
                <a:tc>
                  <a:txBody>
                    <a:bodyPr/>
                    <a:lstStyle/>
                    <a:p>
                      <a:r>
                        <a:rPr lang="en-US" dirty="0"/>
                        <a:t>N</a:t>
                      </a:r>
                      <a:endParaRPr lang="en-IN" dirty="0"/>
                    </a:p>
                  </a:txBody>
                  <a:tcPr/>
                </a:tc>
                <a:tc>
                  <a:txBody>
                    <a:bodyPr/>
                    <a:lstStyle/>
                    <a:p>
                      <a:r>
                        <a:rPr lang="en-US" dirty="0">
                          <a:solidFill>
                            <a:srgbClr val="FF0000"/>
                          </a:solidFill>
                        </a:rPr>
                        <a:t>11</a:t>
                      </a:r>
                      <a:r>
                        <a:rPr lang="en-US" dirty="0"/>
                        <a:t> / 00</a:t>
                      </a:r>
                      <a:endParaRPr lang="en-IN" dirty="0"/>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1360394592"/>
                  </a:ext>
                </a:extLst>
              </a:tr>
              <a:tr h="370840">
                <a:tc>
                  <a:txBody>
                    <a:bodyPr/>
                    <a:lstStyle/>
                    <a:p>
                      <a:r>
                        <a:rPr lang="en-US" dirty="0"/>
                        <a:t>14</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00</a:t>
                      </a:r>
                      <a:endParaRPr lang="en-IN" dirty="0">
                        <a:solidFill>
                          <a:srgbClr val="FF0000"/>
                        </a:solidFill>
                      </a:endParaRPr>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057701709"/>
                  </a:ext>
                </a:extLst>
              </a:tr>
              <a:tr h="370840">
                <a:tc>
                  <a:txBody>
                    <a:bodyPr/>
                    <a:lstStyle/>
                    <a:p>
                      <a:r>
                        <a:rPr lang="en-US" dirty="0"/>
                        <a:t>15</a:t>
                      </a:r>
                      <a:endParaRPr lang="en-IN" dirty="0"/>
                    </a:p>
                  </a:txBody>
                  <a:tcPr/>
                </a:tc>
                <a:tc>
                  <a:txBody>
                    <a:bodyPr/>
                    <a:lstStyle/>
                    <a:p>
                      <a:r>
                        <a:rPr lang="en-US" dirty="0"/>
                        <a:t>T</a:t>
                      </a:r>
                      <a:endParaRPr lang="en-IN" dirty="0"/>
                    </a:p>
                  </a:txBody>
                  <a:tcPr/>
                </a:tc>
                <a:tc>
                  <a:txBody>
                    <a:bodyPr/>
                    <a:lstStyle/>
                    <a:p>
                      <a:r>
                        <a:rPr lang="en-US" dirty="0"/>
                        <a:t>11 / </a:t>
                      </a:r>
                      <a:r>
                        <a:rPr lang="en-US" dirty="0">
                          <a:solidFill>
                            <a:srgbClr val="FF0000"/>
                          </a:solidFill>
                        </a:rPr>
                        <a:t>01</a:t>
                      </a:r>
                      <a:endParaRPr lang="en-IN" dirty="0">
                        <a:solidFill>
                          <a:srgbClr val="FF0000"/>
                        </a:solidFill>
                      </a:endParaRPr>
                    </a:p>
                  </a:txBody>
                  <a:tcPr/>
                </a:tc>
                <a:tc>
                  <a:txBody>
                    <a:bodyPr/>
                    <a:lstStyle/>
                    <a:p>
                      <a:r>
                        <a:rPr lang="en-US" dirty="0">
                          <a:solidFill>
                            <a:schemeClr val="accent6"/>
                          </a:solidFill>
                        </a:rPr>
                        <a:t>N</a:t>
                      </a:r>
                      <a:endParaRPr lang="en-IN" dirty="0">
                        <a:solidFill>
                          <a:schemeClr val="accent6"/>
                        </a:solidFill>
                      </a:endParaRPr>
                    </a:p>
                  </a:txBody>
                  <a:tcPr/>
                </a:tc>
                <a:tc>
                  <a:txBody>
                    <a:bodyPr/>
                    <a:lstStyle/>
                    <a:p>
                      <a:r>
                        <a:rPr lang="en-US" dirty="0">
                          <a:solidFill>
                            <a:schemeClr val="accent6"/>
                          </a:solidFill>
                        </a:rPr>
                        <a:t>N</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3200573134"/>
                  </a:ext>
                </a:extLst>
              </a:tr>
              <a:tr h="370840">
                <a:tc>
                  <a:txBody>
                    <a:bodyPr/>
                    <a:lstStyle/>
                    <a:p>
                      <a:r>
                        <a:rPr lang="en-US" dirty="0"/>
                        <a:t>16</a:t>
                      </a:r>
                      <a:endParaRPr lang="en-IN" dirty="0"/>
                    </a:p>
                  </a:txBody>
                  <a:tcPr/>
                </a:tc>
                <a:tc>
                  <a:txBody>
                    <a:bodyPr/>
                    <a:lstStyle/>
                    <a:p>
                      <a:r>
                        <a:rPr lang="en-US" dirty="0"/>
                        <a:t>N</a:t>
                      </a:r>
                      <a:endParaRPr lang="en-IN" dirty="0"/>
                    </a:p>
                  </a:txBody>
                  <a:tcPr/>
                </a:tc>
                <a:tc>
                  <a:txBody>
                    <a:bodyPr/>
                    <a:lstStyle/>
                    <a:p>
                      <a:r>
                        <a:rPr lang="en-US" dirty="0">
                          <a:solidFill>
                            <a:srgbClr val="FF0000"/>
                          </a:solidFill>
                        </a:rPr>
                        <a:t>11</a:t>
                      </a:r>
                      <a:r>
                        <a:rPr lang="en-US" dirty="0"/>
                        <a:t> / 00</a:t>
                      </a:r>
                      <a:endParaRPr lang="en-IN" dirty="0"/>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T</a:t>
                      </a:r>
                      <a:endParaRPr lang="en-IN" dirty="0">
                        <a:solidFill>
                          <a:schemeClr val="accent6"/>
                        </a:solidFill>
                      </a:endParaRPr>
                    </a:p>
                  </a:txBody>
                  <a:tcPr/>
                </a:tc>
                <a:tc>
                  <a:txBody>
                    <a:bodyPr/>
                    <a:lstStyle/>
                    <a:p>
                      <a:r>
                        <a:rPr lang="en-US" dirty="0">
                          <a:solidFill>
                            <a:schemeClr val="accent6"/>
                          </a:solidFill>
                        </a:rPr>
                        <a:t>NO</a:t>
                      </a:r>
                      <a:endParaRPr lang="en-IN" dirty="0">
                        <a:solidFill>
                          <a:schemeClr val="accent6"/>
                        </a:solidFill>
                      </a:endParaRPr>
                    </a:p>
                  </a:txBody>
                  <a:tcPr/>
                </a:tc>
                <a:extLst>
                  <a:ext uri="{0D108BD9-81ED-4DB2-BD59-A6C34878D82A}">
                    <a16:rowId xmlns:a16="http://schemas.microsoft.com/office/drawing/2014/main" val="3138708302"/>
                  </a:ext>
                </a:extLst>
              </a:tr>
            </a:tbl>
          </a:graphicData>
        </a:graphic>
      </p:graphicFrame>
    </p:spTree>
    <p:extLst>
      <p:ext uri="{BB962C8B-B14F-4D97-AF65-F5344CB8AC3E}">
        <p14:creationId xmlns:p14="http://schemas.microsoft.com/office/powerpoint/2010/main" val="1455438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78AA-1E7E-5423-1C25-0F2152C86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741DB-73F6-CB9F-9FAC-05DEC9EF7EA0}"/>
              </a:ext>
            </a:extLst>
          </p:cNvPr>
          <p:cNvSpPr>
            <a:spLocks noGrp="1"/>
          </p:cNvSpPr>
          <p:nvPr>
            <p:ph type="title"/>
          </p:nvPr>
        </p:nvSpPr>
        <p:spPr/>
        <p:txBody>
          <a:bodyPr/>
          <a:lstStyle/>
          <a:p>
            <a:r>
              <a:rPr lang="en-US" dirty="0"/>
              <a:t>Branch Prediction</a:t>
            </a:r>
            <a:endParaRPr lang="en-IN" dirty="0"/>
          </a:p>
        </p:txBody>
      </p:sp>
      <p:sp>
        <p:nvSpPr>
          <p:cNvPr id="3" name="Content Placeholder 2">
            <a:extLst>
              <a:ext uri="{FF2B5EF4-FFF2-40B4-BE49-F238E27FC236}">
                <a16:creationId xmlns:a16="http://schemas.microsoft.com/office/drawing/2014/main" id="{1F606F87-C735-C504-8DE6-9DDD0E0A630F}"/>
              </a:ext>
            </a:extLst>
          </p:cNvPr>
          <p:cNvSpPr>
            <a:spLocks noGrp="1"/>
          </p:cNvSpPr>
          <p:nvPr>
            <p:ph idx="1"/>
          </p:nvPr>
        </p:nvSpPr>
        <p:spPr/>
        <p:txBody>
          <a:bodyPr>
            <a:noAutofit/>
          </a:bodyPr>
          <a:lstStyle/>
          <a:p>
            <a:pPr marL="0" indent="0" algn="just">
              <a:buNone/>
            </a:pPr>
            <a:r>
              <a:rPr lang="en-US" sz="2000" dirty="0"/>
              <a:t>Consider a (2,2) type branch predictor. BHT is indexed by the outcome of the last 2 branches. The BPB is initialized for NN/NT/TN/TT as 00/00/11/11 and is indexed with an NN entry in the first reference. Consider the last 8 actual outcomes of a single static branch, </a:t>
            </a:r>
            <a:br>
              <a:rPr lang="en-US" sz="2000" dirty="0"/>
            </a:br>
            <a:r>
              <a:rPr lang="en-US" sz="2000" dirty="0"/>
              <a:t>{oldest -&gt; N </a:t>
            </a:r>
            <a:r>
              <a:rPr lang="en-US" sz="2000" dirty="0" err="1"/>
              <a:t>N</a:t>
            </a:r>
            <a:r>
              <a:rPr lang="en-US" sz="2000" dirty="0"/>
              <a:t> T </a:t>
            </a:r>
            <a:r>
              <a:rPr lang="en-US" sz="2000" dirty="0" err="1"/>
              <a:t>T</a:t>
            </a:r>
            <a:r>
              <a:rPr lang="en-US" sz="2000" dirty="0"/>
              <a:t> </a:t>
            </a:r>
            <a:r>
              <a:rPr lang="en-US" sz="2000" dirty="0" err="1"/>
              <a:t>T</a:t>
            </a:r>
            <a:r>
              <a:rPr lang="en-US" sz="2000" dirty="0"/>
              <a:t> N </a:t>
            </a:r>
            <a:r>
              <a:rPr lang="en-US" sz="2000" dirty="0" err="1"/>
              <a:t>N</a:t>
            </a:r>
            <a:r>
              <a:rPr lang="en-US" sz="2000" dirty="0"/>
              <a:t> T -&gt; latest} where T means branch is taken and N means not taken. What will be the contents of BPB after the execution of the above mentioned 6 branch outcomes?</a:t>
            </a:r>
            <a:endParaRPr lang="en-IN" sz="2000" dirty="0"/>
          </a:p>
        </p:txBody>
      </p:sp>
    </p:spTree>
    <p:extLst>
      <p:ext uri="{BB962C8B-B14F-4D97-AF65-F5344CB8AC3E}">
        <p14:creationId xmlns:p14="http://schemas.microsoft.com/office/powerpoint/2010/main" val="2999687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0B49C-64D1-1F97-32BB-3CF7CF2EB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E19E9-5DEB-7FF1-6948-98D58DD05D26}"/>
              </a:ext>
            </a:extLst>
          </p:cNvPr>
          <p:cNvSpPr>
            <a:spLocks noGrp="1"/>
          </p:cNvSpPr>
          <p:nvPr>
            <p:ph type="title"/>
          </p:nvPr>
        </p:nvSpPr>
        <p:spPr/>
        <p:txBody>
          <a:bodyPr/>
          <a:lstStyle/>
          <a:p>
            <a:r>
              <a:rPr lang="en-US" dirty="0"/>
              <a:t>Branch Prediction</a:t>
            </a:r>
            <a:endParaRPr lang="en-IN" dirty="0"/>
          </a:p>
        </p:txBody>
      </p:sp>
      <p:sp>
        <p:nvSpPr>
          <p:cNvPr id="3" name="Content Placeholder 2">
            <a:extLst>
              <a:ext uri="{FF2B5EF4-FFF2-40B4-BE49-F238E27FC236}">
                <a16:creationId xmlns:a16="http://schemas.microsoft.com/office/drawing/2014/main" id="{206DF6B0-57AE-513E-6660-1D1F696C74C4}"/>
              </a:ext>
            </a:extLst>
          </p:cNvPr>
          <p:cNvSpPr>
            <a:spLocks noGrp="1"/>
          </p:cNvSpPr>
          <p:nvPr>
            <p:ph idx="1"/>
          </p:nvPr>
        </p:nvSpPr>
        <p:spPr/>
        <p:txBody>
          <a:bodyPr>
            <a:noAutofit/>
          </a:bodyPr>
          <a:lstStyle/>
          <a:p>
            <a:pPr marL="0" indent="0" algn="just">
              <a:buNone/>
            </a:pPr>
            <a:r>
              <a:rPr lang="en-US" sz="2000" dirty="0"/>
              <a:t>Consider a (2,2) type branch predictor. BHT is indexed by the outcome of the last 2 branches. The BPB is initialized for NN/NT/TN/TT as 00/00/11/11 and is indexed with an NN entry in the first reference. Consider the last 8 actual outcomes of a single static branch, </a:t>
            </a:r>
            <a:br>
              <a:rPr lang="en-US" sz="2000" dirty="0"/>
            </a:br>
            <a:r>
              <a:rPr lang="en-US" sz="2000" dirty="0"/>
              <a:t>{oldest -&gt; N </a:t>
            </a:r>
            <a:r>
              <a:rPr lang="en-US" sz="2000" dirty="0" err="1"/>
              <a:t>N</a:t>
            </a:r>
            <a:r>
              <a:rPr lang="en-US" sz="2000" dirty="0"/>
              <a:t> T </a:t>
            </a:r>
            <a:r>
              <a:rPr lang="en-US" sz="2000" dirty="0" err="1"/>
              <a:t>T</a:t>
            </a:r>
            <a:r>
              <a:rPr lang="en-US" sz="2000" dirty="0"/>
              <a:t> </a:t>
            </a:r>
            <a:r>
              <a:rPr lang="en-US" sz="2000" dirty="0" err="1"/>
              <a:t>T</a:t>
            </a:r>
            <a:r>
              <a:rPr lang="en-US" sz="2000" dirty="0"/>
              <a:t> N </a:t>
            </a:r>
            <a:r>
              <a:rPr lang="en-US" sz="2000" dirty="0" err="1"/>
              <a:t>N</a:t>
            </a:r>
            <a:r>
              <a:rPr lang="en-US" sz="2000" dirty="0"/>
              <a:t> T -&gt; latest} where T means branch is taken and N means not taken. What will be the contents of BPB after the execution of the above mentioned 6 branch outcomes?</a:t>
            </a:r>
            <a:endParaRPr lang="en-IN" sz="2000" dirty="0"/>
          </a:p>
        </p:txBody>
      </p:sp>
      <p:pic>
        <p:nvPicPr>
          <p:cNvPr id="4" name="Picture 3">
            <a:extLst>
              <a:ext uri="{FF2B5EF4-FFF2-40B4-BE49-F238E27FC236}">
                <a16:creationId xmlns:a16="http://schemas.microsoft.com/office/drawing/2014/main" id="{8694B3E4-7481-795A-F456-1F1A486E183B}"/>
              </a:ext>
            </a:extLst>
          </p:cNvPr>
          <p:cNvPicPr>
            <a:picLocks noChangeAspect="1"/>
          </p:cNvPicPr>
          <p:nvPr/>
        </p:nvPicPr>
        <p:blipFill>
          <a:blip r:embed="rId2"/>
          <a:stretch>
            <a:fillRect/>
          </a:stretch>
        </p:blipFill>
        <p:spPr>
          <a:xfrm>
            <a:off x="3506672" y="3844054"/>
            <a:ext cx="5178656" cy="2332909"/>
          </a:xfrm>
          <a:prstGeom prst="rect">
            <a:avLst/>
          </a:prstGeom>
        </p:spPr>
      </p:pic>
    </p:spTree>
    <p:extLst>
      <p:ext uri="{BB962C8B-B14F-4D97-AF65-F5344CB8AC3E}">
        <p14:creationId xmlns:p14="http://schemas.microsoft.com/office/powerpoint/2010/main" val="3115010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A4C13-F04B-9974-2D20-847958D10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9D5AE-ED64-296C-883C-5C35303ED20E}"/>
              </a:ext>
            </a:extLst>
          </p:cNvPr>
          <p:cNvSpPr>
            <a:spLocks noGrp="1"/>
          </p:cNvSpPr>
          <p:nvPr>
            <p:ph type="title"/>
          </p:nvPr>
        </p:nvSpPr>
        <p:spPr/>
        <p:txBody>
          <a:bodyPr/>
          <a:lstStyle/>
          <a:p>
            <a:r>
              <a:rPr lang="en-US" dirty="0"/>
              <a:t>Branch Prediction - Illustration</a:t>
            </a:r>
            <a:endParaRPr lang="en-IN" dirty="0"/>
          </a:p>
        </p:txBody>
      </p:sp>
      <p:pic>
        <p:nvPicPr>
          <p:cNvPr id="4" name="Picture 3">
            <a:extLst>
              <a:ext uri="{FF2B5EF4-FFF2-40B4-BE49-F238E27FC236}">
                <a16:creationId xmlns:a16="http://schemas.microsoft.com/office/drawing/2014/main" id="{CAD8DAB1-4F72-8BB2-2CA6-879B0BDCFEB8}"/>
              </a:ext>
            </a:extLst>
          </p:cNvPr>
          <p:cNvPicPr>
            <a:picLocks noChangeAspect="1"/>
          </p:cNvPicPr>
          <p:nvPr/>
        </p:nvPicPr>
        <p:blipFill>
          <a:blip r:embed="rId2"/>
          <a:stretch>
            <a:fillRect/>
          </a:stretch>
        </p:blipFill>
        <p:spPr>
          <a:xfrm>
            <a:off x="6872748" y="1825625"/>
            <a:ext cx="5178656" cy="2332909"/>
          </a:xfrm>
          <a:prstGeom prst="rect">
            <a:avLst/>
          </a:prstGeom>
        </p:spPr>
      </p:pic>
      <p:graphicFrame>
        <p:nvGraphicFramePr>
          <p:cNvPr id="7" name="Content Placeholder 6">
            <a:extLst>
              <a:ext uri="{FF2B5EF4-FFF2-40B4-BE49-F238E27FC236}">
                <a16:creationId xmlns:a16="http://schemas.microsoft.com/office/drawing/2014/main" id="{FE5F212B-D6F8-909C-510E-D462547A72A6}"/>
              </a:ext>
            </a:extLst>
          </p:cNvPr>
          <p:cNvGraphicFramePr>
            <a:graphicFrameLocks noGrp="1"/>
          </p:cNvGraphicFramePr>
          <p:nvPr>
            <p:ph idx="1"/>
            <p:extLst>
              <p:ext uri="{D42A27DB-BD31-4B8C-83A1-F6EECF244321}">
                <p14:modId xmlns:p14="http://schemas.microsoft.com/office/powerpoint/2010/main" val="1064596496"/>
              </p:ext>
            </p:extLst>
          </p:nvPr>
        </p:nvGraphicFramePr>
        <p:xfrm>
          <a:off x="140596" y="1825625"/>
          <a:ext cx="6732151" cy="3855720"/>
        </p:xfrm>
        <a:graphic>
          <a:graphicData uri="http://schemas.openxmlformats.org/drawingml/2006/table">
            <a:tbl>
              <a:tblPr firstRow="1" bandRow="1">
                <a:tableStyleId>{5C22544A-7EE6-4342-B048-85BDC9FD1C3A}</a:tableStyleId>
              </a:tblPr>
              <a:tblGrid>
                <a:gridCol w="782329">
                  <a:extLst>
                    <a:ext uri="{9D8B030D-6E8A-4147-A177-3AD203B41FA5}">
                      <a16:colId xmlns:a16="http://schemas.microsoft.com/office/drawing/2014/main" val="623407422"/>
                    </a:ext>
                  </a:extLst>
                </a:gridCol>
                <a:gridCol w="1250004">
                  <a:extLst>
                    <a:ext uri="{9D8B030D-6E8A-4147-A177-3AD203B41FA5}">
                      <a16:colId xmlns:a16="http://schemas.microsoft.com/office/drawing/2014/main" val="810216254"/>
                    </a:ext>
                  </a:extLst>
                </a:gridCol>
                <a:gridCol w="1504336">
                  <a:extLst>
                    <a:ext uri="{9D8B030D-6E8A-4147-A177-3AD203B41FA5}">
                      <a16:colId xmlns:a16="http://schemas.microsoft.com/office/drawing/2014/main" val="189515736"/>
                    </a:ext>
                  </a:extLst>
                </a:gridCol>
                <a:gridCol w="951432">
                  <a:extLst>
                    <a:ext uri="{9D8B030D-6E8A-4147-A177-3AD203B41FA5}">
                      <a16:colId xmlns:a16="http://schemas.microsoft.com/office/drawing/2014/main" val="2404099740"/>
                    </a:ext>
                  </a:extLst>
                </a:gridCol>
                <a:gridCol w="906864">
                  <a:extLst>
                    <a:ext uri="{9D8B030D-6E8A-4147-A177-3AD203B41FA5}">
                      <a16:colId xmlns:a16="http://schemas.microsoft.com/office/drawing/2014/main" val="2412985124"/>
                    </a:ext>
                  </a:extLst>
                </a:gridCol>
                <a:gridCol w="1337186">
                  <a:extLst>
                    <a:ext uri="{9D8B030D-6E8A-4147-A177-3AD203B41FA5}">
                      <a16:colId xmlns:a16="http://schemas.microsoft.com/office/drawing/2014/main" val="516939087"/>
                    </a:ext>
                  </a:extLst>
                </a:gridCol>
              </a:tblGrid>
              <a:tr h="370840">
                <a:tc>
                  <a:txBody>
                    <a:bodyPr/>
                    <a:lstStyle/>
                    <a:p>
                      <a:r>
                        <a:rPr lang="en-US" sz="1400" dirty="0"/>
                        <a:t>Sl. No</a:t>
                      </a:r>
                      <a:endParaRPr lang="en-IN" sz="1400" dirty="0"/>
                    </a:p>
                  </a:txBody>
                  <a:tcPr/>
                </a:tc>
                <a:tc>
                  <a:txBody>
                    <a:bodyPr/>
                    <a:lstStyle/>
                    <a:p>
                      <a:r>
                        <a:rPr lang="en-US" sz="1400" dirty="0"/>
                        <a:t>Last Outcome</a:t>
                      </a:r>
                      <a:endParaRPr lang="en-IN" sz="1400" dirty="0"/>
                    </a:p>
                  </a:txBody>
                  <a:tcPr/>
                </a:tc>
                <a:tc>
                  <a:txBody>
                    <a:bodyPr/>
                    <a:lstStyle/>
                    <a:p>
                      <a:r>
                        <a:rPr lang="en-US" sz="1400" dirty="0"/>
                        <a:t>BPB</a:t>
                      </a:r>
                    </a:p>
                    <a:p>
                      <a:r>
                        <a:rPr lang="en-US" sz="1400" dirty="0"/>
                        <a:t>NN/NT/TN/TT</a:t>
                      </a:r>
                      <a:endParaRPr lang="en-IN" sz="1400" dirty="0"/>
                    </a:p>
                  </a:txBody>
                  <a:tcPr/>
                </a:tc>
                <a:tc>
                  <a:txBody>
                    <a:bodyPr/>
                    <a:lstStyle/>
                    <a:p>
                      <a:r>
                        <a:rPr lang="en-US" sz="1400" dirty="0"/>
                        <a:t>Prediction</a:t>
                      </a:r>
                      <a:endParaRPr lang="en-IN" sz="1400" dirty="0"/>
                    </a:p>
                  </a:txBody>
                  <a:tcPr/>
                </a:tc>
                <a:tc>
                  <a:txBody>
                    <a:bodyPr/>
                    <a:lstStyle/>
                    <a:p>
                      <a:r>
                        <a:rPr lang="en-US" sz="1400" dirty="0"/>
                        <a:t>Outcome</a:t>
                      </a:r>
                      <a:endParaRPr lang="en-IN" sz="1400" dirty="0"/>
                    </a:p>
                  </a:txBody>
                  <a:tcPr/>
                </a:tc>
                <a:tc>
                  <a:txBody>
                    <a:bodyPr/>
                    <a:lstStyle/>
                    <a:p>
                      <a:r>
                        <a:rPr lang="en-US" sz="1400" dirty="0"/>
                        <a:t>Misprediction Y/N ?</a:t>
                      </a:r>
                      <a:endParaRPr lang="en-IN" sz="1400" dirty="0"/>
                    </a:p>
                  </a:txBody>
                  <a:tcPr/>
                </a:tc>
                <a:extLst>
                  <a:ext uri="{0D108BD9-81ED-4DB2-BD59-A6C34878D82A}">
                    <a16:rowId xmlns:a16="http://schemas.microsoft.com/office/drawing/2014/main" val="63852226"/>
                  </a:ext>
                </a:extLst>
              </a:tr>
              <a:tr h="370840">
                <a:tc>
                  <a:txBody>
                    <a:bodyPr/>
                    <a:lstStyle/>
                    <a:p>
                      <a:r>
                        <a:rPr lang="en-US" dirty="0"/>
                        <a:t>1</a:t>
                      </a:r>
                      <a:endParaRPr lang="en-IN" dirty="0"/>
                    </a:p>
                  </a:txBody>
                  <a:tcPr/>
                </a:tc>
                <a:tc>
                  <a:txBody>
                    <a:bodyPr/>
                    <a:lstStyle/>
                    <a:p>
                      <a:r>
                        <a:rPr lang="en-US" dirty="0"/>
                        <a:t>NN (Initial)</a:t>
                      </a:r>
                      <a:endParaRPr lang="en-IN" dirty="0"/>
                    </a:p>
                  </a:txBody>
                  <a:tcPr/>
                </a:tc>
                <a:tc>
                  <a:txBody>
                    <a:bodyPr/>
                    <a:lstStyle/>
                    <a:p>
                      <a:r>
                        <a:rPr lang="en-US" dirty="0">
                          <a:solidFill>
                            <a:srgbClr val="FF0000"/>
                          </a:solidFill>
                        </a:rPr>
                        <a:t>00</a:t>
                      </a:r>
                      <a:r>
                        <a:rPr lang="en-US" dirty="0"/>
                        <a:t>/00/11/11</a:t>
                      </a:r>
                      <a:endParaRPr lang="en-IN" dirty="0"/>
                    </a:p>
                  </a:txBody>
                  <a:tcPr/>
                </a:tc>
                <a:tc>
                  <a:txBody>
                    <a:bodyPr/>
                    <a:lstStyle/>
                    <a:p>
                      <a:r>
                        <a:rPr lang="en-US" dirty="0"/>
                        <a:t>N</a:t>
                      </a:r>
                      <a:endParaRPr lang="en-IN" dirty="0"/>
                    </a:p>
                  </a:txBody>
                  <a:tcPr/>
                </a:tc>
                <a:tc>
                  <a:txBody>
                    <a:bodyPr/>
                    <a:lstStyle/>
                    <a:p>
                      <a:r>
                        <a:rPr lang="en-US" dirty="0"/>
                        <a:t>N</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562925768"/>
                  </a:ext>
                </a:extLst>
              </a:tr>
              <a:tr h="370840">
                <a:tc>
                  <a:txBody>
                    <a:bodyPr/>
                    <a:lstStyle/>
                    <a:p>
                      <a:r>
                        <a:rPr lang="en-US" dirty="0"/>
                        <a:t>2</a:t>
                      </a:r>
                      <a:endParaRPr lang="en-IN" dirty="0"/>
                    </a:p>
                  </a:txBody>
                  <a:tcPr/>
                </a:tc>
                <a:tc>
                  <a:txBody>
                    <a:bodyPr/>
                    <a:lstStyle/>
                    <a:p>
                      <a:r>
                        <a:rPr lang="en-US" dirty="0"/>
                        <a:t>NN</a:t>
                      </a:r>
                      <a:endParaRPr lang="en-IN" dirty="0"/>
                    </a:p>
                  </a:txBody>
                  <a:tcPr/>
                </a:tc>
                <a:tc>
                  <a:txBody>
                    <a:bodyPr/>
                    <a:lstStyle/>
                    <a:p>
                      <a:r>
                        <a:rPr lang="en-US" dirty="0">
                          <a:solidFill>
                            <a:srgbClr val="FF0000"/>
                          </a:solidFill>
                        </a:rPr>
                        <a:t>00</a:t>
                      </a:r>
                      <a:r>
                        <a:rPr lang="en-US" dirty="0"/>
                        <a:t>/00/11/11</a:t>
                      </a:r>
                      <a:endParaRPr lang="en-IN" dirty="0"/>
                    </a:p>
                  </a:txBody>
                  <a:tcPr/>
                </a:tc>
                <a:tc>
                  <a:txBody>
                    <a:bodyPr/>
                    <a:lstStyle/>
                    <a:p>
                      <a:r>
                        <a:rPr lang="en-US" dirty="0"/>
                        <a:t>N</a:t>
                      </a:r>
                      <a:endParaRPr lang="en-IN" dirty="0"/>
                    </a:p>
                  </a:txBody>
                  <a:tcPr/>
                </a:tc>
                <a:tc>
                  <a:txBody>
                    <a:bodyPr/>
                    <a:lstStyle/>
                    <a:p>
                      <a:r>
                        <a:rPr lang="en-US" dirty="0"/>
                        <a:t>N</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4219615174"/>
                  </a:ext>
                </a:extLst>
              </a:tr>
              <a:tr h="370840">
                <a:tc>
                  <a:txBody>
                    <a:bodyPr/>
                    <a:lstStyle/>
                    <a:p>
                      <a:r>
                        <a:rPr lang="en-US" dirty="0"/>
                        <a:t>3</a:t>
                      </a:r>
                      <a:endParaRPr lang="en-IN" dirty="0"/>
                    </a:p>
                  </a:txBody>
                  <a:tcPr/>
                </a:tc>
                <a:tc>
                  <a:txBody>
                    <a:bodyPr/>
                    <a:lstStyle/>
                    <a:p>
                      <a:r>
                        <a:rPr lang="en-US" dirty="0"/>
                        <a:t>NN</a:t>
                      </a:r>
                      <a:endParaRPr lang="en-IN" dirty="0"/>
                    </a:p>
                  </a:txBody>
                  <a:tcPr/>
                </a:tc>
                <a:tc>
                  <a:txBody>
                    <a:bodyPr/>
                    <a:lstStyle/>
                    <a:p>
                      <a:r>
                        <a:rPr lang="en-US" dirty="0">
                          <a:solidFill>
                            <a:srgbClr val="FF0000"/>
                          </a:solidFill>
                        </a:rPr>
                        <a:t>00</a:t>
                      </a:r>
                      <a:r>
                        <a:rPr lang="en-US" dirty="0"/>
                        <a:t>/00/11/11</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076043782"/>
                  </a:ext>
                </a:extLst>
              </a:tr>
              <a:tr h="370840">
                <a:tc>
                  <a:txBody>
                    <a:bodyPr/>
                    <a:lstStyle/>
                    <a:p>
                      <a:r>
                        <a:rPr lang="en-US" dirty="0"/>
                        <a:t>4</a:t>
                      </a:r>
                      <a:endParaRPr lang="en-IN" dirty="0"/>
                    </a:p>
                  </a:txBody>
                  <a:tcPr/>
                </a:tc>
                <a:tc>
                  <a:txBody>
                    <a:bodyPr/>
                    <a:lstStyle/>
                    <a:p>
                      <a:r>
                        <a:rPr lang="en-US" dirty="0"/>
                        <a:t>NT</a:t>
                      </a:r>
                      <a:endParaRPr lang="en-IN" dirty="0"/>
                    </a:p>
                  </a:txBody>
                  <a:tcPr/>
                </a:tc>
                <a:tc>
                  <a:txBody>
                    <a:bodyPr/>
                    <a:lstStyle/>
                    <a:p>
                      <a:r>
                        <a:rPr lang="en-US" dirty="0"/>
                        <a:t>01/</a:t>
                      </a:r>
                      <a:r>
                        <a:rPr lang="en-US" dirty="0">
                          <a:solidFill>
                            <a:srgbClr val="FF0000"/>
                          </a:solidFill>
                        </a:rPr>
                        <a:t>00</a:t>
                      </a:r>
                      <a:r>
                        <a:rPr lang="en-US" dirty="0"/>
                        <a:t>/11/11</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834055044"/>
                  </a:ext>
                </a:extLst>
              </a:tr>
              <a:tr h="370840">
                <a:tc>
                  <a:txBody>
                    <a:bodyPr/>
                    <a:lstStyle/>
                    <a:p>
                      <a:r>
                        <a:rPr lang="en-US" dirty="0"/>
                        <a:t>5</a:t>
                      </a:r>
                      <a:endParaRPr lang="en-IN" dirty="0"/>
                    </a:p>
                  </a:txBody>
                  <a:tcPr/>
                </a:tc>
                <a:tc>
                  <a:txBody>
                    <a:bodyPr/>
                    <a:lstStyle/>
                    <a:p>
                      <a:r>
                        <a:rPr lang="en-US" dirty="0"/>
                        <a:t>TT</a:t>
                      </a:r>
                      <a:endParaRPr lang="en-IN" dirty="0"/>
                    </a:p>
                  </a:txBody>
                  <a:tcPr/>
                </a:tc>
                <a:tc>
                  <a:txBody>
                    <a:bodyPr/>
                    <a:lstStyle/>
                    <a:p>
                      <a:r>
                        <a:rPr lang="en-US" dirty="0"/>
                        <a:t>01/01/11/</a:t>
                      </a:r>
                      <a:r>
                        <a:rPr lang="en-US" dirty="0">
                          <a:solidFill>
                            <a:srgbClr val="FF0000"/>
                          </a:solidFill>
                        </a:rPr>
                        <a:t>11</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T</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738960959"/>
                  </a:ext>
                </a:extLst>
              </a:tr>
              <a:tr h="370840">
                <a:tc>
                  <a:txBody>
                    <a:bodyPr/>
                    <a:lstStyle/>
                    <a:p>
                      <a:r>
                        <a:rPr lang="en-US" dirty="0"/>
                        <a:t>6</a:t>
                      </a:r>
                      <a:endParaRPr lang="en-IN" dirty="0"/>
                    </a:p>
                  </a:txBody>
                  <a:tcPr/>
                </a:tc>
                <a:tc>
                  <a:txBody>
                    <a:bodyPr/>
                    <a:lstStyle/>
                    <a:p>
                      <a:r>
                        <a:rPr lang="en-US" dirty="0"/>
                        <a:t>TT</a:t>
                      </a:r>
                      <a:endParaRPr lang="en-IN" dirty="0"/>
                    </a:p>
                  </a:txBody>
                  <a:tcPr/>
                </a:tc>
                <a:tc>
                  <a:txBody>
                    <a:bodyPr/>
                    <a:lstStyle/>
                    <a:p>
                      <a:r>
                        <a:rPr lang="en-US" dirty="0"/>
                        <a:t>01/01/11/</a:t>
                      </a:r>
                      <a:r>
                        <a:rPr lang="en-US" dirty="0">
                          <a:solidFill>
                            <a:srgbClr val="FF0000"/>
                          </a:solidFill>
                        </a:rPr>
                        <a:t>11</a:t>
                      </a:r>
                      <a:endParaRPr lang="en-IN" dirty="0">
                        <a:solidFill>
                          <a:srgbClr val="FF0000"/>
                        </a:solidFill>
                      </a:endParaRPr>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4213980161"/>
                  </a:ext>
                </a:extLst>
              </a:tr>
              <a:tr h="370840">
                <a:tc>
                  <a:txBody>
                    <a:bodyPr/>
                    <a:lstStyle/>
                    <a:p>
                      <a:r>
                        <a:rPr lang="en-US" dirty="0"/>
                        <a:t>7</a:t>
                      </a:r>
                      <a:endParaRPr lang="en-IN" dirty="0"/>
                    </a:p>
                  </a:txBody>
                  <a:tcPr/>
                </a:tc>
                <a:tc>
                  <a:txBody>
                    <a:bodyPr/>
                    <a:lstStyle/>
                    <a:p>
                      <a:r>
                        <a:rPr lang="en-US" dirty="0"/>
                        <a:t>TN</a:t>
                      </a:r>
                      <a:endParaRPr lang="en-IN" dirty="0"/>
                    </a:p>
                  </a:txBody>
                  <a:tcPr/>
                </a:tc>
                <a:tc>
                  <a:txBody>
                    <a:bodyPr/>
                    <a:lstStyle/>
                    <a:p>
                      <a:r>
                        <a:rPr lang="en-US" dirty="0"/>
                        <a:t>01/01/</a:t>
                      </a:r>
                      <a:r>
                        <a:rPr lang="en-US" dirty="0">
                          <a:solidFill>
                            <a:srgbClr val="FF0000"/>
                          </a:solidFill>
                        </a:rPr>
                        <a:t>11</a:t>
                      </a:r>
                      <a:r>
                        <a:rPr lang="en-US" dirty="0"/>
                        <a:t>/10</a:t>
                      </a:r>
                      <a:endParaRPr lang="en-IN" dirty="0"/>
                    </a:p>
                  </a:txBody>
                  <a:tcPr/>
                </a:tc>
                <a:tc>
                  <a:txBody>
                    <a:bodyPr/>
                    <a:lstStyle/>
                    <a:p>
                      <a:r>
                        <a:rPr lang="en-US" dirty="0"/>
                        <a:t>T</a:t>
                      </a:r>
                      <a:endParaRPr lang="en-IN" dirty="0"/>
                    </a:p>
                  </a:txBody>
                  <a:tcPr/>
                </a:tc>
                <a:tc>
                  <a:txBody>
                    <a:bodyPr/>
                    <a:lstStyle/>
                    <a:p>
                      <a:r>
                        <a:rPr lang="en-US" dirty="0"/>
                        <a:t>N</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118214546"/>
                  </a:ext>
                </a:extLst>
              </a:tr>
              <a:tr h="370840">
                <a:tc>
                  <a:txBody>
                    <a:bodyPr/>
                    <a:lstStyle/>
                    <a:p>
                      <a:r>
                        <a:rPr lang="en-US" dirty="0"/>
                        <a:t>8</a:t>
                      </a:r>
                      <a:endParaRPr lang="en-IN" dirty="0"/>
                    </a:p>
                  </a:txBody>
                  <a:tcPr/>
                </a:tc>
                <a:tc>
                  <a:txBody>
                    <a:bodyPr/>
                    <a:lstStyle/>
                    <a:p>
                      <a:r>
                        <a:rPr lang="en-US" dirty="0"/>
                        <a:t>NN</a:t>
                      </a:r>
                      <a:endParaRPr lang="en-IN" dirty="0"/>
                    </a:p>
                  </a:txBody>
                  <a:tcPr/>
                </a:tc>
                <a:tc>
                  <a:txBody>
                    <a:bodyPr/>
                    <a:lstStyle/>
                    <a:p>
                      <a:r>
                        <a:rPr lang="en-US" dirty="0">
                          <a:solidFill>
                            <a:srgbClr val="FF0000"/>
                          </a:solidFill>
                        </a:rPr>
                        <a:t>01</a:t>
                      </a:r>
                      <a:r>
                        <a:rPr lang="en-US" dirty="0"/>
                        <a:t>/01/10/10</a:t>
                      </a:r>
                      <a:endParaRPr lang="en-IN" dirty="0"/>
                    </a:p>
                  </a:txBody>
                  <a:tcPr/>
                </a:tc>
                <a:tc>
                  <a:txBody>
                    <a:bodyPr/>
                    <a:lstStyle/>
                    <a:p>
                      <a:r>
                        <a:rPr lang="en-US" dirty="0"/>
                        <a:t>N</a:t>
                      </a:r>
                      <a:endParaRPr lang="en-IN" dirty="0"/>
                    </a:p>
                  </a:txBody>
                  <a:tcPr/>
                </a:tc>
                <a:tc>
                  <a:txBody>
                    <a:bodyPr/>
                    <a:lstStyle/>
                    <a:p>
                      <a:r>
                        <a:rPr lang="en-US" dirty="0"/>
                        <a:t>T</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885834052"/>
                  </a:ext>
                </a:extLst>
              </a:tr>
              <a:tr h="370840">
                <a:tc>
                  <a:txBody>
                    <a:bodyPr/>
                    <a:lstStyle/>
                    <a:p>
                      <a:endParaRPr lang="en-IN"/>
                    </a:p>
                  </a:txBody>
                  <a:tcPr/>
                </a:tc>
                <a:tc>
                  <a:txBody>
                    <a:bodyPr/>
                    <a:lstStyle/>
                    <a:p>
                      <a:endParaRPr lang="en-IN"/>
                    </a:p>
                  </a:txBody>
                  <a:tcPr/>
                </a:tc>
                <a:tc>
                  <a:txBody>
                    <a:bodyPr/>
                    <a:lstStyle/>
                    <a:p>
                      <a:r>
                        <a:rPr lang="en-US" dirty="0"/>
                        <a:t>11/01/10/10</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44330116"/>
                  </a:ext>
                </a:extLst>
              </a:tr>
            </a:tbl>
          </a:graphicData>
        </a:graphic>
      </p:graphicFrame>
      <p:sp>
        <p:nvSpPr>
          <p:cNvPr id="8" name="TextBox 7">
            <a:extLst>
              <a:ext uri="{FF2B5EF4-FFF2-40B4-BE49-F238E27FC236}">
                <a16:creationId xmlns:a16="http://schemas.microsoft.com/office/drawing/2014/main" id="{58ACF557-15C1-BF6B-1408-D26DA3FD1E1B}"/>
              </a:ext>
            </a:extLst>
          </p:cNvPr>
          <p:cNvSpPr txBox="1"/>
          <p:nvPr/>
        </p:nvSpPr>
        <p:spPr>
          <a:xfrm>
            <a:off x="838200" y="5846544"/>
            <a:ext cx="6225935" cy="646331"/>
          </a:xfrm>
          <a:prstGeom prst="rect">
            <a:avLst/>
          </a:prstGeom>
          <a:noFill/>
        </p:spPr>
        <p:txBody>
          <a:bodyPr wrap="none" rtlCol="0">
            <a:spAutoFit/>
          </a:bodyPr>
          <a:lstStyle/>
          <a:p>
            <a:r>
              <a:rPr lang="en-US" dirty="0"/>
              <a:t>(2,2) type branch predictor. Initial: NN/NT/TN/TT – 00/00/11/11.</a:t>
            </a:r>
          </a:p>
          <a:p>
            <a:r>
              <a:rPr lang="en-US" dirty="0"/>
              <a:t>Last 8 outcomes, {oldest N </a:t>
            </a:r>
            <a:r>
              <a:rPr lang="en-US" dirty="0" err="1"/>
              <a:t>N</a:t>
            </a:r>
            <a:r>
              <a:rPr lang="en-US" dirty="0"/>
              <a:t> T </a:t>
            </a:r>
            <a:r>
              <a:rPr lang="en-US" dirty="0" err="1"/>
              <a:t>T</a:t>
            </a:r>
            <a:r>
              <a:rPr lang="en-US" dirty="0"/>
              <a:t> </a:t>
            </a:r>
            <a:r>
              <a:rPr lang="en-US" dirty="0" err="1"/>
              <a:t>T</a:t>
            </a:r>
            <a:r>
              <a:rPr lang="en-US" dirty="0"/>
              <a:t> N </a:t>
            </a:r>
            <a:r>
              <a:rPr lang="en-US" dirty="0" err="1"/>
              <a:t>N</a:t>
            </a:r>
            <a:r>
              <a:rPr lang="en-US" dirty="0"/>
              <a:t> T latest}</a:t>
            </a:r>
            <a:endParaRPr lang="en-IN" dirty="0"/>
          </a:p>
        </p:txBody>
      </p:sp>
    </p:spTree>
    <p:extLst>
      <p:ext uri="{BB962C8B-B14F-4D97-AF65-F5344CB8AC3E}">
        <p14:creationId xmlns:p14="http://schemas.microsoft.com/office/powerpoint/2010/main" val="344405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1364</TotalTime>
  <Words>1680</Words>
  <Application>Microsoft Office PowerPoint</Application>
  <PresentationFormat>Widescreen</PresentationFormat>
  <Paragraphs>415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Google Sans Text</vt:lpstr>
      <vt:lpstr>Office Theme</vt:lpstr>
      <vt:lpstr>Tutorial on Longer Pipeline and Branch Prediction</vt:lpstr>
      <vt:lpstr>TRUE/FALSE</vt:lpstr>
      <vt:lpstr>Multi-cycle operations</vt:lpstr>
      <vt:lpstr>Multi-cycle operations</vt:lpstr>
      <vt:lpstr>Multi-cycle operations</vt:lpstr>
      <vt:lpstr>Multi-cycle operations</vt:lpstr>
      <vt:lpstr>Multi-cycle operations</vt:lpstr>
      <vt:lpstr>Multi-cycle operations</vt:lpstr>
      <vt:lpstr>Multi-cycle operations</vt:lpstr>
      <vt:lpstr>Multi-cycle operations</vt:lpstr>
      <vt:lpstr>Multi-cycle operations</vt:lpstr>
      <vt:lpstr>(p,q) Type Branch Predictor</vt:lpstr>
      <vt:lpstr>(p,q) Type Branch Predictor</vt:lpstr>
      <vt:lpstr>TRUE/FALSE</vt:lpstr>
      <vt:lpstr>Branch Prediction</vt:lpstr>
      <vt:lpstr>Branch Prediction</vt:lpstr>
      <vt:lpstr>PowerPoint Presentation</vt:lpstr>
      <vt:lpstr>PowerPoint Presentation</vt:lpstr>
      <vt:lpstr>Branch Prediction</vt:lpstr>
      <vt:lpstr>Branch Prediction</vt:lpstr>
      <vt:lpstr>Branch Prediction - Illustration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RAJ</dc:creator>
  <cp:lastModifiedBy>Jyotirman Behera</cp:lastModifiedBy>
  <cp:revision>2</cp:revision>
  <dcterms:created xsi:type="dcterms:W3CDTF">2025-08-20T05:06:50Z</dcterms:created>
  <dcterms:modified xsi:type="dcterms:W3CDTF">2025-08-28T06:03:23Z</dcterms:modified>
</cp:coreProperties>
</file>